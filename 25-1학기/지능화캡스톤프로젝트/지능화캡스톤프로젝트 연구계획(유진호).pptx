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9" r:id="rId1"/>
    <p:sldMasterId id="2147483795" r:id="rId2"/>
  </p:sldMasterIdLst>
  <p:notesMasterIdLst>
    <p:notesMasterId r:id="rId4"/>
  </p:notesMasterIdLst>
  <p:handoutMasterIdLst>
    <p:handoutMasterId r:id="rId5"/>
  </p:handoutMasterIdLst>
  <p:sldIdLst>
    <p:sldId id="999" r:id="rId3"/>
  </p:sldIdLst>
  <p:sldSz cx="9144000" cy="6858000" type="screen4x3"/>
  <p:notesSz cx="6797675" cy="9926638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EE8726-F9F3-41AF-B5F6-E34B9A5B6B90}">
          <p14:sldIdLst>
            <p14:sldId id="9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92" userDrawn="1">
          <p15:clr>
            <a:srgbClr val="A4A3A4"/>
          </p15:clr>
        </p15:guide>
        <p15:guide id="2" orient="horz" pos="813" userDrawn="1">
          <p15:clr>
            <a:srgbClr val="A4A3A4"/>
          </p15:clr>
        </p15:guide>
        <p15:guide id="3" orient="horz" pos="1122" userDrawn="1">
          <p15:clr>
            <a:srgbClr val="A4A3A4"/>
          </p15:clr>
        </p15:guide>
        <p15:guide id="4" orient="horz" pos="3537" userDrawn="1">
          <p15:clr>
            <a:srgbClr val="A4A3A4"/>
          </p15:clr>
        </p15:guide>
        <p15:guide id="5" orient="horz" pos="4199" userDrawn="1">
          <p15:clr>
            <a:srgbClr val="A4A3A4"/>
          </p15:clr>
        </p15:guide>
        <p15:guide id="6" orient="horz" pos="3921" userDrawn="1">
          <p15:clr>
            <a:srgbClr val="A4A3A4"/>
          </p15:clr>
        </p15:guide>
        <p15:guide id="7" orient="horz" pos="1952" userDrawn="1">
          <p15:clr>
            <a:srgbClr val="A4A3A4"/>
          </p15:clr>
        </p15:guide>
        <p15:guide id="8" pos="5551" userDrawn="1">
          <p15:clr>
            <a:srgbClr val="A4A3A4"/>
          </p15:clr>
        </p15:guide>
        <p15:guide id="9" pos="338" userDrawn="1">
          <p15:clr>
            <a:srgbClr val="A4A3A4"/>
          </p15:clr>
        </p15:guide>
        <p15:guide id="10" pos="4497" userDrawn="1">
          <p15:clr>
            <a:srgbClr val="A4A3A4"/>
          </p15:clr>
        </p15:guide>
        <p15:guide id="11" pos="2829" userDrawn="1">
          <p15:clr>
            <a:srgbClr val="A4A3A4"/>
          </p15:clr>
        </p15:guide>
        <p15:guide id="12" pos="1557" userDrawn="1">
          <p15:clr>
            <a:srgbClr val="A4A3A4"/>
          </p15:clr>
        </p15:guide>
        <p15:guide id="13" pos="3056" userDrawn="1">
          <p15:clr>
            <a:srgbClr val="A4A3A4"/>
          </p15:clr>
        </p15:guide>
        <p15:guide id="14" orient="horz" pos="1102">
          <p15:clr>
            <a:srgbClr val="A4A3A4"/>
          </p15:clr>
        </p15:guide>
        <p15:guide id="15" orient="horz" pos="3067">
          <p15:clr>
            <a:srgbClr val="A4A3A4"/>
          </p15:clr>
        </p15:guide>
        <p15:guide id="16" orient="horz" pos="4201">
          <p15:clr>
            <a:srgbClr val="A4A3A4"/>
          </p15:clr>
        </p15:guide>
        <p15:guide id="17" orient="horz" pos="1933">
          <p15:clr>
            <a:srgbClr val="A4A3A4"/>
          </p15:clr>
        </p15:guide>
        <p15:guide id="18" pos="55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275E"/>
    <a:srgbClr val="9A1F4E"/>
    <a:srgbClr val="E8E8E8"/>
    <a:srgbClr val="152B65"/>
    <a:srgbClr val="8FAADC"/>
    <a:srgbClr val="3367BB"/>
    <a:srgbClr val="CCECFF"/>
    <a:srgbClr val="FFFFCC"/>
    <a:srgbClr val="FFCC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59" autoAdjust="0"/>
    <p:restoredTop sz="92077" autoAdjust="0"/>
  </p:normalViewPr>
  <p:slideViewPr>
    <p:cSldViewPr>
      <p:cViewPr varScale="1">
        <p:scale>
          <a:sx n="110" d="100"/>
          <a:sy n="110" d="100"/>
        </p:scale>
        <p:origin x="1272" y="60"/>
      </p:cViewPr>
      <p:guideLst>
        <p:guide orient="horz" pos="492"/>
        <p:guide orient="horz" pos="813"/>
        <p:guide orient="horz" pos="1122"/>
        <p:guide orient="horz" pos="3537"/>
        <p:guide orient="horz" pos="4199"/>
        <p:guide orient="horz" pos="3921"/>
        <p:guide orient="horz" pos="1952"/>
        <p:guide pos="5551"/>
        <p:guide pos="338"/>
        <p:guide pos="4497"/>
        <p:guide pos="2829"/>
        <p:guide pos="1557"/>
        <p:guide pos="3056"/>
        <p:guide orient="horz" pos="1102"/>
        <p:guide orient="horz" pos="3067"/>
        <p:guide orient="horz" pos="4201"/>
        <p:guide orient="horz" pos="1933"/>
        <p:guide pos="55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1908" y="414"/>
      </p:cViewPr>
      <p:guideLst>
        <p:guide orient="horz" pos="3127"/>
        <p:guide pos="2141"/>
      </p:guideLst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324A1115-9F2D-4D68-85C5-5EC1194C254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92951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15710"/>
            <a:ext cx="5435600" cy="4466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BDE6D3F4-B44C-4D4D-B492-8788D90AD2B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1658302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503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561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14" name="직사각형 13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2074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F254D-D485-4424-B9F6-B67A605DDF19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953764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310797-E8F0-33FF-3EAC-DF0D297E0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B02B1F-C918-4EA9-8A71-4A69BA71DD78}" type="slidenum">
              <a:rPr lang="en-GB" altLang="ko-KR" smtClean="0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43135767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4F184-09B5-43E3-9B7A-CC3A5F5FC70F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12410962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26954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4037ABE-D605-7DC2-CD98-5957AE0F5873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716561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14089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7828934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3298205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19BEA91-710F-4DA2-A57A-92029721C1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r="6054"/>
          <a:stretch/>
        </p:blipFill>
        <p:spPr>
          <a:xfrm>
            <a:off x="-1256" y="-3606"/>
            <a:ext cx="9144000" cy="792606"/>
          </a:xfrm>
          <a:prstGeom prst="rect">
            <a:avLst/>
          </a:prstGeom>
        </p:spPr>
      </p:pic>
      <p:sp>
        <p:nvSpPr>
          <p:cNvPr id="4137" name="Rectangle 4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116" y="6560298"/>
            <a:ext cx="117020" cy="113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 defTabSz="757623" eaLnBrk="0" hangingPunct="0">
              <a:defRPr sz="738">
                <a:solidFill>
                  <a:srgbClr val="000000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64B02B1F-C918-4EA9-8A71-4A69BA71DD78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008097E2-E215-16CD-58E7-6BD749988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71" r:id="rId2"/>
    <p:sldLayoutId id="2147483772" r:id="rId3"/>
    <p:sldLayoutId id="2147483794" r:id="rId4"/>
    <p:sldLayoutId id="2147483773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FF8754-B9F3-D76F-38C3-B0091EEFC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C00000">
                <a:tint val="45000"/>
                <a:satMod val="400000"/>
              </a:srgbClr>
            </a:duotone>
          </a:blip>
          <a:srcRect r="24209"/>
          <a:stretch/>
        </p:blipFill>
        <p:spPr>
          <a:xfrm>
            <a:off x="-1255" y="-3606"/>
            <a:ext cx="7376881" cy="792606"/>
          </a:xfrm>
          <a:custGeom>
            <a:avLst/>
            <a:gdLst>
              <a:gd name="connsiteX0" fmla="*/ 0 w 7376881"/>
              <a:gd name="connsiteY0" fmla="*/ 0 h 792606"/>
              <a:gd name="connsiteX1" fmla="*/ 7376881 w 7376881"/>
              <a:gd name="connsiteY1" fmla="*/ 0 h 792606"/>
              <a:gd name="connsiteX2" fmla="*/ 7335083 w 7376881"/>
              <a:gd name="connsiteY2" fmla="*/ 72101 h 792606"/>
              <a:gd name="connsiteX3" fmla="*/ 6478558 w 7376881"/>
              <a:gd name="connsiteY3" fmla="*/ 773769 h 792606"/>
              <a:gd name="connsiteX4" fmla="*/ 6439960 w 7376881"/>
              <a:gd name="connsiteY4" fmla="*/ 792606 h 792606"/>
              <a:gd name="connsiteX5" fmla="*/ 0 w 7376881"/>
              <a:gd name="connsiteY5" fmla="*/ 792606 h 792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76881" h="792606">
                <a:moveTo>
                  <a:pt x="0" y="0"/>
                </a:moveTo>
                <a:lnTo>
                  <a:pt x="7376881" y="0"/>
                </a:lnTo>
                <a:lnTo>
                  <a:pt x="7335083" y="72101"/>
                </a:lnTo>
                <a:cubicBezTo>
                  <a:pt x="7153136" y="331561"/>
                  <a:pt x="6859280" y="569153"/>
                  <a:pt x="6478558" y="773769"/>
                </a:cubicBezTo>
                <a:lnTo>
                  <a:pt x="6439960" y="792606"/>
                </a:lnTo>
                <a:lnTo>
                  <a:pt x="0" y="792606"/>
                </a:lnTo>
                <a:close/>
              </a:path>
            </a:pathLst>
          </a:custGeom>
        </p:spPr>
      </p:pic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617EA2C-9563-3A9C-CD52-0AE019419479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B15DAD-E0C6-A00C-DFBE-C16F6DB1373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BDD22-E678-EB87-D6D2-EB743F53AA76}"/>
              </a:ext>
            </a:extLst>
          </p:cNvPr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066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7B64757B-96D9-EFBA-0C96-626D20E91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37509"/>
            <a:ext cx="8312034" cy="2702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연구 목표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: </a:t>
            </a: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연구 배경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및 필요성</a:t>
            </a: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38163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rgbClr val="0033CC"/>
                </a:solidFill>
                <a:latin typeface="+mn-ea"/>
                <a:ea typeface="+mn-ea"/>
              </a:rPr>
              <a:t>자율주행 환경에서는 수많은 객체가 등장하며</a:t>
            </a:r>
            <a:r>
              <a:rPr lang="en-US" altLang="ko-KR" sz="1400" kern="0" dirty="0">
                <a:solidFill>
                  <a:srgbClr val="0033CC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rgbClr val="0033CC"/>
                </a:solidFill>
                <a:latin typeface="+mn-ea"/>
                <a:ea typeface="+mn-ea"/>
              </a:rPr>
              <a:t>단순 탐지만으로는 안전 주행이 어려움</a:t>
            </a:r>
            <a:endParaRPr lang="en-US" altLang="ko-KR" sz="1400" kern="0" dirty="0">
              <a:solidFill>
                <a:srgbClr val="0033CC"/>
              </a:solidFill>
              <a:latin typeface="+mn-ea"/>
              <a:ea typeface="+mn-ea"/>
            </a:endParaRPr>
          </a:p>
          <a:p>
            <a:pPr marL="538163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rgbClr val="0033CC"/>
                </a:solidFill>
                <a:latin typeface="+mn-ea"/>
                <a:ea typeface="+mn-ea"/>
              </a:rPr>
              <a:t>탐지된 객체 중 </a:t>
            </a:r>
            <a:r>
              <a:rPr lang="en-US" altLang="ko-KR" sz="1400" kern="0" dirty="0">
                <a:solidFill>
                  <a:srgbClr val="0033CC"/>
                </a:solidFill>
                <a:latin typeface="+mn-ea"/>
                <a:ea typeface="+mn-ea"/>
              </a:rPr>
              <a:t>‘</a:t>
            </a:r>
            <a:r>
              <a:rPr lang="ko-KR" altLang="en-US" sz="1400" kern="0" dirty="0">
                <a:solidFill>
                  <a:srgbClr val="0033CC"/>
                </a:solidFill>
                <a:latin typeface="+mn-ea"/>
                <a:ea typeface="+mn-ea"/>
              </a:rPr>
              <a:t>누가 더 위험한지</a:t>
            </a:r>
            <a:r>
              <a:rPr lang="en-US" altLang="ko-KR" sz="1400" kern="0" dirty="0">
                <a:solidFill>
                  <a:srgbClr val="0033CC"/>
                </a:solidFill>
                <a:latin typeface="+mn-ea"/>
                <a:ea typeface="+mn-ea"/>
              </a:rPr>
              <a:t>＇</a:t>
            </a:r>
            <a:r>
              <a:rPr lang="ko-KR" altLang="en-US" sz="1400" kern="0" dirty="0">
                <a:solidFill>
                  <a:srgbClr val="0033CC"/>
                </a:solidFill>
                <a:latin typeface="+mn-ea"/>
                <a:ea typeface="+mn-ea"/>
              </a:rPr>
              <a:t>판단하는 우선순위 결정이 필수</a:t>
            </a:r>
            <a:endParaRPr lang="en-US" altLang="ko-KR" sz="1400" kern="0" dirty="0">
              <a:solidFill>
                <a:srgbClr val="0033CC"/>
              </a:solidFill>
              <a:latin typeface="+mn-ea"/>
              <a:ea typeface="+mn-ea"/>
            </a:endParaRPr>
          </a:p>
          <a:p>
            <a:pPr marL="538163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rgbClr val="0033CC"/>
                </a:solidFill>
                <a:latin typeface="+mn-ea"/>
                <a:ea typeface="+mn-ea"/>
              </a:rPr>
              <a:t>최신 딥러닝 모델과 위험도 판단 알고리즘을 결합해 통합 시스템 구축은 연구 동향상 중요한 과제</a:t>
            </a:r>
            <a:endParaRPr lang="en-US" altLang="ko-KR" sz="1400" kern="0" dirty="0">
              <a:solidFill>
                <a:srgbClr val="0033CC"/>
              </a:solidFill>
              <a:latin typeface="+mn-ea"/>
              <a:ea typeface="+mn-ea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연구계획</a:t>
            </a:r>
            <a:endParaRPr lang="en-US" altLang="ko-KR" kern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94C633F-B60D-FEBA-ED2F-B3F10B03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6A8B6B-70B6-9BA1-A6F4-9C37D6172746}"/>
              </a:ext>
            </a:extLst>
          </p:cNvPr>
          <p:cNvSpPr/>
          <p:nvPr/>
        </p:nvSpPr>
        <p:spPr bwMode="auto">
          <a:xfrm>
            <a:off x="1961971" y="1038486"/>
            <a:ext cx="6782017" cy="56976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rgbClr val="0033CC"/>
                </a:solidFill>
                <a:latin typeface="Arial" charset="0"/>
              </a:rPr>
              <a:t>딥러닝 기반 자율주행 객체 탐지 및 우선순위 판단 시스템 연구</a:t>
            </a:r>
            <a:endParaRPr kumimoji="0" lang="ko-KR" altLang="en-US" sz="1600" b="0" i="0" u="none" strike="noStrike" cap="none" normalizeH="0" baseline="0" dirty="0">
              <a:ln>
                <a:noFill/>
              </a:ln>
              <a:solidFill>
                <a:srgbClr val="0033CC"/>
              </a:solidFill>
              <a:effectLst/>
              <a:latin typeface="Arial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72CF3D6-8CEA-367C-317E-412C0BEA6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50983"/>
              </p:ext>
            </p:extLst>
          </p:nvPr>
        </p:nvGraphicFramePr>
        <p:xfrm>
          <a:off x="415985" y="3807633"/>
          <a:ext cx="8312030" cy="20118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6005">
                  <a:extLst>
                    <a:ext uri="{9D8B030D-6E8A-4147-A177-3AD203B41FA5}">
                      <a16:colId xmlns:a16="http://schemas.microsoft.com/office/drawing/2014/main" val="3486639958"/>
                    </a:ext>
                  </a:extLst>
                </a:gridCol>
                <a:gridCol w="600006">
                  <a:extLst>
                    <a:ext uri="{9D8B030D-6E8A-4147-A177-3AD203B41FA5}">
                      <a16:colId xmlns:a16="http://schemas.microsoft.com/office/drawing/2014/main" val="267075297"/>
                    </a:ext>
                  </a:extLst>
                </a:gridCol>
                <a:gridCol w="600006">
                  <a:extLst>
                    <a:ext uri="{9D8B030D-6E8A-4147-A177-3AD203B41FA5}">
                      <a16:colId xmlns:a16="http://schemas.microsoft.com/office/drawing/2014/main" val="460752520"/>
                    </a:ext>
                  </a:extLst>
                </a:gridCol>
                <a:gridCol w="600006">
                  <a:extLst>
                    <a:ext uri="{9D8B030D-6E8A-4147-A177-3AD203B41FA5}">
                      <a16:colId xmlns:a16="http://schemas.microsoft.com/office/drawing/2014/main" val="3087935564"/>
                    </a:ext>
                  </a:extLst>
                </a:gridCol>
                <a:gridCol w="600006">
                  <a:extLst>
                    <a:ext uri="{9D8B030D-6E8A-4147-A177-3AD203B41FA5}">
                      <a16:colId xmlns:a16="http://schemas.microsoft.com/office/drawing/2014/main" val="3305314967"/>
                    </a:ext>
                  </a:extLst>
                </a:gridCol>
                <a:gridCol w="600006">
                  <a:extLst>
                    <a:ext uri="{9D8B030D-6E8A-4147-A177-3AD203B41FA5}">
                      <a16:colId xmlns:a16="http://schemas.microsoft.com/office/drawing/2014/main" val="1974752114"/>
                    </a:ext>
                  </a:extLst>
                </a:gridCol>
                <a:gridCol w="600006">
                  <a:extLst>
                    <a:ext uri="{9D8B030D-6E8A-4147-A177-3AD203B41FA5}">
                      <a16:colId xmlns:a16="http://schemas.microsoft.com/office/drawing/2014/main" val="686418986"/>
                    </a:ext>
                  </a:extLst>
                </a:gridCol>
                <a:gridCol w="1635989">
                  <a:extLst>
                    <a:ext uri="{9D8B030D-6E8A-4147-A177-3AD203B41FA5}">
                      <a16:colId xmlns:a16="http://schemas.microsoft.com/office/drawing/2014/main" val="3134551244"/>
                    </a:ext>
                  </a:extLst>
                </a:gridCol>
              </a:tblGrid>
              <a:tr h="25576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359452"/>
                  </a:ext>
                </a:extLst>
              </a:tr>
              <a:tr h="2557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142491"/>
                  </a:ext>
                </a:extLst>
              </a:tr>
              <a:tr h="2557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문헌조사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데이터셋 확보 및 분석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연구 계획서 초안</a:t>
                      </a:r>
                    </a:p>
                  </a:txBody>
                  <a:tcPr marL="72000" marR="72000" marT="763" marB="0" anchor="ctr"/>
                </a:tc>
                <a:extLst>
                  <a:ext uri="{0D108BD9-81ED-4DB2-BD59-A6C34878D82A}">
                    <a16:rowId xmlns:a16="http://schemas.microsoft.com/office/drawing/2014/main" val="2429772804"/>
                  </a:ext>
                </a:extLst>
              </a:tr>
              <a:tr h="2557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우선순위 판단 알고리즘 설계 및 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프로토타입 구현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알고리즘 구조도 및 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프로토타입 흐름도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extLst>
                  <a:ext uri="{0D108BD9-81ED-4DB2-BD59-A6C34878D82A}">
                    <a16:rowId xmlns:a16="http://schemas.microsoft.com/office/drawing/2014/main" val="1205382919"/>
                  </a:ext>
                </a:extLst>
              </a:tr>
              <a:tr h="2557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객체 탐지 모델 튜닝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우선순위 판단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알고리즘 고도화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최적화된 모델 가중치 및 추론 코드</a:t>
                      </a:r>
                    </a:p>
                  </a:txBody>
                  <a:tcPr marL="72000" marR="72000" marT="763" marB="0" anchor="ctr"/>
                </a:tc>
                <a:extLst>
                  <a:ext uri="{0D108BD9-81ED-4DB2-BD59-A6C34878D82A}">
                    <a16:rowId xmlns:a16="http://schemas.microsoft.com/office/drawing/2014/main" val="3832795093"/>
                  </a:ext>
                </a:extLst>
              </a:tr>
              <a:tr h="2557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통합 시스템 구현 및 시뮬레이터 연동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전체 시스템 아키텍처</a:t>
                      </a:r>
                    </a:p>
                  </a:txBody>
                  <a:tcPr marL="72000" marR="72000" marT="763" marB="0" anchor="ctr"/>
                </a:tc>
                <a:extLst>
                  <a:ext uri="{0D108BD9-81ED-4DB2-BD59-A6C34878D82A}">
                    <a16:rowId xmlns:a16="http://schemas.microsoft.com/office/drawing/2014/main" val="3734360546"/>
                  </a:ext>
                </a:extLst>
              </a:tr>
              <a:tr h="2557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결과 정리 및 논문 작성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최종 논문</a:t>
                      </a:r>
                    </a:p>
                  </a:txBody>
                  <a:tcPr marL="72000" marR="72000" marT="763" marB="0" anchor="ctr"/>
                </a:tc>
                <a:extLst>
                  <a:ext uri="{0D108BD9-81ED-4DB2-BD59-A6C34878D82A}">
                    <a16:rowId xmlns:a16="http://schemas.microsoft.com/office/drawing/2014/main" val="1065313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789474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2004:Templates:Presentations:Designs:Calm Seas</Template>
  <TotalTime>59000</TotalTime>
  <Words>124</Words>
  <Application>Microsoft Office PowerPoint</Application>
  <PresentationFormat>화면 슬라이드 쇼(4:3)</PresentationFormat>
  <Paragraphs>32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맑은 고딕</vt:lpstr>
      <vt:lpstr>Arial</vt:lpstr>
      <vt:lpstr>Cambria</vt:lpstr>
      <vt:lpstr>Corbel</vt:lpstr>
      <vt:lpstr>Wingdings</vt:lpstr>
      <vt:lpstr>1_Default Design</vt:lpstr>
      <vt:lpstr>2_Default Design</vt:lpstr>
      <vt:lpstr>연구계획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이광연</dc:creator>
  <cp:lastModifiedBy>USER-01</cp:lastModifiedBy>
  <cp:revision>3141</cp:revision>
  <cp:lastPrinted>2023-01-25T05:07:50Z</cp:lastPrinted>
  <dcterms:created xsi:type="dcterms:W3CDTF">2004-08-18T11:28:05Z</dcterms:created>
  <dcterms:modified xsi:type="dcterms:W3CDTF">2025-06-16T09:51:29Z</dcterms:modified>
</cp:coreProperties>
</file>