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18"/>
  </p:notesMasterIdLst>
  <p:handoutMasterIdLst>
    <p:handoutMasterId r:id="rId19"/>
  </p:handoutMasterIdLst>
  <p:sldIdLst>
    <p:sldId id="449" r:id="rId3"/>
    <p:sldId id="1008" r:id="rId4"/>
    <p:sldId id="1027" r:id="rId5"/>
    <p:sldId id="1026" r:id="rId6"/>
    <p:sldId id="999" r:id="rId7"/>
    <p:sldId id="1019" r:id="rId8"/>
    <p:sldId id="1010" r:id="rId9"/>
    <p:sldId id="1028" r:id="rId10"/>
    <p:sldId id="1029" r:id="rId11"/>
    <p:sldId id="1021" r:id="rId12"/>
    <p:sldId id="1022" r:id="rId13"/>
    <p:sldId id="1023" r:id="rId14"/>
    <p:sldId id="1024" r:id="rId15"/>
    <p:sldId id="1013" r:id="rId16"/>
    <p:sldId id="1006" r:id="rId17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08"/>
            <p14:sldId id="1027"/>
            <p14:sldId id="1026"/>
            <p14:sldId id="999"/>
            <p14:sldId id="1019"/>
            <p14:sldId id="1010"/>
            <p14:sldId id="1028"/>
            <p14:sldId id="1029"/>
            <p14:sldId id="1021"/>
            <p14:sldId id="1022"/>
            <p14:sldId id="1023"/>
            <p14:sldId id="1024"/>
            <p14:sldId id="1013"/>
            <p14:sldId id="10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7BB"/>
    <a:srgbClr val="0033CC"/>
    <a:srgbClr val="12275E"/>
    <a:srgbClr val="9A1F4E"/>
    <a:srgbClr val="E8E8E8"/>
    <a:srgbClr val="152B65"/>
    <a:srgbClr val="8FAADC"/>
    <a:srgbClr val="CCECFF"/>
    <a:srgbClr val="FF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9" autoAdjust="0"/>
    <p:restoredTop sz="92077" autoAdjust="0"/>
  </p:normalViewPr>
  <p:slideViewPr>
    <p:cSldViewPr>
      <p:cViewPr varScale="1">
        <p:scale>
          <a:sx n="110" d="100"/>
          <a:sy n="110" d="100"/>
        </p:scale>
        <p:origin x="1836" y="108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690D-55DA-C1ED-AC59-99CCE19B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866B6D-6295-D56C-E428-4F2DF1C78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2D091F-37BA-356A-39EF-FD99AEFFE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A5E26E-A4EB-038C-CBF7-FB15D3610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98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BBD44-7F29-4E49-97C7-26E17827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8E34C6-4200-1AF3-69DF-B0F125E85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60860-0C1B-32DC-0EB7-CC65AD0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ECC2E-A141-F59F-D484-14690DBA2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4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0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9685-7F23-F9A1-1D80-B69453E4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18B73-F5F0-7CEE-9B5E-2F8C8C15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3804AA-160E-1CA6-8E8E-F3A911BCF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4E12C-C88E-F1AC-EC6D-A59395EF8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7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EC3A-6E98-A112-7E89-E090C3E4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64F0A2-E33E-2E97-6477-3B162698C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D66C7-6C9A-0D7E-2FD9-ECD61DE1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56727-9B7A-498E-18C7-87C42DCE1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7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7862-01EE-8137-8265-1FE0AE4F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6C0763-7698-1B84-FB8D-99EF299ED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641362-C2EB-7185-63BA-95A7712F2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2CF362-2240-B295-35B2-5F3C82FF6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282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4895-7BFE-F720-3D72-BFE9ADC0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0370BF-D18A-681C-8168-BE8688CB5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641F3B-ABD0-8269-A828-6531BFA46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259C6-ADD7-B848-375B-BDE721C1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38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3868-6199-7B49-96E8-7C3A1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10A35-6C6C-E96A-5BAA-15C1E557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9546C-1E2E-F5BC-0723-5DDC6B50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DB774-F6AB-A30A-AEEC-5DB3F3E0B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025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2B1E-B9CF-E049-316D-27F0FF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890CF-4DD5-2A10-8495-72B3C1063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EBB6A1-6AE1-66F0-4BC1-36183104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4FA4F-8B72-3D96-56EE-19C16790D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98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D07E-D475-740E-D774-B753BBC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5E8493-48DB-1744-58F7-F4A42705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7ADD73-8E63-AE13-0665-D29980FA9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F6B07-78AD-5026-804A-309B2AE2A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BBC22-C944-46CC-B224-F57B82CD79F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193435"/>
            <a:ext cx="7110079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</a:t>
            </a:r>
            <a:r>
              <a:rPr lang="en-US" altLang="ko-KR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#2 </a:t>
            </a:r>
            <a:r>
              <a:rPr lang="ko-KR" altLang="en-US" sz="44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발표평가</a:t>
            </a:r>
            <a:endParaRPr lang="en-US" altLang="ko-KR" sz="4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DA4912B-7505-A2FB-FBB8-4DF4D2A2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960" y="4878004"/>
            <a:ext cx="7605084" cy="79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>
            <a:lvl1pPr marL="0" indent="0" algn="l" defTabSz="647700" rtl="0" eaLnBrk="0" fontAlgn="base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None/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44500" indent="-180975" algn="l" defTabSz="647700" rtl="0" eaLnBrk="0" fontAlgn="base" hangingPunct="0">
              <a:lnSpc>
                <a:spcPct val="105000"/>
              </a:lnSpc>
              <a:spcBef>
                <a:spcPct val="5000"/>
              </a:spcBef>
              <a:spcAft>
                <a:spcPct val="0"/>
              </a:spcAft>
              <a:buClr>
                <a:srgbClr val="F37121"/>
              </a:buClr>
              <a:buFont typeface="Arial Unicode MS" pitchFamily="50" charset="-127"/>
              <a:buChar char="–"/>
              <a:defRPr sz="1400">
                <a:solidFill>
                  <a:srgbClr val="000000"/>
                </a:solidFill>
                <a:latin typeface="+mn-lt"/>
              </a:defRPr>
            </a:lvl2pPr>
            <a:lvl3pPr marL="628650" indent="-182563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3pPr>
            <a:lvl4pPr marL="811213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Arial" pitchFamily="34" charset="0"/>
              <a:buChar char="-"/>
              <a:defRPr sz="1400">
                <a:solidFill>
                  <a:srgbClr val="000000"/>
                </a:solidFill>
                <a:latin typeface="+mn-lt"/>
              </a:defRPr>
            </a:lvl4pPr>
            <a:lvl5pPr marL="993775" indent="-180975" algn="l" defTabSz="647700" rtl="0" eaLnBrk="0" fontAlgn="base" hangingPunct="0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5pPr>
            <a:lvl6pPr marL="14509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6pPr>
            <a:lvl7pPr marL="19081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7pPr>
            <a:lvl8pPr marL="23653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8pPr>
            <a:lvl9pPr marL="2822575" indent="-180975" algn="l" defTabSz="647700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400">
                <a:solidFill>
                  <a:srgbClr val="000000"/>
                </a:solidFill>
                <a:latin typeface="+mn-lt"/>
              </a:defRPr>
            </a:lvl9pPr>
          </a:lstStyle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[7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b="0" dirty="0" err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김진하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팀장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유진호</a:t>
            </a:r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0" dirty="0" err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이기명</a:t>
            </a:r>
            <a:endParaRPr lang="ko-KR" altLang="en-US" b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lang="en-US" altLang="ko-KR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jhkim0623@avgenius.kr, jhyoo@avgenius.kr, dlrlaud0501@co-ms.co.kr </a:t>
            </a:r>
          </a:p>
          <a:p>
            <a:pPr algn="ctr" eaLnBrk="1" hangingPunct="1"/>
            <a:r>
              <a:rPr lang="ko-KR" altLang="en-US" b="0" dirty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충북대학교 산업인공지능학과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12AAC-3E69-1D46-503B-5B89E4C8F6DA}"/>
              </a:ext>
            </a:extLst>
          </p:cNvPr>
          <p:cNvSpPr txBox="1"/>
          <p:nvPr/>
        </p:nvSpPr>
        <p:spPr>
          <a:xfrm>
            <a:off x="-288054" y="3068996"/>
            <a:ext cx="9630107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&lt;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악천후 환경에서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CNN 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기반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2D/3D 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객체 인지 모델 성능 검증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&gt;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571C43D-1094-CBC8-93A7-E64A401C7D9C}"/>
              </a:ext>
            </a:extLst>
          </p:cNvPr>
          <p:cNvSpPr/>
          <p:nvPr/>
        </p:nvSpPr>
        <p:spPr bwMode="auto">
          <a:xfrm>
            <a:off x="115260" y="102298"/>
            <a:ext cx="2678427" cy="270003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지능화캡스톤프로젝트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#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2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발표평가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E1CE6F-76AD-000F-FC26-1ED75C8B7A1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44DB7F6-FF4D-9D0C-9F40-0FE318A46B04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3373F4-2E7B-8903-8CE2-0B4727255424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2C433100-51C9-040F-E15D-ECEE4E91FD4B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85146-9791-486D-69D7-EF78025638B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#2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B39E71-0A0A-BC03-2274-739250D5348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F93FE2C-DA74-2AA9-0B81-0D5A5D9C12A6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ADC6E4-4338-D744-F65B-329AA8BDF69B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6B51E49-2B01-4A42-D67E-B2F6F95D0DD5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원형: 비어 있음 4">
              <a:extLst>
                <a:ext uri="{FF2B5EF4-FFF2-40B4-BE49-F238E27FC236}">
                  <a16:creationId xmlns:a16="http://schemas.microsoft.com/office/drawing/2014/main" id="{61F5A1B1-D133-A11E-F4CA-D1ECB93766F4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8BDFE7-A248-23BE-F854-63DBCA068A9B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5B58988-5F62-FDCD-11A1-7E9E431827F4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형: 비어 있음 8">
            <a:extLst>
              <a:ext uri="{FF2B5EF4-FFF2-40B4-BE49-F238E27FC236}">
                <a16:creationId xmlns:a16="http://schemas.microsoft.com/office/drawing/2014/main" id="{1FCBD62C-886C-5509-5BBA-B5DE30E52BEB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E1758-E07C-69E1-C322-E8C35C00DC4E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01B22-F965-7E7D-9FF6-D25BAC983E46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6BC058-46E0-2952-9B4F-387894CE8FD0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구현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(Methodology &amp; Implementation)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7F745C-FC2F-4B62-3218-949DC2663E76}"/>
              </a:ext>
            </a:extLst>
          </p:cNvPr>
          <p:cNvSpPr txBox="1"/>
          <p:nvPr/>
        </p:nvSpPr>
        <p:spPr>
          <a:xfrm>
            <a:off x="1911844" y="3839502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해결을 위한 방법론</a:t>
            </a:r>
          </a:p>
        </p:txBody>
      </p:sp>
    </p:spTree>
    <p:extLst>
      <p:ext uri="{BB962C8B-B14F-4D97-AF65-F5344CB8AC3E}">
        <p14:creationId xmlns:p14="http://schemas.microsoft.com/office/powerpoint/2010/main" val="188845530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17947A-22F7-ACF6-BE68-C023D65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4E887F-B744-6B7A-4C4C-8E52D2FC289E}"/>
              </a:ext>
            </a:extLst>
          </p:cNvPr>
          <p:cNvSpPr/>
          <p:nvPr/>
        </p:nvSpPr>
        <p:spPr bwMode="auto">
          <a:xfrm>
            <a:off x="1007441" y="158376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2E444A-CCC5-1E52-E2F2-774CB94EF44F}"/>
              </a:ext>
            </a:extLst>
          </p:cNvPr>
          <p:cNvGrpSpPr/>
          <p:nvPr/>
        </p:nvGrpSpPr>
        <p:grpSpPr>
          <a:xfrm>
            <a:off x="684584" y="1494115"/>
            <a:ext cx="892810" cy="892810"/>
            <a:chOff x="611956" y="1268976"/>
            <a:chExt cx="772344" cy="7723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2B7DCD8-C3DC-03E3-46C3-F784F7CBAEC8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원형: 비어 있음 9">
              <a:extLst>
                <a:ext uri="{FF2B5EF4-FFF2-40B4-BE49-F238E27FC236}">
                  <a16:creationId xmlns:a16="http://schemas.microsoft.com/office/drawing/2014/main" id="{0583181C-BEBF-EA72-D49B-C042C8B84EEC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6CD4B33-3444-8728-8A81-9FE54092028D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5391FC-D30E-9626-A826-A46F35B0B0D0}"/>
              </a:ext>
            </a:extLst>
          </p:cNvPr>
          <p:cNvSpPr txBox="1"/>
          <p:nvPr/>
        </p:nvSpPr>
        <p:spPr>
          <a:xfrm>
            <a:off x="1891949" y="1597641"/>
            <a:ext cx="2082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#2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833CCB-254F-4EDC-B4CF-5E75326F8A56}"/>
              </a:ext>
            </a:extLst>
          </p:cNvPr>
          <p:cNvSpPr txBox="1"/>
          <p:nvPr/>
        </p:nvSpPr>
        <p:spPr>
          <a:xfrm>
            <a:off x="1911844" y="1978237"/>
            <a:ext cx="5165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개요 및 선정 논문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 구성원 소개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업무분장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A28BFF74-6A22-4B71-71A7-B479E073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B982560-D7CD-B33C-6112-784F24646D74}"/>
              </a:ext>
            </a:extLst>
          </p:cNvPr>
          <p:cNvSpPr/>
          <p:nvPr/>
        </p:nvSpPr>
        <p:spPr bwMode="auto">
          <a:xfrm>
            <a:off x="1007441" y="25131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E9D92A-1A51-3CAB-D2D2-903D0A8CF341}"/>
              </a:ext>
            </a:extLst>
          </p:cNvPr>
          <p:cNvGrpSpPr/>
          <p:nvPr/>
        </p:nvGrpSpPr>
        <p:grpSpPr>
          <a:xfrm>
            <a:off x="684584" y="2423474"/>
            <a:ext cx="892810" cy="892810"/>
            <a:chOff x="611956" y="1268976"/>
            <a:chExt cx="772344" cy="77234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198C792-4618-209B-06A3-278D297C175A}"/>
                </a:ext>
              </a:extLst>
            </p:cNvPr>
            <p:cNvSpPr/>
            <p:nvPr/>
          </p:nvSpPr>
          <p:spPr bwMode="auto">
            <a:xfrm>
              <a:off x="611956" y="1268976"/>
              <a:ext cx="772344" cy="77234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2800" b="1" i="0" u="none" strike="noStrike" cap="none" normalizeH="0" baseline="0" dirty="0">
                  <a:ln>
                    <a:noFill/>
                  </a:ln>
                  <a:solidFill>
                    <a:srgbClr val="12275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kumimoji="0" lang="ko-KR" altLang="en-US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원형: 비어 있음 4">
              <a:extLst>
                <a:ext uri="{FF2B5EF4-FFF2-40B4-BE49-F238E27FC236}">
                  <a16:creationId xmlns:a16="http://schemas.microsoft.com/office/drawing/2014/main" id="{364CA204-4D89-CE76-B294-7CA37ECBEC75}"/>
                </a:ext>
              </a:extLst>
            </p:cNvPr>
            <p:cNvSpPr/>
            <p:nvPr/>
          </p:nvSpPr>
          <p:spPr bwMode="auto">
            <a:xfrm>
              <a:off x="641596" y="1298616"/>
              <a:ext cx="713064" cy="713064"/>
            </a:xfrm>
            <a:prstGeom prst="donut">
              <a:avLst>
                <a:gd name="adj" fmla="val 15399"/>
              </a:avLst>
            </a:prstGeom>
            <a:solidFill>
              <a:srgbClr val="12275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C0C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A689D1-05A4-3252-9C3D-F7BD0A9A89C1}"/>
              </a:ext>
            </a:extLst>
          </p:cNvPr>
          <p:cNvSpPr/>
          <p:nvPr/>
        </p:nvSpPr>
        <p:spPr bwMode="auto">
          <a:xfrm>
            <a:off x="1007441" y="344248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04470E-C687-9E69-4685-0AD990AE5521}"/>
              </a:ext>
            </a:extLst>
          </p:cNvPr>
          <p:cNvSpPr/>
          <p:nvPr/>
        </p:nvSpPr>
        <p:spPr bwMode="auto">
          <a:xfrm>
            <a:off x="684584" y="335283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형: 비어 있음 8">
            <a:extLst>
              <a:ext uri="{FF2B5EF4-FFF2-40B4-BE49-F238E27FC236}">
                <a16:creationId xmlns:a16="http://schemas.microsoft.com/office/drawing/2014/main" id="{DE980ABB-33FD-A237-E625-663F915C08C5}"/>
              </a:ext>
            </a:extLst>
          </p:cNvPr>
          <p:cNvSpPr/>
          <p:nvPr/>
        </p:nvSpPr>
        <p:spPr bwMode="auto">
          <a:xfrm>
            <a:off x="718847" y="338709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1484F4-667F-CD2D-1279-71E981E4F209}"/>
              </a:ext>
            </a:extLst>
          </p:cNvPr>
          <p:cNvSpPr/>
          <p:nvPr/>
        </p:nvSpPr>
        <p:spPr bwMode="auto">
          <a:xfrm>
            <a:off x="1007441" y="4371840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17B0B6-BD28-984B-8426-438D831EBAE1}"/>
              </a:ext>
            </a:extLst>
          </p:cNvPr>
          <p:cNvSpPr/>
          <p:nvPr/>
        </p:nvSpPr>
        <p:spPr bwMode="auto">
          <a:xfrm>
            <a:off x="684584" y="4282192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원형: 비어 있음 15">
            <a:extLst>
              <a:ext uri="{FF2B5EF4-FFF2-40B4-BE49-F238E27FC236}">
                <a16:creationId xmlns:a16="http://schemas.microsoft.com/office/drawing/2014/main" id="{66B91699-50F3-FDF4-6145-98C5C0503328}"/>
              </a:ext>
            </a:extLst>
          </p:cNvPr>
          <p:cNvSpPr/>
          <p:nvPr/>
        </p:nvSpPr>
        <p:spPr bwMode="auto">
          <a:xfrm>
            <a:off x="718847" y="4316455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76AF960-EA98-A5C5-435C-50D3B45BAA86}"/>
              </a:ext>
            </a:extLst>
          </p:cNvPr>
          <p:cNvSpPr/>
          <p:nvPr/>
        </p:nvSpPr>
        <p:spPr bwMode="auto">
          <a:xfrm>
            <a:off x="1007441" y="5301201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2FF3D88-A235-151A-9806-7AB5A30B362A}"/>
              </a:ext>
            </a:extLst>
          </p:cNvPr>
          <p:cNvSpPr/>
          <p:nvPr/>
        </p:nvSpPr>
        <p:spPr bwMode="auto">
          <a:xfrm>
            <a:off x="684584" y="5211553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원형: 비어 있음 18">
            <a:extLst>
              <a:ext uri="{FF2B5EF4-FFF2-40B4-BE49-F238E27FC236}">
                <a16:creationId xmlns:a16="http://schemas.microsoft.com/office/drawing/2014/main" id="{8945EC71-5C2F-E486-D407-AD3AFFBD3542}"/>
              </a:ext>
            </a:extLst>
          </p:cNvPr>
          <p:cNvSpPr/>
          <p:nvPr/>
        </p:nvSpPr>
        <p:spPr bwMode="auto">
          <a:xfrm>
            <a:off x="718847" y="5245816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51080-C366-D11C-647F-00AB3C04590C}"/>
              </a:ext>
            </a:extLst>
          </p:cNvPr>
          <p:cNvSpPr txBox="1"/>
          <p:nvPr/>
        </p:nvSpPr>
        <p:spPr>
          <a:xfrm>
            <a:off x="1891949" y="2533813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서론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(Introduction)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19EBC-8745-3BC4-C5A2-ABEA9ABDDAF6}"/>
              </a:ext>
            </a:extLst>
          </p:cNvPr>
          <p:cNvSpPr txBox="1"/>
          <p:nvPr/>
        </p:nvSpPr>
        <p:spPr>
          <a:xfrm>
            <a:off x="1911844" y="2914409"/>
            <a:ext cx="292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배경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연구 필요성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정의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DDC4A-47FA-808E-4BEB-99D958373173}"/>
              </a:ext>
            </a:extLst>
          </p:cNvPr>
          <p:cNvSpPr txBox="1"/>
          <p:nvPr/>
        </p:nvSpPr>
        <p:spPr>
          <a:xfrm>
            <a:off x="1891949" y="3458906"/>
            <a:ext cx="5593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방법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및 구현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(Methodology &amp; Implementation)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74605-6B00-391D-EA9E-F6330423283D}"/>
              </a:ext>
            </a:extLst>
          </p:cNvPr>
          <p:cNvSpPr txBox="1"/>
          <p:nvPr/>
        </p:nvSpPr>
        <p:spPr>
          <a:xfrm>
            <a:off x="1911844" y="3839502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문제 해결을 위한 방법론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3B922-4461-7140-8086-4A320DE0710B}"/>
              </a:ext>
            </a:extLst>
          </p:cNvPr>
          <p:cNvSpPr txBox="1"/>
          <p:nvPr/>
        </p:nvSpPr>
        <p:spPr>
          <a:xfrm>
            <a:off x="1891949" y="4395078"/>
            <a:ext cx="5264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실험 구성 및 평가 방법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(Experiment Settings)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B993E-9604-1B78-594A-1871C2EB2DC6}"/>
              </a:ext>
            </a:extLst>
          </p:cNvPr>
          <p:cNvSpPr txBox="1"/>
          <p:nvPr/>
        </p:nvSpPr>
        <p:spPr>
          <a:xfrm>
            <a:off x="1911844" y="4775674"/>
            <a:ext cx="4164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데이터셋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하이퍼파라미터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컴퓨팅 환경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평가지표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C154-C577-3876-1D9C-EA0E627D0B9E}"/>
              </a:ext>
            </a:extLst>
          </p:cNvPr>
          <p:cNvSpPr txBox="1"/>
          <p:nvPr/>
        </p:nvSpPr>
        <p:spPr>
          <a:xfrm>
            <a:off x="1891949" y="5317626"/>
            <a:ext cx="3890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결과 및 분석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(Results &amp; Analysis)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2EF721-79FF-2C47-298B-BD71AB3CB47E}"/>
              </a:ext>
            </a:extLst>
          </p:cNvPr>
          <p:cNvSpPr txBox="1"/>
          <p:nvPr/>
        </p:nvSpPr>
        <p:spPr>
          <a:xfrm>
            <a:off x="1911844" y="5698222"/>
            <a:ext cx="4219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학습 결과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정확도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혼동행렬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비교 평가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결과 분석</a:t>
            </a:r>
          </a:p>
        </p:txBody>
      </p:sp>
    </p:spTree>
    <p:extLst>
      <p:ext uri="{BB962C8B-B14F-4D97-AF65-F5344CB8AC3E}">
        <p14:creationId xmlns:p14="http://schemas.microsoft.com/office/powerpoint/2010/main" val="33119777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F70E02-3417-9313-EC23-20CF483F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63AB9A9-9021-5A6F-0EA2-F269AB9BFEEB}"/>
              </a:ext>
            </a:extLst>
          </p:cNvPr>
          <p:cNvSpPr txBox="1"/>
          <p:nvPr/>
        </p:nvSpPr>
        <p:spPr>
          <a:xfrm>
            <a:off x="1016960" y="858239"/>
            <a:ext cx="7110079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CONTENTS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01452986-DABC-30DA-C446-FB53EF55A64E}"/>
              </a:ext>
            </a:extLst>
          </p:cNvPr>
          <p:cNvSpPr/>
          <p:nvPr/>
        </p:nvSpPr>
        <p:spPr bwMode="auto">
          <a:xfrm>
            <a:off x="1007441" y="1706622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A01D40BA-86E6-050D-8ED4-8652281AA359}"/>
              </a:ext>
            </a:extLst>
          </p:cNvPr>
          <p:cNvSpPr/>
          <p:nvPr/>
        </p:nvSpPr>
        <p:spPr bwMode="auto">
          <a:xfrm>
            <a:off x="684584" y="1616974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원형: 비어 있음 79">
            <a:extLst>
              <a:ext uri="{FF2B5EF4-FFF2-40B4-BE49-F238E27FC236}">
                <a16:creationId xmlns:a16="http://schemas.microsoft.com/office/drawing/2014/main" id="{B4D7C20E-7284-6173-CF49-1DDE69650CE0}"/>
              </a:ext>
            </a:extLst>
          </p:cNvPr>
          <p:cNvSpPr/>
          <p:nvPr/>
        </p:nvSpPr>
        <p:spPr bwMode="auto">
          <a:xfrm>
            <a:off x="718847" y="1651237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BD59DEE-2319-7898-87A5-8370B2DBDCD8}"/>
              </a:ext>
            </a:extLst>
          </p:cNvPr>
          <p:cNvSpPr/>
          <p:nvPr/>
        </p:nvSpPr>
        <p:spPr bwMode="auto">
          <a:xfrm>
            <a:off x="1007441" y="2635983"/>
            <a:ext cx="7312657" cy="713515"/>
          </a:xfrm>
          <a:prstGeom prst="roundRect">
            <a:avLst>
              <a:gd name="adj" fmla="val 46219"/>
            </a:avLst>
          </a:prstGeom>
          <a:solidFill>
            <a:srgbClr val="E8E8E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rgbClr val="00C0C0"/>
              </a:solidFill>
              <a:effectLst/>
              <a:latin typeface="Arial" charset="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1452B7-32FC-E53F-7ED7-9758B0E1F153}"/>
              </a:ext>
            </a:extLst>
          </p:cNvPr>
          <p:cNvSpPr/>
          <p:nvPr/>
        </p:nvSpPr>
        <p:spPr bwMode="auto">
          <a:xfrm>
            <a:off x="684584" y="2546335"/>
            <a:ext cx="892810" cy="89281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800" b="1" i="0" u="none" strike="noStrike" cap="none" normalizeH="0" baseline="0" dirty="0">
                <a:ln>
                  <a:noFill/>
                </a:ln>
                <a:solidFill>
                  <a:srgbClr val="12275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endParaRPr kumimoji="0" lang="ko-KR" altLang="en-US" sz="2800" b="1" i="0" u="none" strike="noStrike" cap="none" normalizeH="0" baseline="0" dirty="0">
              <a:ln>
                <a:noFill/>
              </a:ln>
              <a:solidFill>
                <a:srgbClr val="1227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원형: 비어 있음 84">
            <a:extLst>
              <a:ext uri="{FF2B5EF4-FFF2-40B4-BE49-F238E27FC236}">
                <a16:creationId xmlns:a16="http://schemas.microsoft.com/office/drawing/2014/main" id="{157A5F63-566D-25E2-6244-A31A611B1811}"/>
              </a:ext>
            </a:extLst>
          </p:cNvPr>
          <p:cNvSpPr/>
          <p:nvPr/>
        </p:nvSpPr>
        <p:spPr bwMode="auto">
          <a:xfrm>
            <a:off x="718847" y="2580598"/>
            <a:ext cx="824284" cy="824284"/>
          </a:xfrm>
          <a:prstGeom prst="donut">
            <a:avLst>
              <a:gd name="adj" fmla="val 15399"/>
            </a:avLst>
          </a:prstGeom>
          <a:solidFill>
            <a:srgbClr val="1227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rgbClr val="9A1F4E"/>
              </a:solidFill>
              <a:effectLst/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B72F57-4BB7-5D88-569B-2F3FC2196FE6}"/>
              </a:ext>
            </a:extLst>
          </p:cNvPr>
          <p:cNvSpPr txBox="1"/>
          <p:nvPr/>
        </p:nvSpPr>
        <p:spPr>
          <a:xfrm>
            <a:off x="1891949" y="1729860"/>
            <a:ext cx="4985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한계점 및 토론 </a:t>
            </a:r>
            <a:r>
              <a:rPr lang="en-US" altLang="ko-KR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(Limitations &amp; Discussions)</a:t>
            </a:r>
            <a:endParaRPr lang="ko-KR" altLang="en-US" sz="2000" b="1" dirty="0">
              <a:solidFill>
                <a:srgbClr val="12275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A24CC2-FBB0-32F4-F482-1EE9DCE1AD24}"/>
              </a:ext>
            </a:extLst>
          </p:cNvPr>
          <p:cNvSpPr txBox="1"/>
          <p:nvPr/>
        </p:nvSpPr>
        <p:spPr>
          <a:xfrm>
            <a:off x="1911844" y="2110456"/>
            <a:ext cx="3073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연구의 한계점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 개선점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 논의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CD9292-7992-5B6A-A39D-3F6EF1859311}"/>
              </a:ext>
            </a:extLst>
          </p:cNvPr>
          <p:cNvSpPr txBox="1"/>
          <p:nvPr/>
        </p:nvSpPr>
        <p:spPr>
          <a:xfrm>
            <a:off x="1891949" y="2652408"/>
            <a:ext cx="2156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12275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결론 및 향후 연구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3D5396-8747-F0DB-A672-B9552FEC6550}"/>
              </a:ext>
            </a:extLst>
          </p:cNvPr>
          <p:cNvSpPr txBox="1"/>
          <p:nvPr/>
        </p:nvSpPr>
        <p:spPr>
          <a:xfrm>
            <a:off x="1911844" y="3033004"/>
            <a:ext cx="3135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본 연구의 결론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 향후 연구 등 논의</a:t>
            </a:r>
          </a:p>
        </p:txBody>
      </p:sp>
      <p:sp>
        <p:nvSpPr>
          <p:cNvPr id="97" name="제목 96">
            <a:extLst>
              <a:ext uri="{FF2B5EF4-FFF2-40B4-BE49-F238E27FC236}">
                <a16:creationId xmlns:a16="http://schemas.microsoft.com/office/drawing/2014/main" id="{6449DDCE-00F9-EE78-73DB-E3DB540E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8738663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C633F-B60D-FEBA-ED2F-B3F10B03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</a:t>
            </a:r>
            <a:r>
              <a:rPr lang="en-US" altLang="ko-KR" dirty="0"/>
              <a:t>#1 </a:t>
            </a:r>
            <a:r>
              <a:rPr lang="ko-KR" altLang="en-US" dirty="0"/>
              <a:t>개요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2F34785-C5AA-F695-6941-A78FBC0FC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312034" cy="505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목표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프로젝트 배경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</a:rPr>
              <a:t>및 필요성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배경</a:t>
            </a:r>
            <a:endParaRPr lang="en-US" altLang="ko-KR" sz="16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자율주행차는 다양한 환경에서 객체를 인식하고 판단해야 함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특히 악천후 환경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비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눈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안개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밤 등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은 인지 성능을 저하시킴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다양한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CNN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객체 인식 모델을 활용하여 악천후 상황에서도 성능이 우수한 인지 방법을</a:t>
            </a:r>
            <a:b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탐색하고자 함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2D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Bounding Box, 2D </a:t>
            </a:r>
            <a:r>
              <a:rPr lang="en-US" altLang="ko-KR" sz="1400" kern="0" dirty="0" err="1">
                <a:solidFill>
                  <a:schemeClr val="tx1"/>
                </a:solidFill>
                <a:latin typeface="+mn-ea"/>
                <a:ea typeface="+mn-ea"/>
              </a:rPr>
              <a:t>Segmantic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 Segmentation, 3D Point Cloud Detection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세가지 방식으로</a:t>
            </a:r>
            <a:b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비교 분석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프로젝트 필요성</a:t>
            </a: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자율주행 상용화를 위한 안정적 인지 기술 확보가 필수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대부분의 학습 모델은 일반 날씨에서 학습되어 실제 도로환경에서의 성능 저하 문제 존재</a:t>
            </a:r>
            <a:endParaRPr lang="en-US" altLang="ko-KR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2F95EB-334A-08BE-293F-F085586C932F}"/>
              </a:ext>
            </a:extLst>
          </p:cNvPr>
          <p:cNvSpPr/>
          <p:nvPr/>
        </p:nvSpPr>
        <p:spPr bwMode="auto">
          <a:xfrm>
            <a:off x="748275" y="1578798"/>
            <a:ext cx="7650085" cy="536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악천후 환경에서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CNN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기반 </a:t>
            </a:r>
            <a:r>
              <a:rPr lang="en-US" altLang="ko-KR" sz="1600" dirty="0">
                <a:solidFill>
                  <a:schemeClr val="tx1"/>
                </a:solidFill>
                <a:latin typeface="Arial" charset="0"/>
              </a:rPr>
              <a:t>2D/3D </a:t>
            </a:r>
            <a:r>
              <a:rPr lang="ko-KR" altLang="en-US" sz="1600" dirty="0">
                <a:solidFill>
                  <a:schemeClr val="tx1"/>
                </a:solidFill>
                <a:latin typeface="Arial" charset="0"/>
              </a:rPr>
              <a:t>객체 인지 모델 성능 검증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947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0D13-A7F8-4502-DD65-20B5774B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ADA9890-26D2-8E29-0383-8BD35A60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8582037" cy="5874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문제정의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악천후 환경에서 기존 객체 인식 모델들의 성능이 급격히 저하되며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환경 적응력이 부족한 문제가 존재한다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b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&gt; </a:t>
            </a:r>
            <a:r>
              <a:rPr lang="ko-KR" altLang="en-US" kern="0" dirty="0">
                <a:solidFill>
                  <a:srgbClr val="0033CC"/>
                </a:solidFill>
                <a:latin typeface="+mn-ea"/>
                <a:ea typeface="+mn-ea"/>
              </a:rPr>
              <a:t>이에 따라 다양한 시각 인지 기법</a:t>
            </a: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(2D BB, 2D SS, 3D PCD)</a:t>
            </a:r>
            <a:r>
              <a:rPr lang="ko-KR" altLang="en-US" kern="0" dirty="0">
                <a:solidFill>
                  <a:srgbClr val="0033CC"/>
                </a:solidFill>
                <a:latin typeface="+mn-ea"/>
                <a:ea typeface="+mn-ea"/>
              </a:rPr>
              <a:t>을 적용하고</a:t>
            </a: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, </a:t>
            </a:r>
            <a:r>
              <a:rPr lang="ko-KR" altLang="en-US" kern="0" dirty="0">
                <a:solidFill>
                  <a:srgbClr val="0033CC"/>
                </a:solidFill>
                <a:latin typeface="+mn-ea"/>
                <a:ea typeface="+mn-ea"/>
              </a:rPr>
              <a:t>그 강건성을 실험적으로 비교해 본다</a:t>
            </a: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.</a:t>
            </a: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악천후 환경에 대한 오픈소스 데이터셋이 분산되고 </a:t>
            </a:r>
            <a:r>
              <a:rPr lang="ko-KR" altLang="en-US" sz="1600" kern="0" dirty="0" err="1">
                <a:solidFill>
                  <a:schemeClr val="tx1"/>
                </a:solidFill>
                <a:latin typeface="+mn-ea"/>
                <a:ea typeface="+mn-ea"/>
              </a:rPr>
              <a:t>어노테이션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 형식이 상이하여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실험 기반 연구 수행에 제약이 있다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b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&gt; </a:t>
            </a:r>
            <a:r>
              <a:rPr lang="ko-KR" altLang="en-US" kern="0" dirty="0">
                <a:solidFill>
                  <a:srgbClr val="0033CC"/>
                </a:solidFill>
                <a:latin typeface="+mn-ea"/>
                <a:ea typeface="+mn-ea"/>
              </a:rPr>
              <a:t>따라서 데이터셋 병합 및 통일된 레이블 처리 과정을 포함한 실험 설계가 필요하다</a:t>
            </a:r>
            <a:r>
              <a:rPr lang="en-US" altLang="ko-KR" kern="0" dirty="0">
                <a:solidFill>
                  <a:srgbClr val="0033CC"/>
                </a:solidFill>
                <a:latin typeface="+mn-ea"/>
                <a:ea typeface="+mn-ea"/>
              </a:rPr>
              <a:t>.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주요 </a:t>
            </a:r>
            <a:r>
              <a:rPr lang="ko-KR" altLang="en-US" sz="1800" kern="0" dirty="0" err="1">
                <a:solidFill>
                  <a:schemeClr val="accent1">
                    <a:lumMod val="75000"/>
                  </a:schemeClr>
                </a:solidFill>
              </a:rPr>
              <a:t>기여점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다양한 악천후 환경에 대해 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2D Object Detection, 2D Semantic </a:t>
            </a:r>
            <a:r>
              <a:rPr lang="en-US" altLang="ko-KR" sz="1600" kern="0" dirty="0" err="1">
                <a:solidFill>
                  <a:schemeClr val="tx1"/>
                </a:solidFill>
                <a:latin typeface="+mn-ea"/>
                <a:ea typeface="+mn-ea"/>
              </a:rPr>
              <a:t>Segmentataion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, 3D Point Cloud Detection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모델을 통합 적용하고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동일 조건 하에서 성능을 비교 분석하여 각각의 기법의 강건성을 정량적으로 검증한다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586160" lvl="1" indent="-342900">
              <a:lnSpc>
                <a:spcPct val="13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ACDC, DAWN, AI-Hub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등 오픈소스 악천후 환경 데이터셋을 활용하여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포맷을 통합하고 레이블을 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COCO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포맷으로 정리함으로써 데이터 </a:t>
            </a:r>
            <a:r>
              <a:rPr lang="ko-KR" altLang="en-US" sz="1600" kern="0" dirty="0" err="1">
                <a:solidFill>
                  <a:schemeClr val="tx1"/>
                </a:solidFill>
                <a:latin typeface="+mn-ea"/>
                <a:ea typeface="+mn-ea"/>
              </a:rPr>
              <a:t>전처리</a:t>
            </a:r>
            <a:r>
              <a:rPr lang="ko-KR" altLang="en-US" sz="1600" kern="0" dirty="0">
                <a:solidFill>
                  <a:schemeClr val="tx1"/>
                </a:solidFill>
                <a:latin typeface="+mn-ea"/>
                <a:ea typeface="+mn-ea"/>
              </a:rPr>
              <a:t> 및 실험 프레임워크 통합기준을 제시한다</a:t>
            </a:r>
            <a:r>
              <a:rPr lang="en-US" altLang="ko-KR" sz="1600" kern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br>
              <a:rPr lang="en-US" altLang="ko-KR" sz="1600" kern="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ko-KR" sz="1600" kern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E800F3-E48B-C1FF-262C-90F45017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(Introduction)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2153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D47B-444D-EC80-7F55-64A05784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F2F40C28-F832-41FB-88BF-D08DA8CC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246547"/>
            <a:ext cx="8402035" cy="2902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데이터 수집 및 구성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(Data Collection and Configuration)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활용 데이터셋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DAWN : Vehicle Detection in Adverse Weather Nature Dataset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ACDC : Adverse Conditions Dataset with Correspondences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 err="1">
                <a:solidFill>
                  <a:schemeClr val="tx1"/>
                </a:solidFill>
                <a:latin typeface="+mn-ea"/>
                <a:ea typeface="+mn-ea"/>
              </a:rPr>
              <a:t>nuScenes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ko-KR" sz="1400" kern="0" dirty="0" err="1">
                <a:solidFill>
                  <a:schemeClr val="tx1"/>
                </a:solidFill>
                <a:latin typeface="+mn-ea"/>
                <a:ea typeface="+mn-ea"/>
              </a:rPr>
              <a:t>SemanticKITTI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 : LiDAR 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기반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3D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포인트클라우드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+ </a:t>
            </a: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어노테이션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데이터셋 특성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490F42AD-27D8-4A18-9567-2735E811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017611"/>
              </p:ext>
            </p:extLst>
          </p:nvPr>
        </p:nvGraphicFramePr>
        <p:xfrm>
          <a:off x="988566" y="3519001"/>
          <a:ext cx="6193463" cy="1400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818">
                  <a:extLst>
                    <a:ext uri="{9D8B030D-6E8A-4147-A177-3AD203B41FA5}">
                      <a16:colId xmlns:a16="http://schemas.microsoft.com/office/drawing/2014/main" val="2354445767"/>
                    </a:ext>
                  </a:extLst>
                </a:gridCol>
                <a:gridCol w="1828117">
                  <a:extLst>
                    <a:ext uri="{9D8B030D-6E8A-4147-A177-3AD203B41FA5}">
                      <a16:colId xmlns:a16="http://schemas.microsoft.com/office/drawing/2014/main" val="3835019185"/>
                    </a:ext>
                  </a:extLst>
                </a:gridCol>
                <a:gridCol w="1197881">
                  <a:extLst>
                    <a:ext uri="{9D8B030D-6E8A-4147-A177-3AD203B41FA5}">
                      <a16:colId xmlns:a16="http://schemas.microsoft.com/office/drawing/2014/main" val="2252762502"/>
                    </a:ext>
                  </a:extLst>
                </a:gridCol>
                <a:gridCol w="1769647">
                  <a:extLst>
                    <a:ext uri="{9D8B030D-6E8A-4147-A177-3AD203B41FA5}">
                      <a16:colId xmlns:a16="http://schemas.microsoft.com/office/drawing/2014/main" val="1094137207"/>
                    </a:ext>
                  </a:extLst>
                </a:gridCol>
              </a:tblGrid>
              <a:tr h="3040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데이터셋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날씨 환경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이미지 타입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레이블링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87758"/>
                  </a:ext>
                </a:extLst>
              </a:tr>
              <a:tr h="304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DAWN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fog, rain, sand, snow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jpg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Bounding Box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33116"/>
                  </a:ext>
                </a:extLst>
              </a:tr>
              <a:tr h="304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ACDC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fog, rain, night, snow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png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Semantic Segmentation, Bounding Box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379651"/>
                  </a:ext>
                </a:extLst>
              </a:tr>
              <a:tr h="304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nuScenes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 err="1"/>
                        <a:t>SemanticKITTI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rain, for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PCD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3D Bounding Box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700139"/>
                  </a:ext>
                </a:extLst>
              </a:tr>
            </a:tbl>
          </a:graphicData>
        </a:graphic>
      </p:graphicFrame>
      <p:sp>
        <p:nvSpPr>
          <p:cNvPr id="11" name="제목 1">
            <a:extLst>
              <a:ext uri="{FF2B5EF4-FFF2-40B4-BE49-F238E27FC236}">
                <a16:creationId xmlns:a16="http://schemas.microsoft.com/office/drawing/2014/main" id="{29E88179-6AA6-4715-A747-AB6EFC5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011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9105-BFD4-1525-485A-A87648AB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2199160-B0A0-AA7B-E146-F52DB16F9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246547"/>
            <a:ext cx="8402035" cy="471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모델 구조 및 학습 계획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(Modeling &amp; Training Plan)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인지 방식별 </a:t>
            </a:r>
            <a:r>
              <a:rPr lang="en-US" altLang="ko-KR" sz="1500" kern="0" dirty="0">
                <a:solidFill>
                  <a:schemeClr val="tx1"/>
                </a:solidFill>
                <a:latin typeface="+mn-ea"/>
                <a:ea typeface="+mn-ea"/>
              </a:rPr>
              <a:t>SOTA </a:t>
            </a: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모델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 err="1">
                <a:solidFill>
                  <a:schemeClr val="tx1"/>
                </a:solidFill>
                <a:latin typeface="+mn-ea"/>
                <a:ea typeface="+mn-ea"/>
              </a:rPr>
              <a:t>ㅇ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학습 설정</a:t>
            </a: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환경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: Windows 11 Pro, Intel Core i7-14700, 32GB RAM</a:t>
            </a:r>
            <a:b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        Nvidia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Geforce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 RTX4060, CUDA 10.2, Python-3.9.21, torch-2.60+cu118</a:t>
            </a: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프레임워크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: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PyTorch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en-US" altLang="ko-KR" sz="1400" b="0" kern="0" dirty="0" err="1">
                <a:solidFill>
                  <a:schemeClr val="tx1"/>
                </a:solidFill>
                <a:latin typeface="+mn-ea"/>
                <a:ea typeface="+mn-ea"/>
              </a:rPr>
              <a:t>Roboflow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, MMDetection3D</a:t>
            </a:r>
          </a:p>
          <a:p>
            <a:pPr marL="540000" indent="-288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Pretrained weight 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사용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(COCO,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KITTI</a:t>
            </a:r>
            <a:r>
              <a:rPr lang="ko-KR" altLang="en-US" sz="1400" b="0" kern="0" dirty="0">
                <a:solidFill>
                  <a:schemeClr val="tx1"/>
                </a:solidFill>
                <a:latin typeface="+mn-ea"/>
                <a:ea typeface="+mn-ea"/>
              </a:rPr>
              <a:t> 기반 등</a:t>
            </a:r>
            <a:r>
              <a:rPr lang="en-US" altLang="ko-KR" sz="1400" b="0" kern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CC336822-7487-4E0C-0118-465896653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35250"/>
              </p:ext>
            </p:extLst>
          </p:nvPr>
        </p:nvGraphicFramePr>
        <p:xfrm>
          <a:off x="881959" y="2078985"/>
          <a:ext cx="6463466" cy="1469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5138">
                  <a:extLst>
                    <a:ext uri="{9D8B030D-6E8A-4147-A177-3AD203B41FA5}">
                      <a16:colId xmlns:a16="http://schemas.microsoft.com/office/drawing/2014/main" val="2354445767"/>
                    </a:ext>
                  </a:extLst>
                </a:gridCol>
                <a:gridCol w="1738297">
                  <a:extLst>
                    <a:ext uri="{9D8B030D-6E8A-4147-A177-3AD203B41FA5}">
                      <a16:colId xmlns:a16="http://schemas.microsoft.com/office/drawing/2014/main" val="2019085186"/>
                    </a:ext>
                  </a:extLst>
                </a:gridCol>
                <a:gridCol w="2790031">
                  <a:extLst>
                    <a:ext uri="{9D8B030D-6E8A-4147-A177-3AD203B41FA5}">
                      <a16:colId xmlns:a16="http://schemas.microsoft.com/office/drawing/2014/main" val="1541476601"/>
                    </a:ext>
                  </a:extLst>
                </a:gridCol>
              </a:tblGrid>
              <a:tr h="211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Task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모델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프레임워크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8775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2D Object Detection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YOLOv8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err="1"/>
                        <a:t>Ultralutics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514456"/>
                  </a:ext>
                </a:extLst>
              </a:tr>
              <a:tr h="301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2D Semantic </a:t>
                      </a:r>
                      <a:r>
                        <a:rPr lang="en-US" altLang="ko-KR" sz="1000" dirty="0" err="1"/>
                        <a:t>Segmantation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SegFormer</a:t>
                      </a:r>
                      <a:r>
                        <a:rPr lang="en-US" altLang="ko-KR" sz="1000" dirty="0"/>
                        <a:t> / Deeplabv3+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HuggingFace</a:t>
                      </a:r>
                      <a:r>
                        <a:rPr lang="en-US" sz="1000" dirty="0"/>
                        <a:t> / </a:t>
                      </a:r>
                      <a:r>
                        <a:rPr lang="en-US" sz="1000" dirty="0" err="1"/>
                        <a:t>MMSeg</a:t>
                      </a:r>
                      <a:endParaRPr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7883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3D Point Cloud Detection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PV-RCNN / CenterPoint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OpenPCDet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230944"/>
                  </a:ext>
                </a:extLst>
              </a:tr>
            </a:tbl>
          </a:graphicData>
        </a:graphic>
      </p:graphicFrame>
      <p:sp>
        <p:nvSpPr>
          <p:cNvPr id="11" name="제목 1">
            <a:extLst>
              <a:ext uri="{FF2B5EF4-FFF2-40B4-BE49-F238E27FC236}">
                <a16:creationId xmlns:a16="http://schemas.microsoft.com/office/drawing/2014/main" id="{5D6F2DD9-831E-401B-5C39-6B213006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538258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B5E07-DF4A-18DC-017E-BDC1722E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C16DE49-1E53-B345-B967-E76F92AA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246547"/>
            <a:ext cx="8402035" cy="2274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학습 및 검증 구성 </a:t>
            </a:r>
            <a:r>
              <a:rPr lang="en-US" altLang="ko-KR" sz="1800" kern="0" dirty="0">
                <a:solidFill>
                  <a:schemeClr val="accent1">
                    <a:lumMod val="75000"/>
                  </a:schemeClr>
                </a:solidFill>
              </a:rPr>
              <a:t>(Training &amp; Evaluation)</a:t>
            </a: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데이터 분할</a:t>
            </a:r>
            <a:endParaRPr lang="en-US" altLang="ko-KR" sz="15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Train : Val : Test = 7 : 2 : 1</a:t>
            </a: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각 </a:t>
            </a:r>
            <a:r>
              <a:rPr lang="en-US" altLang="ko-KR" sz="1400" kern="0" dirty="0">
                <a:solidFill>
                  <a:schemeClr val="tx1"/>
                </a:solidFill>
                <a:latin typeface="+mn-ea"/>
                <a:ea typeface="+mn-ea"/>
              </a:rPr>
              <a:t>Task</a:t>
            </a:r>
            <a:r>
              <a:rPr lang="ko-KR" altLang="en-US" sz="1400" kern="0" dirty="0">
                <a:solidFill>
                  <a:schemeClr val="tx1"/>
                </a:solidFill>
                <a:latin typeface="+mn-ea"/>
                <a:ea typeface="+mn-ea"/>
              </a:rPr>
              <a:t>별로 동일한 환경에서 성능 비교</a:t>
            </a: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586160" lvl="1" indent="-342900">
              <a:lnSpc>
                <a:spcPct val="11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ko-KR" altLang="en-US" sz="1500" kern="0" dirty="0">
                <a:solidFill>
                  <a:schemeClr val="tx1"/>
                </a:solidFill>
                <a:latin typeface="+mn-ea"/>
                <a:ea typeface="+mn-ea"/>
              </a:rPr>
              <a:t>평가지표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806450" lvl="2" indent="-179388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altLang="ko-KR" sz="1400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2" lvl="2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280A6E74-187B-3E67-0210-5F09C1262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40495"/>
              </p:ext>
            </p:extLst>
          </p:nvPr>
        </p:nvGraphicFramePr>
        <p:xfrm>
          <a:off x="971960" y="2888994"/>
          <a:ext cx="6463466" cy="1184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31733">
                  <a:extLst>
                    <a:ext uri="{9D8B030D-6E8A-4147-A177-3AD203B41FA5}">
                      <a16:colId xmlns:a16="http://schemas.microsoft.com/office/drawing/2014/main" val="2354445767"/>
                    </a:ext>
                  </a:extLst>
                </a:gridCol>
                <a:gridCol w="3231733">
                  <a:extLst>
                    <a:ext uri="{9D8B030D-6E8A-4147-A177-3AD203B41FA5}">
                      <a16:colId xmlns:a16="http://schemas.microsoft.com/office/drawing/2014/main" val="2474028401"/>
                    </a:ext>
                  </a:extLst>
                </a:gridCol>
              </a:tblGrid>
              <a:tr h="296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Task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주요 지표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87758"/>
                  </a:ext>
                </a:extLst>
              </a:tr>
              <a:tr h="296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2D </a:t>
                      </a:r>
                      <a:r>
                        <a:rPr lang="en-US" altLang="ko-KR" sz="1000" dirty="0" err="1"/>
                        <a:t>BoundonigBox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mAP@50,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Precision,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Recall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555629"/>
                  </a:ext>
                </a:extLst>
              </a:tr>
              <a:tr h="296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2D Semantic </a:t>
                      </a:r>
                      <a:r>
                        <a:rPr lang="en-US" altLang="ko-KR" sz="1000" dirty="0" err="1"/>
                        <a:t>Segmantation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mIOU</a:t>
                      </a:r>
                      <a:r>
                        <a:rPr lang="en-US" altLang="ko-KR" sz="1000" dirty="0"/>
                        <a:t>, Pixel Accuracy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840691"/>
                  </a:ext>
                </a:extLst>
              </a:tr>
              <a:tr h="296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3D Point Cloud Detection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3D </a:t>
                      </a:r>
                      <a:r>
                        <a:rPr lang="en-US" altLang="ko-KR" sz="1000" dirty="0" err="1"/>
                        <a:t>mAP</a:t>
                      </a:r>
                      <a:r>
                        <a:rPr lang="en-US" altLang="ko-KR" sz="1000" dirty="0"/>
                        <a:t>, BEV Precision</a:t>
                      </a: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270986"/>
                  </a:ext>
                </a:extLst>
              </a:tr>
            </a:tbl>
          </a:graphicData>
        </a:graphic>
      </p:graphicFrame>
      <p:sp>
        <p:nvSpPr>
          <p:cNvPr id="11" name="제목 1">
            <a:extLst>
              <a:ext uri="{FF2B5EF4-FFF2-40B4-BE49-F238E27FC236}">
                <a16:creationId xmlns:a16="http://schemas.microsoft.com/office/drawing/2014/main" id="{70FCCFE9-7857-29D8-D271-BAF01905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</p:spPr>
        <p:txBody>
          <a:bodyPr/>
          <a:lstStyle/>
          <a:p>
            <a:r>
              <a:rPr lang="ko-KR" altLang="en-US" dirty="0"/>
              <a:t>방법 및 구현 </a:t>
            </a:r>
            <a:r>
              <a:rPr lang="en-US" altLang="ko-KR" dirty="0"/>
              <a:t>(Methodology &amp; Implementation)</a:t>
            </a:r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E7325CE-9181-5C57-9C52-A99B7E816A25}"/>
              </a:ext>
            </a:extLst>
          </p:cNvPr>
          <p:cNvGrpSpPr/>
          <p:nvPr/>
        </p:nvGrpSpPr>
        <p:grpSpPr>
          <a:xfrm>
            <a:off x="791958" y="4280250"/>
            <a:ext cx="7029235" cy="1398775"/>
            <a:chOff x="692800" y="4655121"/>
            <a:chExt cx="7029235" cy="1398775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4A153063-3D35-7D40-DE22-EF6547D35347}"/>
                </a:ext>
              </a:extLst>
            </p:cNvPr>
            <p:cNvSpPr/>
            <p:nvPr/>
          </p:nvSpPr>
          <p:spPr bwMode="auto">
            <a:xfrm>
              <a:off x="692800" y="4655121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DAWN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90B35268-B4EF-0E95-1E9D-1FECD6BE1A62}"/>
                </a:ext>
              </a:extLst>
            </p:cNvPr>
            <p:cNvSpPr/>
            <p:nvPr/>
          </p:nvSpPr>
          <p:spPr bwMode="auto">
            <a:xfrm>
              <a:off x="2345073" y="5129895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dirty="0" err="1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통합전처리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85F2B9E-36DD-52A8-0455-75EC53EE890A}"/>
                </a:ext>
              </a:extLst>
            </p:cNvPr>
            <p:cNvSpPr/>
            <p:nvPr/>
          </p:nvSpPr>
          <p:spPr bwMode="auto">
            <a:xfrm>
              <a:off x="3757413" y="5129895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C</a:t>
              </a:r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ustom</a:t>
              </a:r>
              <a:b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</a:br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Dataset </a:t>
              </a:r>
              <a:r>
                <a:rPr lang="ko-KR" altLang="en-US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생성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DF459F7-FBCB-8E74-23C6-1BB1AB9E076B}"/>
                </a:ext>
              </a:extLst>
            </p:cNvPr>
            <p:cNvSpPr/>
            <p:nvPr/>
          </p:nvSpPr>
          <p:spPr bwMode="auto">
            <a:xfrm>
              <a:off x="5178907" y="4655121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YOLOv8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5FA1D58-2C4D-894E-6864-9B8B613F7FA8}"/>
                </a:ext>
              </a:extLst>
            </p:cNvPr>
            <p:cNvSpPr/>
            <p:nvPr/>
          </p:nvSpPr>
          <p:spPr bwMode="auto">
            <a:xfrm>
              <a:off x="701956" y="5129896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ACDC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E3EF155-5D10-78B7-1263-BAD36502FA6D}"/>
                </a:ext>
              </a:extLst>
            </p:cNvPr>
            <p:cNvSpPr/>
            <p:nvPr/>
          </p:nvSpPr>
          <p:spPr bwMode="auto">
            <a:xfrm>
              <a:off x="692800" y="5603891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KITTI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6C5EBEF-0ABC-89EE-B63A-90F735851BEE}"/>
                </a:ext>
              </a:extLst>
            </p:cNvPr>
            <p:cNvSpPr/>
            <p:nvPr/>
          </p:nvSpPr>
          <p:spPr bwMode="auto">
            <a:xfrm>
              <a:off x="6624833" y="5131408"/>
              <a:ext cx="1097202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성능 평가 비교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95C86B5-3BA0-93F9-7649-FDAFBD6E0A25}"/>
                </a:ext>
              </a:extLst>
            </p:cNvPr>
            <p:cNvSpPr/>
            <p:nvPr/>
          </p:nvSpPr>
          <p:spPr bwMode="auto">
            <a:xfrm>
              <a:off x="5169751" y="5603890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Arial" charset="0"/>
                </a:rPr>
                <a:t>PV-RCNN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D9F2675-A5D1-3C19-ED9C-63E21C5EF0FD}"/>
                </a:ext>
              </a:extLst>
            </p:cNvPr>
            <p:cNvSpPr/>
            <p:nvPr/>
          </p:nvSpPr>
          <p:spPr bwMode="auto">
            <a:xfrm>
              <a:off x="5178907" y="5129505"/>
              <a:ext cx="990011" cy="45000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Arial" charset="0"/>
                </a:rPr>
                <a:t>SegFormer</a:t>
              </a:r>
              <a:endPara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charset="0"/>
              </a:endParaRPr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DCE942FC-3579-981C-70C1-5719E93895D8}"/>
                </a:ext>
              </a:extLst>
            </p:cNvPr>
            <p:cNvCxnSpPr>
              <a:stCxn id="2" idx="3"/>
              <a:endCxn id="3" idx="1"/>
            </p:cNvCxnSpPr>
            <p:nvPr/>
          </p:nvCxnSpPr>
          <p:spPr bwMode="auto">
            <a:xfrm>
              <a:off x="1682811" y="4880124"/>
              <a:ext cx="662262" cy="47477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E721BE42-319E-B9EE-87EB-7C0E6D1FFA06}"/>
                </a:ext>
              </a:extLst>
            </p:cNvPr>
            <p:cNvCxnSpPr>
              <a:stCxn id="9" idx="3"/>
              <a:endCxn id="3" idx="1"/>
            </p:cNvCxnSpPr>
            <p:nvPr/>
          </p:nvCxnSpPr>
          <p:spPr bwMode="auto">
            <a:xfrm flipV="1">
              <a:off x="1682811" y="5354898"/>
              <a:ext cx="662262" cy="473996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2739AB5-E358-07A9-1678-1EE1AD969E92}"/>
                </a:ext>
              </a:extLst>
            </p:cNvPr>
            <p:cNvCxnSpPr>
              <a:stCxn id="8" idx="3"/>
              <a:endCxn id="3" idx="1"/>
            </p:cNvCxnSpPr>
            <p:nvPr/>
          </p:nvCxnSpPr>
          <p:spPr bwMode="auto">
            <a:xfrm flipV="1">
              <a:off x="1691967" y="5354898"/>
              <a:ext cx="653106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A48CAA4-FA97-7FB8-0D2B-A623333F90AC}"/>
                </a:ext>
              </a:extLst>
            </p:cNvPr>
            <p:cNvCxnSpPr>
              <a:stCxn id="3" idx="3"/>
              <a:endCxn id="6" idx="1"/>
            </p:cNvCxnSpPr>
            <p:nvPr/>
          </p:nvCxnSpPr>
          <p:spPr bwMode="auto">
            <a:xfrm>
              <a:off x="3335084" y="5354898"/>
              <a:ext cx="42232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9ED92F2-5FCB-EC48-03BD-744A03FB308F}"/>
                </a:ext>
              </a:extLst>
            </p:cNvPr>
            <p:cNvCxnSpPr>
              <a:stCxn id="6" idx="3"/>
              <a:endCxn id="13" idx="1"/>
            </p:cNvCxnSpPr>
            <p:nvPr/>
          </p:nvCxnSpPr>
          <p:spPr bwMode="auto">
            <a:xfrm flipV="1">
              <a:off x="4747424" y="5354508"/>
              <a:ext cx="431483" cy="3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29D837B1-6F29-1A4B-08D2-93DD3FF5353C}"/>
                </a:ext>
              </a:extLst>
            </p:cNvPr>
            <p:cNvCxnSpPr>
              <a:stCxn id="6" idx="3"/>
              <a:endCxn id="7" idx="1"/>
            </p:cNvCxnSpPr>
            <p:nvPr/>
          </p:nvCxnSpPr>
          <p:spPr bwMode="auto">
            <a:xfrm flipV="1">
              <a:off x="4747424" y="4880124"/>
              <a:ext cx="431483" cy="474774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BC40EF87-DCC9-516C-C66E-3A121A83AC2F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>
              <a:off x="4747424" y="5354898"/>
              <a:ext cx="422327" cy="473995"/>
            </a:xfrm>
            <a:prstGeom prst="bentConnector3">
              <a:avLst>
                <a:gd name="adj1" fmla="val 52062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D339BF6-6BDC-8A31-8902-49F122920B13}"/>
                </a:ext>
              </a:extLst>
            </p:cNvPr>
            <p:cNvCxnSpPr>
              <a:stCxn id="13" idx="3"/>
              <a:endCxn id="10" idx="1"/>
            </p:cNvCxnSpPr>
            <p:nvPr/>
          </p:nvCxnSpPr>
          <p:spPr bwMode="auto">
            <a:xfrm>
              <a:off x="6168918" y="5354508"/>
              <a:ext cx="455915" cy="190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9FE28E-5830-3B14-627E-B14004EC62B6}"/>
              </a:ext>
            </a:extLst>
          </p:cNvPr>
          <p:cNvSpPr/>
          <p:nvPr/>
        </p:nvSpPr>
        <p:spPr bwMode="auto">
          <a:xfrm>
            <a:off x="2690282" y="5813635"/>
            <a:ext cx="3763436" cy="3600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통합 구조도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(Block Diagram)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229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  <a:r>
              <a:rPr lang="en-US" altLang="ko-KR" dirty="0"/>
              <a:t> </a:t>
            </a:r>
            <a:r>
              <a:rPr lang="ko-KR" altLang="en-US" dirty="0"/>
              <a:t>구성 및 평가 방법 </a:t>
            </a:r>
            <a:r>
              <a:rPr lang="en-US" altLang="ko-KR" dirty="0"/>
              <a:t>(Experiment Settings)</a:t>
            </a:r>
            <a:r>
              <a:rPr lang="ko-KR" altLang="en-US" dirty="0"/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256570-E64F-E318-6273-633C471DECD4}"/>
              </a:ext>
            </a:extLst>
          </p:cNvPr>
          <p:cNvSpPr/>
          <p:nvPr/>
        </p:nvSpPr>
        <p:spPr bwMode="auto">
          <a:xfrm>
            <a:off x="561518" y="1718746"/>
            <a:ext cx="8042031" cy="405004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본 연구에서 제시하는 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+mn-ea"/>
              </a:rPr>
              <a:t>실험 구성 및 평가 방법</a:t>
            </a:r>
            <a:br>
              <a:rPr lang="en-US" altLang="ko-KR" b="1" dirty="0">
                <a:solidFill>
                  <a:schemeClr val="bg1"/>
                </a:solidFill>
                <a:latin typeface="+mn-ea"/>
              </a:rPr>
            </a:br>
            <a:r>
              <a:rPr lang="en-US" altLang="ko-KR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데이터셋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</a:rPr>
              <a:t>하이퍼파라미터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컴퓨팅 환경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평가지표 등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을 </a:t>
            </a:r>
            <a:br>
              <a:rPr lang="en-US" altLang="ko-KR" b="1" dirty="0">
                <a:solidFill>
                  <a:schemeClr val="bg1"/>
                </a:solidFill>
                <a:latin typeface="+mn-ea"/>
              </a:rPr>
            </a:br>
            <a:r>
              <a:rPr lang="en-US" altLang="ko-KR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페이지 내외로 자유롭게 기술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그림 및 표 포함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)</a:t>
            </a:r>
            <a:endParaRPr kumimoji="0" lang="ko-KR" altLang="en-US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78222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  <a:r>
              <a:rPr lang="en-US" altLang="ko-KR" dirty="0"/>
              <a:t> </a:t>
            </a:r>
            <a:r>
              <a:rPr lang="ko-KR" altLang="en-US" dirty="0"/>
              <a:t>및 분석 </a:t>
            </a:r>
            <a:r>
              <a:rPr lang="en-US" altLang="ko-KR" dirty="0"/>
              <a:t>(Results &amp; Analysis)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D0FFC5-D9B6-6DD1-D62B-9FCCFB82FE56}"/>
              </a:ext>
            </a:extLst>
          </p:cNvPr>
          <p:cNvSpPr/>
          <p:nvPr/>
        </p:nvSpPr>
        <p:spPr bwMode="auto">
          <a:xfrm>
            <a:off x="561518" y="1718746"/>
            <a:ext cx="8042031" cy="405004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본 연구에서 제시하는 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+mn-ea"/>
              </a:rPr>
              <a:t>결과 분석을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페이지 내외로 자유롭게 기술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그림 및 표 포함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+mn-ea"/>
              </a:rPr>
              <a:t>)</a:t>
            </a:r>
            <a:endParaRPr kumimoji="0" lang="ko-KR" altLang="en-US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391229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F8F7B2-4E9C-3990-CB40-20DEE121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EB009EF-C04C-39F4-91DF-8E645612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668BA-18C6-CF45-4CDD-7ACC85A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한계점</a:t>
            </a:r>
            <a:r>
              <a:rPr lang="en-US" altLang="ko-KR" dirty="0"/>
              <a:t> </a:t>
            </a:r>
            <a:r>
              <a:rPr lang="ko-KR" altLang="en-US" dirty="0"/>
              <a:t>및 토론 </a:t>
            </a:r>
            <a:r>
              <a:rPr lang="en-US" altLang="ko-KR" dirty="0"/>
              <a:t>(Limitations &amp; Discussions)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DF636A-0EE6-7EF2-BE03-66653A922593}"/>
              </a:ext>
            </a:extLst>
          </p:cNvPr>
          <p:cNvSpPr/>
          <p:nvPr/>
        </p:nvSpPr>
        <p:spPr bwMode="auto">
          <a:xfrm>
            <a:off x="561518" y="1718746"/>
            <a:ext cx="8042031" cy="405004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본 연구의 분석 결과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한계점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,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개선점 등 논의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rgbClr val="FFFF00"/>
                </a:solidFill>
                <a:latin typeface="+mn-ea"/>
              </a:rPr>
              <a:t>단</a:t>
            </a: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rgbClr val="FFFF00"/>
                </a:solidFill>
                <a:latin typeface="+mn-ea"/>
              </a:rPr>
              <a:t>여기서 한계점 및 개선점은 </a:t>
            </a: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4</a:t>
            </a:r>
            <a:r>
              <a:rPr lang="ko-KR" altLang="en-US" b="1" dirty="0">
                <a:solidFill>
                  <a:srgbClr val="FFFF00"/>
                </a:solidFill>
                <a:latin typeface="+mn-ea"/>
              </a:rPr>
              <a:t>페이지 주요 </a:t>
            </a:r>
            <a:r>
              <a:rPr lang="ko-KR" altLang="en-US" b="1" dirty="0" err="1">
                <a:solidFill>
                  <a:srgbClr val="FFFF00"/>
                </a:solidFill>
                <a:latin typeface="+mn-ea"/>
              </a:rPr>
              <a:t>기여점</a:t>
            </a:r>
            <a:r>
              <a:rPr lang="ko-KR" altLang="en-US" b="1" dirty="0">
                <a:solidFill>
                  <a:srgbClr val="FFFF00"/>
                </a:solidFill>
                <a:latin typeface="+mn-ea"/>
              </a:rPr>
              <a:t> 외에서 정의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(1</a:t>
            </a:r>
            <a:r>
              <a:rPr lang="ko-KR" altLang="en-US" b="1" dirty="0">
                <a:solidFill>
                  <a:srgbClr val="FFFF00"/>
                </a:solidFill>
                <a:latin typeface="+mn-ea"/>
              </a:rPr>
              <a:t>페이지 내외</a:t>
            </a: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)</a:t>
            </a:r>
            <a:endParaRPr kumimoji="0" lang="ko-KR" altLang="en-US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20099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D15F2B-FB2A-0C0C-920D-1B39708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CC8831B-30AA-9DE8-C328-3635A8AC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2" y="1088974"/>
            <a:ext cx="4060579" cy="33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ko-KR" altLang="en-US" sz="1800" kern="0" dirty="0">
                <a:solidFill>
                  <a:schemeClr val="accent1">
                    <a:lumMod val="75000"/>
                  </a:schemeClr>
                </a:solidFill>
              </a:rPr>
              <a:t>내용 작성</a:t>
            </a:r>
            <a:endParaRPr lang="en-US" altLang="ko-KR" sz="1800" kern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6200F8-6A1C-B776-8E39-024C9513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연구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C9060-4204-2D8C-8F06-DDCF6443FCEC}"/>
              </a:ext>
            </a:extLst>
          </p:cNvPr>
          <p:cNvSpPr/>
          <p:nvPr/>
        </p:nvSpPr>
        <p:spPr bwMode="auto">
          <a:xfrm>
            <a:off x="561518" y="1718746"/>
            <a:ext cx="8042031" cy="405004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본 연구의 결론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기대효과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향후 연구 방향 제시</a:t>
            </a: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b="1" dirty="0">
              <a:solidFill>
                <a:schemeClr val="bg1"/>
              </a:solidFill>
              <a:latin typeface="+mn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1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</a:rPr>
              <a:t>페이지 이내</a:t>
            </a:r>
          </a:p>
        </p:txBody>
      </p:sp>
    </p:spTree>
    <p:extLst>
      <p:ext uri="{BB962C8B-B14F-4D97-AF65-F5344CB8AC3E}">
        <p14:creationId xmlns:p14="http://schemas.microsoft.com/office/powerpoint/2010/main" val="24021566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7D46-C139-9199-B45A-7A777DE9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98DF2-0FED-0E54-CAA4-04A96F7E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BBB39C0-3920-3DAD-648B-9FDF3B376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13" y="1088974"/>
            <a:ext cx="8312034" cy="2763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41795" indent="-241795" algn="l" defTabSz="597892" rtl="0" eaLnBrk="0" fontAlgn="base" hangingPunct="0">
              <a:lnSpc>
                <a:spcPct val="150000"/>
              </a:lnSpc>
              <a:spcBef>
                <a:spcPct val="115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600" b="1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  <a:cs typeface="+mn-cs"/>
              </a:defRPr>
            </a:lvl1pPr>
            <a:lvl2pPr marL="410318" indent="-167058" algn="l" defTabSz="597892" rtl="0" eaLnBrk="0" fontAlgn="base" hangingPunct="0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Clr>
                <a:schemeClr val="tx2"/>
              </a:buClr>
              <a:buFont typeface="맑은 고딕" panose="020B0503020000020004" pitchFamily="50" charset="-127"/>
              <a:buChar char="√"/>
              <a:defRPr sz="14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 marL="748831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-"/>
              <a:defRPr sz="1200">
                <a:solidFill>
                  <a:srgbClr val="000000"/>
                </a:solidFill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 marL="917354" indent="-167058" algn="l" defTabSz="597892" rtl="0" eaLnBrk="0" fontAlgn="base" hangingPunct="0">
              <a:lnSpc>
                <a:spcPct val="150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339395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6pPr>
            <a:lvl7pPr marL="1761436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7pPr>
            <a:lvl8pPr marL="2183478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8pPr>
            <a:lvl9pPr marL="2605519" indent="-167058" algn="l" defTabSz="597892" rtl="0" fontAlgn="base">
              <a:lnSpc>
                <a:spcPct val="108000"/>
              </a:lnSpc>
              <a:spcBef>
                <a:spcPct val="8000"/>
              </a:spcBef>
              <a:spcAft>
                <a:spcPct val="0"/>
              </a:spcAft>
              <a:buClr>
                <a:srgbClr val="F37121"/>
              </a:buClr>
              <a:buFont typeface="Wingdings" pitchFamily="2" charset="2"/>
              <a:buChar char="§"/>
              <a:defRPr sz="1292">
                <a:solidFill>
                  <a:srgbClr val="000000"/>
                </a:solidFill>
                <a:latin typeface="+mn-lt"/>
              </a:defRPr>
            </a:lvl9pPr>
          </a:lstStyle>
          <a:p>
            <a:pPr marL="304800" indent="-30480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[1] Musat, V. et al. (2021). </a:t>
            </a:r>
            <a:r>
              <a:rPr lang="en-US" altLang="ko-KR" i="1" dirty="0">
                <a:solidFill>
                  <a:srgbClr val="3367BB"/>
                </a:solidFill>
                <a:latin typeface="맑은 고딕" panose="020B0503020000020004" pitchFamily="50" charset="-127"/>
              </a:rPr>
              <a:t>Multi-Weather City: Adverse Weather Stacking for Autonomous Driving</a:t>
            </a: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.</a:t>
            </a:r>
          </a:p>
          <a:p>
            <a:pPr marL="304800" indent="-30480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[2] </a:t>
            </a:r>
            <a:r>
              <a:rPr lang="en-US" altLang="ko-KR" dirty="0" err="1">
                <a:solidFill>
                  <a:srgbClr val="3367BB"/>
                </a:solidFill>
                <a:latin typeface="맑은 고딕" panose="020B0503020000020004" pitchFamily="50" charset="-127"/>
              </a:rPr>
              <a:t>Teeti</a:t>
            </a: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, I. et al. (2023). </a:t>
            </a:r>
            <a:r>
              <a:rPr lang="en-US" altLang="ko-KR" i="1" dirty="0">
                <a:solidFill>
                  <a:srgbClr val="3367BB"/>
                </a:solidFill>
                <a:latin typeface="맑은 고딕" panose="020B0503020000020004" pitchFamily="50" charset="-127"/>
              </a:rPr>
              <a:t>Vision in Adverse Weather: Augmentation using </a:t>
            </a:r>
            <a:r>
              <a:rPr lang="en-US" altLang="ko-KR" i="1" dirty="0" err="1">
                <a:solidFill>
                  <a:srgbClr val="3367BB"/>
                </a:solidFill>
                <a:latin typeface="맑은 고딕" panose="020B0503020000020004" pitchFamily="50" charset="-127"/>
              </a:rPr>
              <a:t>CycleGANs</a:t>
            </a:r>
            <a:r>
              <a:rPr lang="en-US" altLang="ko-KR" i="1" dirty="0">
                <a:solidFill>
                  <a:srgbClr val="3367BB"/>
                </a:solidFill>
                <a:latin typeface="맑은 고딕" panose="020B0503020000020004" pitchFamily="50" charset="-127"/>
              </a:rPr>
              <a:t> with Various Object Detectors</a:t>
            </a: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.</a:t>
            </a:r>
          </a:p>
          <a:p>
            <a:pPr marL="304800" indent="-30480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[3] Ayub, A., Kim, H. (2024). </a:t>
            </a:r>
            <a:r>
              <a:rPr lang="en-US" altLang="ko-KR" i="1" dirty="0">
                <a:solidFill>
                  <a:srgbClr val="3367BB"/>
                </a:solidFill>
                <a:latin typeface="맑은 고딕" panose="020B0503020000020004" pitchFamily="50" charset="-127"/>
              </a:rPr>
              <a:t>GAN-Based Data Augmentation with Vehicle Color Changes to Train a Vehicle Detection CNN</a:t>
            </a: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.</a:t>
            </a:r>
          </a:p>
          <a:p>
            <a:pPr marL="304800" indent="-304800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[4] Kwak, J. et al. (2021). </a:t>
            </a:r>
            <a:r>
              <a:rPr lang="en-US" altLang="ko-KR" i="1" dirty="0">
                <a:solidFill>
                  <a:srgbClr val="3367BB"/>
                </a:solidFill>
                <a:latin typeface="맑은 고딕" panose="020B0503020000020004" pitchFamily="50" charset="-127"/>
              </a:rPr>
              <a:t>Adverse Weather Image Translation with Asymmetric and Uncertainty-aware GAN</a:t>
            </a:r>
            <a:r>
              <a:rPr lang="en-US" altLang="ko-KR" dirty="0">
                <a:solidFill>
                  <a:srgbClr val="3367BB"/>
                </a:solidFill>
                <a:latin typeface="맑은 고딕" panose="020B0503020000020004" pitchFamily="50" charset="-127"/>
              </a:rPr>
              <a:t>.</a:t>
            </a:r>
            <a:endParaRPr lang="en-US" altLang="ko-KR" b="0" kern="0" dirty="0">
              <a:solidFill>
                <a:srgbClr val="3367B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1134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951C254-D3FE-4F55-B884-40C49A860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6399033"/>
            <a:ext cx="1444806" cy="26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42296-B25A-27A7-7E69-7939DB0BA19F}"/>
              </a:ext>
            </a:extLst>
          </p:cNvPr>
          <p:cNvSpPr txBox="1"/>
          <p:nvPr/>
        </p:nvSpPr>
        <p:spPr>
          <a:xfrm>
            <a:off x="1016960" y="2078985"/>
            <a:ext cx="7110079" cy="2133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감사합니다</a:t>
            </a:r>
            <a:endParaRPr lang="en-US" altLang="ko-KR" sz="5400" b="1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38100" marR="0" indent="0" algn="ctr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54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Q&amp;A</a:t>
            </a:r>
            <a:endParaRPr lang="ko-KR" altLang="en-US" sz="54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23391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2004:Templates:Presentations:Designs:Calm Seas</Template>
  <TotalTime>59828</TotalTime>
  <Words>973</Words>
  <Application>Microsoft Office PowerPoint</Application>
  <PresentationFormat>화면 슬라이드 쇼(4:3)</PresentationFormat>
  <Paragraphs>178</Paragraphs>
  <Slides>15</Slides>
  <Notes>13</Notes>
  <HiddenSlides>6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나눔고딕 ExtraBold</vt:lpstr>
      <vt:lpstr>맑은 고딕</vt:lpstr>
      <vt:lpstr>Arial</vt:lpstr>
      <vt:lpstr>Cambria</vt:lpstr>
      <vt:lpstr>Corbel</vt:lpstr>
      <vt:lpstr>Times New Roman</vt:lpstr>
      <vt:lpstr>Wingdings</vt:lpstr>
      <vt:lpstr>1_Default Design</vt:lpstr>
      <vt:lpstr>2_Default Design</vt:lpstr>
      <vt:lpstr>PowerPoint 프레젠테이션</vt:lpstr>
      <vt:lpstr>목차</vt:lpstr>
      <vt:lpstr>목차</vt:lpstr>
      <vt:lpstr>목차</vt:lpstr>
      <vt:lpstr>프로젝트 #1 개요</vt:lpstr>
      <vt:lpstr>서론 (Introduction)</vt:lpstr>
      <vt:lpstr>방법 및 구현 (Methodology &amp; Implementation)</vt:lpstr>
      <vt:lpstr>방법 및 구현 (Methodology &amp; Implementation)</vt:lpstr>
      <vt:lpstr>방법 및 구현 (Methodology &amp; Implementation)</vt:lpstr>
      <vt:lpstr>실험 구성 및 평가 방법 (Experiment Settings) </vt:lpstr>
      <vt:lpstr>결과 및 분석 (Results &amp; Analysis)</vt:lpstr>
      <vt:lpstr>한계점 및 토론 (Limitations &amp; Discussions)</vt:lpstr>
      <vt:lpstr>향후 연구 방향</vt:lpstr>
      <vt:lpstr>참고 문헌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이광연</dc:creator>
  <cp:lastModifiedBy>USER-01</cp:lastModifiedBy>
  <cp:revision>3140</cp:revision>
  <cp:lastPrinted>2023-01-25T05:07:50Z</cp:lastPrinted>
  <dcterms:created xsi:type="dcterms:W3CDTF">2004-08-18T11:28:05Z</dcterms:created>
  <dcterms:modified xsi:type="dcterms:W3CDTF">2025-05-26T04:59:59Z</dcterms:modified>
</cp:coreProperties>
</file>