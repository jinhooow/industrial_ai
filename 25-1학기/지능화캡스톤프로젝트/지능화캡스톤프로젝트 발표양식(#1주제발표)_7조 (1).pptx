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795" r:id="rId2"/>
  </p:sldMasterIdLst>
  <p:notesMasterIdLst>
    <p:notesMasterId r:id="rId21"/>
  </p:notesMasterIdLst>
  <p:handoutMasterIdLst>
    <p:handoutMasterId r:id="rId22"/>
  </p:handoutMasterIdLst>
  <p:sldIdLst>
    <p:sldId id="449" r:id="rId3"/>
    <p:sldId id="1008" r:id="rId4"/>
    <p:sldId id="999" r:id="rId5"/>
    <p:sldId id="1014" r:id="rId6"/>
    <p:sldId id="1009" r:id="rId7"/>
    <p:sldId id="1015" r:id="rId8"/>
    <p:sldId id="1010" r:id="rId9"/>
    <p:sldId id="1016" r:id="rId10"/>
    <p:sldId id="1017" r:id="rId11"/>
    <p:sldId id="1018" r:id="rId12"/>
    <p:sldId id="1011" r:id="rId13"/>
    <p:sldId id="1020" r:id="rId14"/>
    <p:sldId id="1019" r:id="rId15"/>
    <p:sldId id="1021" r:id="rId16"/>
    <p:sldId id="1012" r:id="rId17"/>
    <p:sldId id="1022" r:id="rId18"/>
    <p:sldId id="1013" r:id="rId19"/>
    <p:sldId id="1006" r:id="rId20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EE8726-F9F3-41AF-B5F6-E34B9A5B6B90}">
          <p14:sldIdLst>
            <p14:sldId id="449"/>
            <p14:sldId id="1008"/>
            <p14:sldId id="999"/>
            <p14:sldId id="1014"/>
            <p14:sldId id="1009"/>
            <p14:sldId id="1015"/>
            <p14:sldId id="1010"/>
            <p14:sldId id="1016"/>
            <p14:sldId id="1017"/>
            <p14:sldId id="1018"/>
            <p14:sldId id="1011"/>
            <p14:sldId id="1020"/>
            <p14:sldId id="1019"/>
            <p14:sldId id="1021"/>
            <p14:sldId id="1012"/>
            <p14:sldId id="1022"/>
            <p14:sldId id="1013"/>
            <p14:sldId id="10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2" userDrawn="1">
          <p15:clr>
            <a:srgbClr val="A4A3A4"/>
          </p15:clr>
        </p15:guide>
        <p15:guide id="2" orient="horz" pos="813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orient="horz" pos="3537" userDrawn="1">
          <p15:clr>
            <a:srgbClr val="A4A3A4"/>
          </p15:clr>
        </p15:guide>
        <p15:guide id="5" orient="horz" pos="4199" userDrawn="1">
          <p15:clr>
            <a:srgbClr val="A4A3A4"/>
          </p15:clr>
        </p15:guide>
        <p15:guide id="6" orient="horz" pos="3921" userDrawn="1">
          <p15:clr>
            <a:srgbClr val="A4A3A4"/>
          </p15:clr>
        </p15:guide>
        <p15:guide id="7" orient="horz" pos="1952" userDrawn="1">
          <p15:clr>
            <a:srgbClr val="A4A3A4"/>
          </p15:clr>
        </p15:guide>
        <p15:guide id="8" pos="5551" userDrawn="1">
          <p15:clr>
            <a:srgbClr val="A4A3A4"/>
          </p15:clr>
        </p15:guide>
        <p15:guide id="9" pos="338" userDrawn="1">
          <p15:clr>
            <a:srgbClr val="A4A3A4"/>
          </p15:clr>
        </p15:guide>
        <p15:guide id="10" pos="4497" userDrawn="1">
          <p15:clr>
            <a:srgbClr val="A4A3A4"/>
          </p15:clr>
        </p15:guide>
        <p15:guide id="11" pos="2829" userDrawn="1">
          <p15:clr>
            <a:srgbClr val="A4A3A4"/>
          </p15:clr>
        </p15:guide>
        <p15:guide id="12" pos="1557" userDrawn="1">
          <p15:clr>
            <a:srgbClr val="A4A3A4"/>
          </p15:clr>
        </p15:guide>
        <p15:guide id="13" pos="3056" userDrawn="1">
          <p15:clr>
            <a:srgbClr val="A4A3A4"/>
          </p15:clr>
        </p15:guide>
        <p15:guide id="14" orient="horz" pos="1102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4201">
          <p15:clr>
            <a:srgbClr val="A4A3A4"/>
          </p15:clr>
        </p15:guide>
        <p15:guide id="17" orient="horz" pos="1933">
          <p15:clr>
            <a:srgbClr val="A4A3A4"/>
          </p15:clr>
        </p15:guide>
        <p15:guide id="18" pos="55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07A9"/>
    <a:srgbClr val="0033CC"/>
    <a:srgbClr val="E7EBF5"/>
    <a:srgbClr val="12275E"/>
    <a:srgbClr val="9A1F4E"/>
    <a:srgbClr val="E8E8E8"/>
    <a:srgbClr val="152B65"/>
    <a:srgbClr val="8FAADC"/>
    <a:srgbClr val="3367BB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9" autoAdjust="0"/>
    <p:restoredTop sz="92077" autoAdjust="0"/>
  </p:normalViewPr>
  <p:slideViewPr>
    <p:cSldViewPr>
      <p:cViewPr varScale="1">
        <p:scale>
          <a:sx n="113" d="100"/>
          <a:sy n="113" d="100"/>
        </p:scale>
        <p:origin x="1746" y="96"/>
      </p:cViewPr>
      <p:guideLst>
        <p:guide orient="horz" pos="492"/>
        <p:guide orient="horz" pos="813"/>
        <p:guide orient="horz" pos="1122"/>
        <p:guide orient="horz" pos="3537"/>
        <p:guide orient="horz" pos="4199"/>
        <p:guide orient="horz" pos="3921"/>
        <p:guide orient="horz" pos="1952"/>
        <p:guide pos="5551"/>
        <p:guide pos="338"/>
        <p:guide pos="4497"/>
        <p:guide pos="2829"/>
        <p:guide pos="1557"/>
        <p:guide pos="3056"/>
        <p:guide orient="horz" pos="1102"/>
        <p:guide orient="horz" pos="3067"/>
        <p:guide orient="horz" pos="4201"/>
        <p:guide orient="horz" pos="1933"/>
        <p:guide pos="55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08" y="414"/>
      </p:cViewPr>
      <p:guideLst>
        <p:guide orient="horz" pos="3127"/>
        <p:guide pos="2141"/>
      </p:guideLst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929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6583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BD44-7F29-4E49-97C7-26E17827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8E34C6-4200-1AF3-69DF-B0F125E8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60860-0C1B-32DC-0EB7-CC65AD0C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ECC2E-A141-F59F-D484-14690DBA2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147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03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AC059-7225-9F27-9091-53CF2BD3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BDEAC6-1BDC-BBC2-9353-2BD8C4157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F23A9E-D86C-3B7B-C2B4-1C1C761A9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FB1E9-EFD8-C8EE-7C8D-762DDFA8A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075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9685-7F23-F9A1-1D80-B69453E4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18B73-F5F0-7CEE-9B5E-2F8C8C15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3804AA-160E-1CA6-8E8E-F3A911BCF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4E12C-C88E-F1AC-EC6D-A59395EF8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57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9685-7F23-F9A1-1D80-B69453E4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18B73-F5F0-7CEE-9B5E-2F8C8C15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3804AA-160E-1CA6-8E8E-F3A911BCF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4E12C-C88E-F1AC-EC6D-A59395EF8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966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78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733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007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25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562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1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942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798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07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D07E-D475-740E-D774-B753BBC1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5E8493-48DB-1744-58F7-F4A427059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7ADD73-8E63-AE13-0665-D29980FA9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F6B07-78AD-5026-804A-309B2AE2A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ltralytics/ultralytic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193435"/>
            <a:ext cx="7110079" cy="87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프로젝트</a:t>
            </a:r>
            <a:r>
              <a:rPr lang="en-US" altLang="ko-KR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#1 </a:t>
            </a: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주제발표</a:t>
            </a:r>
            <a:endParaRPr lang="en-US" altLang="ko-KR" sz="4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DA4912B-7505-A2FB-FBB8-4DF4D2A23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56" y="4890130"/>
            <a:ext cx="7290083" cy="79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0" indent="0" algn="l" defTabSz="647700" rtl="0" eaLnBrk="0" fontAlgn="base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None/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4500" indent="-180975" algn="l" defTabSz="647700" rtl="0" eaLnBrk="0" fontAlgn="base" hangingPunct="0">
              <a:lnSpc>
                <a:spcPct val="105000"/>
              </a:lnSpc>
              <a:spcBef>
                <a:spcPct val="5000"/>
              </a:spcBef>
              <a:spcAft>
                <a:spcPct val="0"/>
              </a:spcAft>
              <a:buClr>
                <a:srgbClr val="F37121"/>
              </a:buClr>
              <a:buFont typeface="Arial Unicode MS" pitchFamily="50" charset="-127"/>
              <a:buChar char="–"/>
              <a:defRPr sz="1400">
                <a:solidFill>
                  <a:srgbClr val="000000"/>
                </a:solidFill>
                <a:latin typeface="+mn-lt"/>
              </a:defRPr>
            </a:lvl2pPr>
            <a:lvl3pPr marL="628650" indent="-182563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3pPr>
            <a:lvl4pPr marL="811213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Arial" pitchFamily="34" charset="0"/>
              <a:buChar char="-"/>
              <a:defRPr sz="1400">
                <a:solidFill>
                  <a:srgbClr val="000000"/>
                </a:solidFill>
                <a:latin typeface="+mn-lt"/>
              </a:defRPr>
            </a:lvl4pPr>
            <a:lvl5pPr marL="993775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5pPr>
            <a:lvl6pPr marL="14509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6pPr>
            <a:lvl7pPr marL="19081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7pPr>
            <a:lvl8pPr marL="23653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8pPr>
            <a:lvl9pPr marL="28225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9pPr>
          </a:lstStyle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[7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김진하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팀장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유진호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0" dirty="0" err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이기명</a:t>
            </a:r>
            <a:endParaRPr lang="en-US" altLang="ko-KR" b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jhkim0623@avgenius.kr, jhyoo@avgenius.kr, dlrlaud0501@co-ms.co.kr </a:t>
            </a:r>
          </a:p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충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</a:rPr>
              <a:t>북대학교 산업인공지능학과</a:t>
            </a:r>
            <a:endParaRPr lang="en-GB" altLang="ko-KR" b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12AAC-3E69-1D46-503B-5B89E4C8F6DA}"/>
              </a:ext>
            </a:extLst>
          </p:cNvPr>
          <p:cNvSpPr txBox="1"/>
          <p:nvPr/>
        </p:nvSpPr>
        <p:spPr>
          <a:xfrm>
            <a:off x="656956" y="3068996"/>
            <a:ext cx="7830088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딥러닝 기반 논문 리뷰</a:t>
            </a:r>
            <a:endParaRPr lang="en-US" altLang="ko-KR" sz="24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571C43D-1094-CBC8-93A7-E64A401C7D9C}"/>
              </a:ext>
            </a:extLst>
          </p:cNvPr>
          <p:cNvSpPr/>
          <p:nvPr/>
        </p:nvSpPr>
        <p:spPr bwMode="auto">
          <a:xfrm>
            <a:off x="115260" y="102298"/>
            <a:ext cx="2678427" cy="270003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지능화캡스톤프로젝트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#1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주제발표 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E1CE6F-76AD-000F-FC26-1ED75C8B7A1E}"/>
              </a:ext>
            </a:extLst>
          </p:cNvPr>
          <p:cNvSpPr/>
          <p:nvPr/>
        </p:nvSpPr>
        <p:spPr bwMode="auto">
          <a:xfrm>
            <a:off x="1007441" y="158376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44DB7F6-FF4D-9D0C-9F40-0FE318A46B04}"/>
              </a:ext>
            </a:extLst>
          </p:cNvPr>
          <p:cNvGrpSpPr/>
          <p:nvPr/>
        </p:nvGrpSpPr>
        <p:grpSpPr>
          <a:xfrm>
            <a:off x="684584" y="1494115"/>
            <a:ext cx="892810" cy="892810"/>
            <a:chOff x="611956" y="1268976"/>
            <a:chExt cx="772344" cy="7723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43373F4-2E7B-8903-8CE2-0B4727255424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원형: 비어 있음 9">
              <a:extLst>
                <a:ext uri="{FF2B5EF4-FFF2-40B4-BE49-F238E27FC236}">
                  <a16:creationId xmlns:a16="http://schemas.microsoft.com/office/drawing/2014/main" id="{2C433100-51C9-040F-E15D-ECEE4E91FD4B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B832B4C-A785-B90A-53E1-EEB7FDBA694E}"/>
              </a:ext>
            </a:extLst>
          </p:cNvPr>
          <p:cNvSpPr/>
          <p:nvPr/>
        </p:nvSpPr>
        <p:spPr bwMode="auto">
          <a:xfrm>
            <a:off x="1007441" y="25131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906A9AF-C8CB-2CE4-1191-BDD34460B712}"/>
              </a:ext>
            </a:extLst>
          </p:cNvPr>
          <p:cNvGrpSpPr/>
          <p:nvPr/>
        </p:nvGrpSpPr>
        <p:grpSpPr>
          <a:xfrm>
            <a:off x="684584" y="2423474"/>
            <a:ext cx="892810" cy="892810"/>
            <a:chOff x="611956" y="1268976"/>
            <a:chExt cx="772344" cy="772344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B107DAFD-9A61-9215-2786-657BC8F93286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원형: 비어 있음 69">
              <a:extLst>
                <a:ext uri="{FF2B5EF4-FFF2-40B4-BE49-F238E27FC236}">
                  <a16:creationId xmlns:a16="http://schemas.microsoft.com/office/drawing/2014/main" id="{FE03CDB2-3657-1F6D-113B-0C30131481C2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1B02D9E-1E71-E7CE-557A-0A0E94437863}"/>
              </a:ext>
            </a:extLst>
          </p:cNvPr>
          <p:cNvSpPr/>
          <p:nvPr/>
        </p:nvSpPr>
        <p:spPr bwMode="auto">
          <a:xfrm>
            <a:off x="1007441" y="344248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D185EA5-580C-659B-0138-EC5E05E0FB39}"/>
              </a:ext>
            </a:extLst>
          </p:cNvPr>
          <p:cNvSpPr/>
          <p:nvPr/>
        </p:nvSpPr>
        <p:spPr bwMode="auto">
          <a:xfrm>
            <a:off x="684584" y="335283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원형: 비어 있음 74">
            <a:extLst>
              <a:ext uri="{FF2B5EF4-FFF2-40B4-BE49-F238E27FC236}">
                <a16:creationId xmlns:a16="http://schemas.microsoft.com/office/drawing/2014/main" id="{8F198A70-FC60-0877-B322-9360D1ACD8FD}"/>
              </a:ext>
            </a:extLst>
          </p:cNvPr>
          <p:cNvSpPr/>
          <p:nvPr/>
        </p:nvSpPr>
        <p:spPr bwMode="auto">
          <a:xfrm>
            <a:off x="718847" y="338709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1452986-DABC-30DA-C446-FB53EF55A64E}"/>
              </a:ext>
            </a:extLst>
          </p:cNvPr>
          <p:cNvSpPr/>
          <p:nvPr/>
        </p:nvSpPr>
        <p:spPr bwMode="auto">
          <a:xfrm>
            <a:off x="1007441" y="4371840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A01D40BA-86E6-050D-8ED4-8652281AA359}"/>
              </a:ext>
            </a:extLst>
          </p:cNvPr>
          <p:cNvSpPr/>
          <p:nvPr/>
        </p:nvSpPr>
        <p:spPr bwMode="auto">
          <a:xfrm>
            <a:off x="684584" y="4282192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원형: 비어 있음 79">
            <a:extLst>
              <a:ext uri="{FF2B5EF4-FFF2-40B4-BE49-F238E27FC236}">
                <a16:creationId xmlns:a16="http://schemas.microsoft.com/office/drawing/2014/main" id="{B4D7C20E-7284-6173-CF49-1DDE69650CE0}"/>
              </a:ext>
            </a:extLst>
          </p:cNvPr>
          <p:cNvSpPr/>
          <p:nvPr/>
        </p:nvSpPr>
        <p:spPr bwMode="auto">
          <a:xfrm>
            <a:off x="718847" y="4316455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BD59DEE-2319-7898-87A5-8370B2DBDCD8}"/>
              </a:ext>
            </a:extLst>
          </p:cNvPr>
          <p:cNvSpPr/>
          <p:nvPr/>
        </p:nvSpPr>
        <p:spPr bwMode="auto">
          <a:xfrm>
            <a:off x="1007441" y="530120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D1452B7-32FC-E53F-7ED7-9758B0E1F153}"/>
              </a:ext>
            </a:extLst>
          </p:cNvPr>
          <p:cNvSpPr/>
          <p:nvPr/>
        </p:nvSpPr>
        <p:spPr bwMode="auto">
          <a:xfrm>
            <a:off x="684584" y="521155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원형: 비어 있음 84">
            <a:extLst>
              <a:ext uri="{FF2B5EF4-FFF2-40B4-BE49-F238E27FC236}">
                <a16:creationId xmlns:a16="http://schemas.microsoft.com/office/drawing/2014/main" id="{157A5F63-566D-25E2-6244-A31A611B1811}"/>
              </a:ext>
            </a:extLst>
          </p:cNvPr>
          <p:cNvSpPr/>
          <p:nvPr/>
        </p:nvSpPr>
        <p:spPr bwMode="auto">
          <a:xfrm>
            <a:off x="718847" y="524581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185146-9791-486D-69D7-EF78025638B0}"/>
              </a:ext>
            </a:extLst>
          </p:cNvPr>
          <p:cNvSpPr txBox="1"/>
          <p:nvPr/>
        </p:nvSpPr>
        <p:spPr>
          <a:xfrm>
            <a:off x="1891949" y="1597641"/>
            <a:ext cx="2082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#1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DB39E71-0A0A-BC03-2274-739250D53486}"/>
              </a:ext>
            </a:extLst>
          </p:cNvPr>
          <p:cNvSpPr txBox="1"/>
          <p:nvPr/>
        </p:nvSpPr>
        <p:spPr>
          <a:xfrm>
            <a:off x="1911844" y="1978237"/>
            <a:ext cx="5165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선정 논문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 구성원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업무분장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A7EBCB-10ED-0A4A-72EE-FBB93E6E90DA}"/>
              </a:ext>
            </a:extLst>
          </p:cNvPr>
          <p:cNvSpPr txBox="1"/>
          <p:nvPr/>
        </p:nvSpPr>
        <p:spPr>
          <a:xfrm>
            <a:off x="1891949" y="2533813"/>
            <a:ext cx="2383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서론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(Introduction)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AE6A570-1F99-2BE3-0F53-25CF4E465B3D}"/>
              </a:ext>
            </a:extLst>
          </p:cNvPr>
          <p:cNvSpPr txBox="1"/>
          <p:nvPr/>
        </p:nvSpPr>
        <p:spPr>
          <a:xfrm>
            <a:off x="1911844" y="2914409"/>
            <a:ext cx="292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배경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필요성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정의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70BE0A-6F25-7259-EE57-2AA0793C797E}"/>
              </a:ext>
            </a:extLst>
          </p:cNvPr>
          <p:cNvSpPr txBox="1"/>
          <p:nvPr/>
        </p:nvSpPr>
        <p:spPr>
          <a:xfrm>
            <a:off x="1891949" y="3458906"/>
            <a:ext cx="2518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방법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(Methodology)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CE7C25-4275-8625-A44C-C578BEA75030}"/>
              </a:ext>
            </a:extLst>
          </p:cNvPr>
          <p:cNvSpPr txBox="1"/>
          <p:nvPr/>
        </p:nvSpPr>
        <p:spPr>
          <a:xfrm>
            <a:off x="1911844" y="3839502"/>
            <a:ext cx="2167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해결을 위한 방법론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B72F57-4BB7-5D88-569B-2F3FC2196FE6}"/>
              </a:ext>
            </a:extLst>
          </p:cNvPr>
          <p:cNvSpPr txBox="1"/>
          <p:nvPr/>
        </p:nvSpPr>
        <p:spPr>
          <a:xfrm>
            <a:off x="1891949" y="4395078"/>
            <a:ext cx="5264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실험 구성 및 평가 방법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(Experiment Settings)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A24CC2-FBB0-32F4-F482-1EE9DCE1AD24}"/>
              </a:ext>
            </a:extLst>
          </p:cNvPr>
          <p:cNvSpPr txBox="1"/>
          <p:nvPr/>
        </p:nvSpPr>
        <p:spPr>
          <a:xfrm>
            <a:off x="1911844" y="4775674"/>
            <a:ext cx="4164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데이터셋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하이퍼파라미터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컴퓨팅 환경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평가지표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CD9292-7992-5B6A-A39D-3F6EF1859311}"/>
              </a:ext>
            </a:extLst>
          </p:cNvPr>
          <p:cNvSpPr txBox="1"/>
          <p:nvPr/>
        </p:nvSpPr>
        <p:spPr>
          <a:xfrm>
            <a:off x="1891949" y="5317626"/>
            <a:ext cx="3890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결과 및 분석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(Results &amp; Analysis)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3D5396-8747-F0DB-A672-B9552FEC6550}"/>
              </a:ext>
            </a:extLst>
          </p:cNvPr>
          <p:cNvSpPr txBox="1"/>
          <p:nvPr/>
        </p:nvSpPr>
        <p:spPr>
          <a:xfrm>
            <a:off x="1911844" y="5698222"/>
            <a:ext cx="4219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학습 결과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정확도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혼동행렬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비교 평가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결과 분석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88845530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7B64757B-96D9-EFBA-0C96-626D20E9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312034" cy="4902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목표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배경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및 필요성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배경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자율주행 중 악천후 환경에서도 안정적인 인지 성능이 중요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악천후 환경에 대한 강건한 인지 성능은 자율주행차의 성능 안전성을 보장하고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조기 상용화의 발판 마련 측면에서 중요</a:t>
            </a:r>
            <a:br>
              <a:rPr lang="en-US" altLang="ko-KR" sz="14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</a:b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필요성</a:t>
            </a: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동적 객체와 지속적인 환경 변화로 인해 주행환경 인지의 어려움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눈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비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안개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야간 조명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황사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강한 햇빛 등과 같은 악천후로 인해 인지 성능이 저하되기 때문에 악천후에서 자율주행 관련 객체 감지와 같은 카메라 기반 인지 정확도를 향상시키는  연구 필요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94C633F-B60D-FEBA-ED2F-B3F10B03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#1 </a:t>
            </a:r>
            <a:r>
              <a:rPr lang="ko-KR" altLang="en-US" dirty="0"/>
              <a:t>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6A8B6B-70B6-9BA1-A6F4-9C37D6172746}"/>
              </a:ext>
            </a:extLst>
          </p:cNvPr>
          <p:cNvSpPr/>
          <p:nvPr/>
        </p:nvSpPr>
        <p:spPr bwMode="auto">
          <a:xfrm>
            <a:off x="748276" y="1578798"/>
            <a:ext cx="7616792" cy="536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악천후 환경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야간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비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눈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안개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황사 등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에서 도로 객체 식별을 위한</a:t>
            </a:r>
            <a:endParaRPr lang="en-US" altLang="ko-KR" sz="1600" dirty="0">
              <a:solidFill>
                <a:schemeClr val="tx1"/>
              </a:solidFill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YOLOv8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을 활용한 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Object Detection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연구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8947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A5F2-7333-2989-E46D-29A50FA3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0F5F631E-60A0-8C05-A9CF-FE833ECC8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312034" cy="32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선정 논문</a:t>
            </a:r>
            <a:endParaRPr lang="en-US" altLang="ko-KR" kern="0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25FF8C-6426-1564-3CD2-9A95BB71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#1 </a:t>
            </a:r>
            <a:r>
              <a:rPr lang="ko-KR" altLang="en-US" dirty="0"/>
              <a:t>개요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B8F3DBF-004E-4701-0AE5-0DCDC650A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607728"/>
              </p:ext>
            </p:extLst>
          </p:nvPr>
        </p:nvGraphicFramePr>
        <p:xfrm>
          <a:off x="557814" y="1564144"/>
          <a:ext cx="8100090" cy="17170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8719">
                  <a:extLst>
                    <a:ext uri="{9D8B030D-6E8A-4147-A177-3AD203B41FA5}">
                      <a16:colId xmlns:a16="http://schemas.microsoft.com/office/drawing/2014/main" val="4170148597"/>
                    </a:ext>
                  </a:extLst>
                </a:gridCol>
                <a:gridCol w="6251371">
                  <a:extLst>
                    <a:ext uri="{9D8B030D-6E8A-4147-A177-3AD203B41FA5}">
                      <a16:colId xmlns:a16="http://schemas.microsoft.com/office/drawing/2014/main" val="974918593"/>
                    </a:ext>
                  </a:extLst>
                </a:gridCol>
              </a:tblGrid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논문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Object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Detection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in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Adverse Weather for Autonomous Driving through Data Merging and YOLOv8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87363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출판사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저널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MDPI / Sensors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112152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IF/JCR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3.4 / SCIE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311154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인용횟수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23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723098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06BAFE4B-2AC4-3602-D7D6-B9140FE73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3677428"/>
            <a:ext cx="8312034" cy="32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팀 구성원 소개 및 역할분담</a:t>
            </a:r>
            <a:endParaRPr lang="en-US" altLang="ko-KR" kern="0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C857B6F-F7AE-112C-B57B-241477F18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76109"/>
              </p:ext>
            </p:extLst>
          </p:nvPr>
        </p:nvGraphicFramePr>
        <p:xfrm>
          <a:off x="557814" y="4129070"/>
          <a:ext cx="8100092" cy="1598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5023">
                  <a:extLst>
                    <a:ext uri="{9D8B030D-6E8A-4147-A177-3AD203B41FA5}">
                      <a16:colId xmlns:a16="http://schemas.microsoft.com/office/drawing/2014/main" val="4170148597"/>
                    </a:ext>
                  </a:extLst>
                </a:gridCol>
                <a:gridCol w="2025023">
                  <a:extLst>
                    <a:ext uri="{9D8B030D-6E8A-4147-A177-3AD203B41FA5}">
                      <a16:colId xmlns:a16="http://schemas.microsoft.com/office/drawing/2014/main" val="974918593"/>
                    </a:ext>
                  </a:extLst>
                </a:gridCol>
                <a:gridCol w="2025023">
                  <a:extLst>
                    <a:ext uri="{9D8B030D-6E8A-4147-A177-3AD203B41FA5}">
                      <a16:colId xmlns:a16="http://schemas.microsoft.com/office/drawing/2014/main" val="1175147742"/>
                    </a:ext>
                  </a:extLst>
                </a:gridCol>
                <a:gridCol w="2025023">
                  <a:extLst>
                    <a:ext uri="{9D8B030D-6E8A-4147-A177-3AD203B41FA5}">
                      <a16:colId xmlns:a16="http://schemas.microsoft.com/office/drawing/2014/main" val="165681411"/>
                    </a:ext>
                  </a:extLst>
                </a:gridCol>
              </a:tblGrid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소속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직위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87363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김진하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에이브이지니어스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 총괄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112152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유진호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에이브이지니어스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(TBD..)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311154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이기명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코엠에스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(TBD..)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723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4311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ADA9890-26D2-8E29-0383-8BD35A607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72263"/>
            <a:ext cx="8402035" cy="484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인지 성능의 중요성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자율주행시스템 구성 요소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인지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판단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제어 파트로 구성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다양한 센서를 활용한 자율주행차의 주행 환경 인지 성능이 핵심 </a:t>
            </a:r>
            <a:br>
              <a:rPr lang="en-US" altLang="ko-KR" sz="14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</a:b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자율주행시스템 인지 성능의 위협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동적 객체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악천후 환경으로 인한 인지 성능의 악화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(Introduction)</a:t>
            </a:r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47E532E-8765-42AD-8269-C39734D0D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973" y="2258987"/>
            <a:ext cx="4760384" cy="216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5344643-65D9-4E6C-AF96-F145ADFB7A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987" y="4959018"/>
            <a:ext cx="1710019" cy="11395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A71D74-60DD-446C-BEAF-62D5B8ED4DF4}"/>
              </a:ext>
            </a:extLst>
          </p:cNvPr>
          <p:cNvSpPr txBox="1"/>
          <p:nvPr/>
        </p:nvSpPr>
        <p:spPr>
          <a:xfrm>
            <a:off x="1568991" y="6077820"/>
            <a:ext cx="900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fog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F54951B-9FA1-4C48-A676-3231B3F13F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365" y="4959019"/>
            <a:ext cx="1710019" cy="11422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B668DC-F7F7-48D0-B73E-B7B0D2DBD97F}"/>
              </a:ext>
            </a:extLst>
          </p:cNvPr>
          <p:cNvSpPr txBox="1"/>
          <p:nvPr/>
        </p:nvSpPr>
        <p:spPr>
          <a:xfrm>
            <a:off x="3424369" y="6083017"/>
            <a:ext cx="900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rain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DBEFC4E-AFAA-4FFA-8016-6CA6D59016D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742" y="4959018"/>
            <a:ext cx="1858147" cy="11395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1C442A-B30E-4379-8A57-83173634CAEE}"/>
              </a:ext>
            </a:extLst>
          </p:cNvPr>
          <p:cNvSpPr txBox="1"/>
          <p:nvPr/>
        </p:nvSpPr>
        <p:spPr>
          <a:xfrm>
            <a:off x="5353810" y="6068794"/>
            <a:ext cx="900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snow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16B6AC9-D076-4342-A882-1295FF9F25F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357" y="4959017"/>
            <a:ext cx="1972513" cy="11395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608E68A-3B59-45A9-BE6D-5C58825CC866}"/>
              </a:ext>
            </a:extLst>
          </p:cNvPr>
          <p:cNvSpPr txBox="1"/>
          <p:nvPr/>
        </p:nvSpPr>
        <p:spPr>
          <a:xfrm>
            <a:off x="7490655" y="6059768"/>
            <a:ext cx="900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night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75945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ADA9890-26D2-8E29-0383-8BD35A607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783464"/>
            <a:ext cx="8402035" cy="55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인지 성능의 중요성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객체 탐지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(Object Detection)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연구 동향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Computer Vision techniques : Camera,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LiDAR,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Radar,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GNSS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등 센서 퓨전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Deep-learning frameworks : YOLO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악천후 데이터셋 부족 문제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신경망 방식이 방대한 양의 데이터셋에 의존하지만 활용 가능한 악천후 환경 데이터셋 부족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다양한 날씨 환경 데이터셋의 양을 늘려 딥러닝 프레임워크 성능 향상 방법 제시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114362" lvl="2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Data augmentation : GAN/cycle-GAN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기반 다양한 기상 조건 생성 및 데이터셋 증강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3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제안 방식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인공적 환경의 데이터셋 생성 대신 실제 환경 데이터셋 통합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여러 소스의 다양한 데이터셋을 통합한 통합 데이터 구축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(Data Merging)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각 데이터셋의 데이터마다 균일한 레이블링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(annotation),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크기 조정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(resize)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을 하는 </a:t>
            </a:r>
            <a:r>
              <a:rPr lang="ko-KR" altLang="en-US" sz="1400" kern="0" dirty="0" err="1">
                <a:solidFill>
                  <a:schemeClr val="tx1"/>
                </a:solidFill>
                <a:latin typeface="+mn-ea"/>
                <a:ea typeface="+mn-ea"/>
              </a:rPr>
              <a:t>전처리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진행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YOLOv8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기반 딥러닝을 통한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Object Detection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성능 검증 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(Introduction)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44E1E8-C4D5-48C1-A6BF-D1A9D442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49" y="3516210"/>
            <a:ext cx="2086710" cy="13934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E86CBE-74F8-4786-ADD2-B7577671C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988" y="3519001"/>
            <a:ext cx="2591978" cy="1393440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80B9E725-E919-48B6-914B-55B667BF29D9}"/>
              </a:ext>
            </a:extLst>
          </p:cNvPr>
          <p:cNvSpPr/>
          <p:nvPr/>
        </p:nvSpPr>
        <p:spPr bwMode="auto">
          <a:xfrm>
            <a:off x="2992578" y="4059007"/>
            <a:ext cx="360004" cy="180002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B837689-96B4-42F1-B43A-3ED047565E29}"/>
              </a:ext>
            </a:extLst>
          </p:cNvPr>
          <p:cNvSpPr/>
          <p:nvPr/>
        </p:nvSpPr>
        <p:spPr bwMode="auto">
          <a:xfrm>
            <a:off x="6223372" y="4059007"/>
            <a:ext cx="360004" cy="180002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A7D1F-F782-465F-A4A3-22872D3893F4}"/>
              </a:ext>
            </a:extLst>
          </p:cNvPr>
          <p:cNvSpPr txBox="1"/>
          <p:nvPr/>
        </p:nvSpPr>
        <p:spPr>
          <a:xfrm>
            <a:off x="6583376" y="3621389"/>
            <a:ext cx="2430026" cy="11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44000" algn="l">
              <a:lnSpc>
                <a:spcPct val="120000"/>
              </a:lnSpc>
              <a:buAutoNum type="arabicPeriod"/>
            </a:pPr>
            <a:r>
              <a:rPr lang="ko-KR" altLang="en-US" sz="1000" dirty="0">
                <a:solidFill>
                  <a:srgbClr val="00B0F0"/>
                </a:solidFill>
              </a:rPr>
              <a:t>생성 데이터 신뢰성 문제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80000" indent="-144000" algn="l">
              <a:lnSpc>
                <a:spcPct val="120000"/>
              </a:lnSpc>
              <a:buAutoNum type="arabicPeriod"/>
            </a:pPr>
            <a:r>
              <a:rPr lang="ko-KR" altLang="en-US" sz="1000" dirty="0">
                <a:solidFill>
                  <a:srgbClr val="00B0F0"/>
                </a:solidFill>
              </a:rPr>
              <a:t>다양성 부족 및 모드 붕괴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80000" indent="-144000" algn="l">
              <a:lnSpc>
                <a:spcPct val="120000"/>
              </a:lnSpc>
              <a:buAutoNum type="arabicPeriod"/>
            </a:pPr>
            <a:r>
              <a:rPr lang="ko-KR" altLang="en-US" sz="1000" dirty="0">
                <a:solidFill>
                  <a:srgbClr val="00B0F0"/>
                </a:solidFill>
              </a:rPr>
              <a:t>실제 차량 센서 데이터 및 </a:t>
            </a:r>
            <a:r>
              <a:rPr lang="en-US" altLang="ko-KR" sz="1000" dirty="0">
                <a:solidFill>
                  <a:srgbClr val="00B0F0"/>
                </a:solidFill>
              </a:rPr>
              <a:t>GAN </a:t>
            </a:r>
            <a:r>
              <a:rPr lang="ko-KR" altLang="en-US" sz="1000" dirty="0">
                <a:solidFill>
                  <a:srgbClr val="00B0F0"/>
                </a:solidFill>
              </a:rPr>
              <a:t>생성 데이터간 차이 발생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80000" indent="-144000" algn="l">
              <a:lnSpc>
                <a:spcPct val="120000"/>
              </a:lnSpc>
              <a:buAutoNum type="arabicPeriod"/>
            </a:pPr>
            <a:r>
              <a:rPr lang="ko-KR" altLang="en-US" sz="1000" dirty="0">
                <a:solidFill>
                  <a:srgbClr val="00B0F0"/>
                </a:solidFill>
              </a:rPr>
              <a:t>물리적 일관성 부족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80000" indent="-144000" algn="l">
              <a:lnSpc>
                <a:spcPct val="120000"/>
              </a:lnSpc>
              <a:buAutoNum type="arabicPeriod"/>
            </a:pPr>
            <a:r>
              <a:rPr lang="ko-KR" altLang="en-US" sz="1000" dirty="0">
                <a:solidFill>
                  <a:srgbClr val="00B0F0"/>
                </a:solidFill>
              </a:rPr>
              <a:t>레이블링 오류 가능성</a:t>
            </a:r>
            <a:endParaRPr lang="en-US" altLang="ko-KR" sz="1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14297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49515-D6E4-3AE9-CF37-C16DCC1C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방법 </a:t>
            </a:r>
            <a:r>
              <a:rPr lang="en-US" altLang="ko-KR" dirty="0"/>
              <a:t>(Methodology)</a:t>
            </a:r>
            <a:endParaRPr lang="ko-KR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322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 수집 및 레이블링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(Data Collection and Annotation)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활용 데이터셋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DAWN : Vehicle Detection in Adverse Weather Nature Dataset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ACDC : Adverse Conditions Dataset with Correspondences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데이터셋 특성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이미지 사이즈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클래스 레이블링이 제각각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3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통합 데이터셋 구축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서로 다른 데이터셋의 형식 통일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전이학습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(Transfer Learning) : COCO Dataset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과 동일한 클래스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ID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로 레이블링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COCO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기반 클래스 매핑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: DAWN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+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ACDC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→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COCO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490F42AD-27D8-4A18-9567-2735E811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291924"/>
              </p:ext>
            </p:extLst>
          </p:nvPr>
        </p:nvGraphicFramePr>
        <p:xfrm>
          <a:off x="971960" y="2433227"/>
          <a:ext cx="5490061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482">
                  <a:extLst>
                    <a:ext uri="{9D8B030D-6E8A-4147-A177-3AD203B41FA5}">
                      <a16:colId xmlns:a16="http://schemas.microsoft.com/office/drawing/2014/main" val="2354445767"/>
                    </a:ext>
                  </a:extLst>
                </a:gridCol>
                <a:gridCol w="1593547">
                  <a:extLst>
                    <a:ext uri="{9D8B030D-6E8A-4147-A177-3AD203B41FA5}">
                      <a16:colId xmlns:a16="http://schemas.microsoft.com/office/drawing/2014/main" val="2019085186"/>
                    </a:ext>
                  </a:extLst>
                </a:gridCol>
                <a:gridCol w="1260014">
                  <a:extLst>
                    <a:ext uri="{9D8B030D-6E8A-4147-A177-3AD203B41FA5}">
                      <a16:colId xmlns:a16="http://schemas.microsoft.com/office/drawing/2014/main" val="1541476601"/>
                    </a:ext>
                  </a:extLst>
                </a:gridCol>
                <a:gridCol w="1620018">
                  <a:extLst>
                    <a:ext uri="{9D8B030D-6E8A-4147-A177-3AD203B41FA5}">
                      <a16:colId xmlns:a16="http://schemas.microsoft.com/office/drawing/2014/main" val="953603773"/>
                    </a:ext>
                  </a:extLst>
                </a:gridCol>
              </a:tblGrid>
              <a:tr h="2119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데이터셋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날씨 환경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수량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레이블링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887758"/>
                  </a:ext>
                </a:extLst>
              </a:tr>
              <a:tr h="211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DAWN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안개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눈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모래폭풍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1,000 </a:t>
                      </a:r>
                      <a:r>
                        <a:rPr lang="ko-KR" altLang="en-US" sz="1000" dirty="0"/>
                        <a:t>이미지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Bounding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Box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514456"/>
                  </a:ext>
                </a:extLst>
              </a:tr>
              <a:tr h="211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ACDC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안개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야간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눈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4,006 </a:t>
                      </a:r>
                      <a:r>
                        <a:rPr lang="ko-KR" altLang="en-US" sz="1000" dirty="0"/>
                        <a:t>이미지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Semantic Segmentation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788336"/>
                  </a:ext>
                </a:extLst>
              </a:tr>
            </a:tbl>
          </a:graphicData>
        </a:graphic>
      </p:graphicFrame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20B592F-5C54-4160-9AB4-F70AF1685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431742"/>
              </p:ext>
            </p:extLst>
          </p:nvPr>
        </p:nvGraphicFramePr>
        <p:xfrm>
          <a:off x="1151962" y="4059007"/>
          <a:ext cx="4410049" cy="234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009">
                  <a:extLst>
                    <a:ext uri="{9D8B030D-6E8A-4147-A177-3AD203B41FA5}">
                      <a16:colId xmlns:a16="http://schemas.microsoft.com/office/drawing/2014/main" val="4151782378"/>
                    </a:ext>
                  </a:extLst>
                </a:gridCol>
                <a:gridCol w="1170013">
                  <a:extLst>
                    <a:ext uri="{9D8B030D-6E8A-4147-A177-3AD203B41FA5}">
                      <a16:colId xmlns:a16="http://schemas.microsoft.com/office/drawing/2014/main" val="3890103557"/>
                    </a:ext>
                  </a:extLst>
                </a:gridCol>
                <a:gridCol w="1170013">
                  <a:extLst>
                    <a:ext uri="{9D8B030D-6E8A-4147-A177-3AD203B41FA5}">
                      <a16:colId xmlns:a16="http://schemas.microsoft.com/office/drawing/2014/main" val="2662142278"/>
                    </a:ext>
                  </a:extLst>
                </a:gridCol>
                <a:gridCol w="1260014">
                  <a:extLst>
                    <a:ext uri="{9D8B030D-6E8A-4147-A177-3AD203B41FA5}">
                      <a16:colId xmlns:a16="http://schemas.microsoft.com/office/drawing/2014/main" val="2951630835"/>
                    </a:ext>
                  </a:extLst>
                </a:gridCol>
              </a:tblGrid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COCO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클래스명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(COCO)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DAWN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클래스 매핑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ACDC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클래스 매핑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742578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Person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Person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Person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524435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Bicycle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Bicycle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Bicycle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8143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Car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Car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Car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044965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Motorcycle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Motorcycle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Motorcycle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47980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Airplane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687707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Bus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Bus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Bus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537073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89251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Truck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Truck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Truck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145258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boat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4824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Traffic light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Traffic light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9142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F41CA8-FDE7-4E1B-9743-64FC51AF4BF3}"/>
              </a:ext>
            </a:extLst>
          </p:cNvPr>
          <p:cNvSpPr txBox="1"/>
          <p:nvPr/>
        </p:nvSpPr>
        <p:spPr>
          <a:xfrm>
            <a:off x="6012016" y="4268161"/>
            <a:ext cx="3187714" cy="1921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rgbClr val="00B0F0"/>
                </a:solidFill>
              </a:rPr>
              <a:t>T/L</a:t>
            </a:r>
            <a:r>
              <a:rPr lang="ko-KR" altLang="en-US" sz="1000" dirty="0">
                <a:solidFill>
                  <a:srgbClr val="00B0F0"/>
                </a:solidFill>
              </a:rPr>
              <a:t>을 통해 </a:t>
            </a:r>
            <a:r>
              <a:rPr lang="en-US" altLang="ko-KR" sz="1000" dirty="0">
                <a:solidFill>
                  <a:srgbClr val="00B0F0"/>
                </a:solidFill>
              </a:rPr>
              <a:t>YOLOv8</a:t>
            </a:r>
            <a:r>
              <a:rPr lang="ko-KR" altLang="en-US" sz="1000" dirty="0">
                <a:solidFill>
                  <a:srgbClr val="00B0F0"/>
                </a:solidFill>
              </a:rPr>
              <a:t>이 </a:t>
            </a:r>
            <a:r>
              <a:rPr lang="en-US" altLang="ko-KR" sz="1000" dirty="0">
                <a:solidFill>
                  <a:srgbClr val="00B0F0"/>
                </a:solidFill>
              </a:rPr>
              <a:t>COCO </a:t>
            </a:r>
            <a:r>
              <a:rPr lang="ko-KR" altLang="en-US" sz="1000" dirty="0">
                <a:solidFill>
                  <a:srgbClr val="00B0F0"/>
                </a:solidFill>
              </a:rPr>
              <a:t>데이터셋 학습 경험을 활용하여 빠르고 안정적  학습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ko-KR" altLang="en-US" sz="1000" dirty="0">
                <a:solidFill>
                  <a:srgbClr val="00B0F0"/>
                </a:solidFill>
              </a:rPr>
              <a:t>도로와 관련 없는 객체</a:t>
            </a:r>
            <a:r>
              <a:rPr lang="en-US" altLang="ko-KR" sz="1000" dirty="0">
                <a:solidFill>
                  <a:srgbClr val="00B0F0"/>
                </a:solidFill>
              </a:rPr>
              <a:t>(airplane, boat)</a:t>
            </a:r>
            <a:r>
              <a:rPr lang="ko-KR" altLang="en-US" sz="1000" dirty="0">
                <a:solidFill>
                  <a:srgbClr val="00B0F0"/>
                </a:solidFill>
              </a:rPr>
              <a:t>는 학습에서 제외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rgbClr val="00B0F0"/>
                </a:solidFill>
              </a:rPr>
              <a:t>train</a:t>
            </a:r>
            <a:r>
              <a:rPr lang="ko-KR" altLang="en-US" sz="1000" dirty="0">
                <a:solidFill>
                  <a:srgbClr val="00B0F0"/>
                </a:solidFill>
              </a:rPr>
              <a:t>은 </a:t>
            </a:r>
            <a:r>
              <a:rPr lang="en-US" altLang="ko-KR" sz="1000" dirty="0">
                <a:solidFill>
                  <a:srgbClr val="00B0F0"/>
                </a:solidFill>
              </a:rPr>
              <a:t>‘tram’</a:t>
            </a:r>
            <a:r>
              <a:rPr lang="ko-KR" altLang="en-US" sz="1000" dirty="0">
                <a:solidFill>
                  <a:srgbClr val="00B0F0"/>
                </a:solidFill>
              </a:rPr>
              <a:t>처럼 도심 선로에서 운행되고 있어 </a:t>
            </a:r>
            <a:r>
              <a:rPr lang="en-US" altLang="ko-KR" sz="1000" dirty="0">
                <a:solidFill>
                  <a:srgbClr val="00B0F0"/>
                </a:solidFill>
              </a:rPr>
              <a:t>ACDC </a:t>
            </a:r>
            <a:r>
              <a:rPr lang="ko-KR" altLang="en-US" sz="1000" dirty="0">
                <a:solidFill>
                  <a:srgbClr val="00B0F0"/>
                </a:solidFill>
              </a:rPr>
              <a:t>클래스에만 매핑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rgbClr val="00B0F0"/>
                </a:solidFill>
              </a:rPr>
              <a:t>DAWN</a:t>
            </a:r>
            <a:r>
              <a:rPr lang="ko-KR" altLang="en-US" sz="1000" dirty="0">
                <a:solidFill>
                  <a:srgbClr val="00B0F0"/>
                </a:solidFill>
              </a:rPr>
              <a:t>의 </a:t>
            </a:r>
            <a:r>
              <a:rPr lang="en-US" altLang="ko-KR" sz="1000" dirty="0">
                <a:solidFill>
                  <a:srgbClr val="00B0F0"/>
                </a:solidFill>
              </a:rPr>
              <a:t>Bounding Box </a:t>
            </a:r>
            <a:r>
              <a:rPr lang="ko-KR" altLang="en-US" sz="1000" dirty="0">
                <a:solidFill>
                  <a:srgbClr val="00B0F0"/>
                </a:solidFill>
              </a:rPr>
              <a:t>클래스 레이블을 </a:t>
            </a:r>
            <a:r>
              <a:rPr lang="en-US" altLang="ko-KR" sz="1000" dirty="0">
                <a:solidFill>
                  <a:srgbClr val="00B0F0"/>
                </a:solidFill>
              </a:rPr>
              <a:t>COCO ID</a:t>
            </a:r>
            <a:r>
              <a:rPr lang="ko-KR" altLang="en-US" sz="1000" dirty="0">
                <a:solidFill>
                  <a:srgbClr val="00B0F0"/>
                </a:solidFill>
              </a:rPr>
              <a:t>로 변환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rgbClr val="00B0F0"/>
                </a:solidFill>
              </a:rPr>
              <a:t>ACDC</a:t>
            </a:r>
            <a:r>
              <a:rPr lang="ko-KR" altLang="en-US" sz="1000" dirty="0">
                <a:solidFill>
                  <a:srgbClr val="00B0F0"/>
                </a:solidFill>
              </a:rPr>
              <a:t>의 </a:t>
            </a:r>
            <a:r>
              <a:rPr lang="en-US" altLang="ko-KR" sz="1000" dirty="0">
                <a:solidFill>
                  <a:srgbClr val="00B0F0"/>
                </a:solidFill>
              </a:rPr>
              <a:t>Semantic Segmentation </a:t>
            </a:r>
            <a:r>
              <a:rPr lang="ko-KR" altLang="en-US" sz="1000" dirty="0">
                <a:solidFill>
                  <a:srgbClr val="00B0F0"/>
                </a:solidFill>
              </a:rPr>
              <a:t>클래스 레이블을 </a:t>
            </a:r>
            <a:r>
              <a:rPr lang="en-US" altLang="ko-KR" sz="1000" dirty="0">
                <a:solidFill>
                  <a:srgbClr val="00B0F0"/>
                </a:solidFill>
              </a:rPr>
              <a:t>Bounding Box</a:t>
            </a:r>
            <a:r>
              <a:rPr lang="ko-KR" altLang="en-US" sz="1000" dirty="0">
                <a:solidFill>
                  <a:srgbClr val="00B0F0"/>
                </a:solidFill>
              </a:rPr>
              <a:t>로 변환한 후 </a:t>
            </a:r>
            <a:r>
              <a:rPr lang="en-US" altLang="ko-KR" sz="1000" dirty="0">
                <a:solidFill>
                  <a:srgbClr val="00B0F0"/>
                </a:solidFill>
              </a:rPr>
              <a:t>COCO ID</a:t>
            </a:r>
            <a:r>
              <a:rPr lang="ko-KR" altLang="en-US" sz="1000" dirty="0">
                <a:solidFill>
                  <a:srgbClr val="00B0F0"/>
                </a:solidFill>
              </a:rPr>
              <a:t>로 정리</a:t>
            </a:r>
            <a:endParaRPr lang="en-US" altLang="ko-KR" sz="1000" dirty="0">
              <a:solidFill>
                <a:srgbClr val="00B0F0"/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49CC9C1-4FF6-4570-97FA-EF1D8BE61F66}"/>
              </a:ext>
            </a:extLst>
          </p:cNvPr>
          <p:cNvSpPr/>
          <p:nvPr/>
        </p:nvSpPr>
        <p:spPr bwMode="auto">
          <a:xfrm>
            <a:off x="5652012" y="5142486"/>
            <a:ext cx="360004" cy="180002"/>
          </a:xfrm>
          <a:prstGeom prst="rightArrow">
            <a:avLst/>
          </a:prstGeom>
          <a:solidFill>
            <a:srgbClr val="0033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46844-DDE4-47EF-BDCB-1E890CE6D8F2}"/>
              </a:ext>
            </a:extLst>
          </p:cNvPr>
          <p:cNvSpPr txBox="1"/>
          <p:nvPr/>
        </p:nvSpPr>
        <p:spPr>
          <a:xfrm>
            <a:off x="6533971" y="1628966"/>
            <a:ext cx="2610029" cy="998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000" dirty="0">
                <a:solidFill>
                  <a:srgbClr val="00B0F0"/>
                </a:solidFill>
              </a:rPr>
              <a:t>BDD100K,</a:t>
            </a:r>
            <a:r>
              <a:rPr lang="ko-KR" altLang="en-US" sz="1000" dirty="0">
                <a:solidFill>
                  <a:srgbClr val="00B0F0"/>
                </a:solidFill>
              </a:rPr>
              <a:t> </a:t>
            </a:r>
            <a:r>
              <a:rPr lang="en-US" altLang="ko-KR" sz="1000" dirty="0" err="1">
                <a:solidFill>
                  <a:srgbClr val="00B0F0"/>
                </a:solidFill>
              </a:rPr>
              <a:t>Eurocity</a:t>
            </a:r>
            <a:r>
              <a:rPr lang="en-US" altLang="ko-KR" sz="1000" dirty="0">
                <a:solidFill>
                  <a:srgbClr val="00B0F0"/>
                </a:solidFill>
              </a:rPr>
              <a:t>,</a:t>
            </a:r>
            <a:r>
              <a:rPr lang="ko-KR" altLang="en-US" sz="1000" dirty="0">
                <a:solidFill>
                  <a:srgbClr val="00B0F0"/>
                </a:solidFill>
              </a:rPr>
              <a:t> </a:t>
            </a:r>
            <a:r>
              <a:rPr lang="en-US" altLang="ko-KR" sz="1000" dirty="0" err="1">
                <a:solidFill>
                  <a:srgbClr val="00B0F0"/>
                </a:solidFill>
              </a:rPr>
              <a:t>Mapillary</a:t>
            </a:r>
            <a:r>
              <a:rPr lang="en-US" altLang="ko-KR" sz="1000" dirty="0">
                <a:solidFill>
                  <a:srgbClr val="00B0F0"/>
                </a:solidFill>
              </a:rPr>
              <a:t>,</a:t>
            </a:r>
            <a:r>
              <a:rPr lang="ko-KR" altLang="en-US" sz="1000" dirty="0">
                <a:solidFill>
                  <a:srgbClr val="00B0F0"/>
                </a:solidFill>
              </a:rPr>
              <a:t> </a:t>
            </a:r>
            <a:r>
              <a:rPr lang="en-US" altLang="ko-KR" sz="1000" dirty="0">
                <a:solidFill>
                  <a:srgbClr val="00B0F0"/>
                </a:solidFill>
              </a:rPr>
              <a:t>PFB,</a:t>
            </a:r>
            <a:r>
              <a:rPr lang="ko-KR" altLang="en-US" sz="1000" dirty="0">
                <a:solidFill>
                  <a:srgbClr val="00B0F0"/>
                </a:solidFill>
              </a:rPr>
              <a:t> </a:t>
            </a:r>
            <a:r>
              <a:rPr lang="en-US" altLang="ko-KR" sz="1000" dirty="0" err="1">
                <a:solidFill>
                  <a:srgbClr val="00B0F0"/>
                </a:solidFill>
              </a:rPr>
              <a:t>ApolloScape</a:t>
            </a:r>
            <a:r>
              <a:rPr lang="en-US" altLang="ko-KR" sz="1000" dirty="0">
                <a:solidFill>
                  <a:srgbClr val="00B0F0"/>
                </a:solidFill>
              </a:rPr>
              <a:t>, GLARE </a:t>
            </a:r>
            <a:r>
              <a:rPr lang="ko-KR" altLang="en-US" sz="1000" dirty="0">
                <a:solidFill>
                  <a:srgbClr val="00B0F0"/>
                </a:solidFill>
              </a:rPr>
              <a:t>등 기타 데이터셋은 악천후 환경 이미지 데이터셋 개수가 적은 문제가 있어 비교적 악천후 데이터가 풍부한 </a:t>
            </a:r>
            <a:r>
              <a:rPr lang="en-US" altLang="ko-KR" sz="1000" dirty="0">
                <a:solidFill>
                  <a:srgbClr val="00B0F0"/>
                </a:solidFill>
              </a:rPr>
              <a:t>DAWN, ACDC </a:t>
            </a:r>
            <a:r>
              <a:rPr lang="ko-KR" altLang="en-US" sz="1000" dirty="0">
                <a:solidFill>
                  <a:srgbClr val="00B0F0"/>
                </a:solidFill>
              </a:rPr>
              <a:t>데이터셋 선정</a:t>
            </a:r>
            <a:endParaRPr lang="en-US" altLang="ko-KR" sz="1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0110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49515-D6E4-3AE9-CF37-C16DCC1C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방법 </a:t>
            </a:r>
            <a:r>
              <a:rPr lang="en-US" altLang="ko-KR" dirty="0"/>
              <a:t>(Methodology)</a:t>
            </a:r>
            <a:endParaRPr lang="ko-KR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3815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 처리 및 통합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(Data Processing and Merging)</a:t>
            </a: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통합 데이터셋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(DAWN+ACDC Merged)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의 이미지 처리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이미지 처리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(image processing) : image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resizing,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image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augmentation </a:t>
            </a:r>
            <a:r>
              <a:rPr lang="en-US" altLang="ko-KR" sz="1400" kern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Roboflow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통합 데이터셋은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YOLOv8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에 의한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train, validation, test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를 위해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5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가지 버전으로 준비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신경망 방식이 방대한 양의 데이터셋에 의존하지만 활용 가능한 악천후 환경 데이터셋 부족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다양한 날씨 환경 데이터셋의 양을 늘려 딥러닝 프레임워크 성능 향상 방법 제시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D7D876-3BD7-43DD-8C6D-B39D12A09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008" y="2117827"/>
            <a:ext cx="2399405" cy="1535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EC3FA160-A22E-4935-A781-182AD5B24FEA}"/>
              </a:ext>
            </a:extLst>
          </p:cNvPr>
          <p:cNvSpPr/>
          <p:nvPr/>
        </p:nvSpPr>
        <p:spPr bwMode="auto">
          <a:xfrm>
            <a:off x="7362031" y="1845733"/>
            <a:ext cx="156369" cy="233252"/>
          </a:xfrm>
          <a:prstGeom prst="down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E36C971D-B99A-4C22-8988-8E93E3040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87664"/>
              </p:ext>
            </p:extLst>
          </p:nvPr>
        </p:nvGraphicFramePr>
        <p:xfrm>
          <a:off x="1151962" y="1962359"/>
          <a:ext cx="4770053" cy="12333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0023">
                  <a:extLst>
                    <a:ext uri="{9D8B030D-6E8A-4147-A177-3AD203B41FA5}">
                      <a16:colId xmlns:a16="http://schemas.microsoft.com/office/drawing/2014/main" val="4181050294"/>
                    </a:ext>
                  </a:extLst>
                </a:gridCol>
                <a:gridCol w="2700030">
                  <a:extLst>
                    <a:ext uri="{9D8B030D-6E8A-4147-A177-3AD203B41FA5}">
                      <a16:colId xmlns:a16="http://schemas.microsoft.com/office/drawing/2014/main" val="2837433213"/>
                    </a:ext>
                  </a:extLst>
                </a:gridCol>
              </a:tblGrid>
              <a:tr h="3083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Image Processing</a:t>
                      </a:r>
                      <a:endParaRPr lang="ko-KR" altLang="en-US" sz="11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method</a:t>
                      </a:r>
                      <a:endParaRPr lang="ko-KR" altLang="en-US" sz="11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407014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Image Resizing (640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altLang="ko-KR" sz="1100" dirty="0"/>
                        <a:t>640)</a:t>
                      </a:r>
                      <a:endParaRPr lang="ko-KR" altLang="en-US" sz="11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horizontal flips, vertical flips, cropping, grayscales, brightness, blurring, rotations, shears, hues, saturation, exposure, noise, cutouts, mosaics,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0356952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Image Resizing (1280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altLang="ko-KR" sz="1100" dirty="0"/>
                        <a:t>1280)</a:t>
                      </a:r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245694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Image Augmentation</a:t>
                      </a:r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7325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3AF3963-3F24-4F96-A97D-8DA8D623344D}"/>
              </a:ext>
            </a:extLst>
          </p:cNvPr>
          <p:cNvSpPr/>
          <p:nvPr/>
        </p:nvSpPr>
        <p:spPr bwMode="auto">
          <a:xfrm>
            <a:off x="7023394" y="1590138"/>
            <a:ext cx="833642" cy="21675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9F5E7444-F8CC-4E86-9C26-63F7C1D95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08002"/>
              </p:ext>
            </p:extLst>
          </p:nvPr>
        </p:nvGraphicFramePr>
        <p:xfrm>
          <a:off x="372501" y="4671382"/>
          <a:ext cx="3839495" cy="1545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8850">
                  <a:extLst>
                    <a:ext uri="{9D8B030D-6E8A-4147-A177-3AD203B41FA5}">
                      <a16:colId xmlns:a16="http://schemas.microsoft.com/office/drawing/2014/main" val="3585740345"/>
                    </a:ext>
                  </a:extLst>
                </a:gridCol>
                <a:gridCol w="2530645">
                  <a:extLst>
                    <a:ext uri="{9D8B030D-6E8A-4147-A177-3AD203B41FA5}">
                      <a16:colId xmlns:a16="http://schemas.microsoft.com/office/drawing/2014/main" val="1179779914"/>
                    </a:ext>
                  </a:extLst>
                </a:gridCol>
              </a:tblGrid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통합 데이터셋 버전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학습 데이터셋 구성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501547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원본 데이터셋 </a:t>
                      </a:r>
                      <a:r>
                        <a:rPr lang="en-US" altLang="ko-KR" sz="1000" dirty="0"/>
                        <a:t>(resizing X, augmentation X)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344786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640*640 resizing &amp; augmentation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476748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640*640 resizing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(augmentation X)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0445087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1280*1280 resizing (augmentation X)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859433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1280*1280 resizing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&amp;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augmentation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196255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2BAA8A7F-379B-4651-BC29-B931DD526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702" y="4671382"/>
            <a:ext cx="4798564" cy="154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167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49515-D6E4-3AE9-CF37-C16DCC1C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방법 </a:t>
            </a:r>
            <a:r>
              <a:rPr lang="en-US" altLang="ko-KR" dirty="0"/>
              <a:t>(Methodology)</a:t>
            </a:r>
            <a:endParaRPr lang="ko-KR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561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학습 및 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(Training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Evaluation)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통합 데이터셋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(DAWN+ACDC Merged)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 학습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학습 환경 세팅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  <a:hlinkClick r:id="rId3"/>
              </a:rPr>
              <a:t>https://github.com/ultralytics/ultralytics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5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가지 버전의 사전 훈련된 가중치를 통합 데이터셋 학습 중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T/L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의 베이스로 사용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데이터 분리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(Data split)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2" name="표 13">
            <a:extLst>
              <a:ext uri="{FF2B5EF4-FFF2-40B4-BE49-F238E27FC236}">
                <a16:creationId xmlns:a16="http://schemas.microsoft.com/office/drawing/2014/main" id="{6F880107-C659-4AE5-9E09-EBA9091D4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035416"/>
              </p:ext>
            </p:extLst>
          </p:nvPr>
        </p:nvGraphicFramePr>
        <p:xfrm>
          <a:off x="6467686" y="2254243"/>
          <a:ext cx="2476805" cy="1800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6805">
                  <a:extLst>
                    <a:ext uri="{9D8B030D-6E8A-4147-A177-3AD203B41FA5}">
                      <a16:colId xmlns:a16="http://schemas.microsoft.com/office/drawing/2014/main" val="1477384710"/>
                    </a:ext>
                  </a:extLst>
                </a:gridCol>
              </a:tblGrid>
              <a:tr h="300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The Key Attributes of Object Detection 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17928"/>
                  </a:ext>
                </a:extLst>
              </a:tr>
              <a:tr h="300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The top left corner of Bounding Box (x, y)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167596"/>
                  </a:ext>
                </a:extLst>
              </a:tr>
              <a:tr h="300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The width of the Bounding Box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215327"/>
                  </a:ext>
                </a:extLst>
              </a:tr>
              <a:tr h="300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The height of the Bounding Box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772112"/>
                  </a:ext>
                </a:extLst>
              </a:tr>
              <a:tr h="300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Confidence score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614424"/>
                  </a:ext>
                </a:extLst>
              </a:tr>
              <a:tr h="300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Class ID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824864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5F33002A-7376-4500-81A8-9525E78E1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55" y="2216655"/>
            <a:ext cx="5869013" cy="189002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DCAF21-C13B-44A0-9750-EB82CFFF9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81" y="4822598"/>
            <a:ext cx="6883637" cy="156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7824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49515-D6E4-3AE9-CF37-C16DCC1C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방법 </a:t>
            </a:r>
            <a:r>
              <a:rPr lang="en-US" altLang="ko-KR" dirty="0"/>
              <a:t>(Methodology)</a:t>
            </a:r>
            <a:endParaRPr lang="ko-KR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3591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학습 및 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(Training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Evaluation)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Block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Diagram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ko-KR" altLang="en-US" sz="15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C13A88-5736-44BD-BE4E-10C37834A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985" y="1538978"/>
            <a:ext cx="3060034" cy="453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671742-CC8F-4520-AD15-55B77C7D18C4}"/>
              </a:ext>
            </a:extLst>
          </p:cNvPr>
          <p:cNvSpPr txBox="1"/>
          <p:nvPr/>
        </p:nvSpPr>
        <p:spPr>
          <a:xfrm>
            <a:off x="2951982" y="6075209"/>
            <a:ext cx="360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Object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Detection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Model using the YOLOv8 algorithm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788969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60765"/>
            <a:ext cx="8492036" cy="556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최고의 가중치 및 데이터 증강 버전 선택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실험 목표</a:t>
            </a: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실험 방법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방법론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(Methodology)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에 따라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DAWN, ACDC 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데이터셋 및 통합 데이터셋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(MERGED)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에 대해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data split(train : validation : test = 70% : 20% : 10%)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및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가지 통합 데이터 버전에 대한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pretrained weight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에 따른 학습 및 검증 수행</a:t>
            </a: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626400" marR="0" lvl="1" indent="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   </a:t>
            </a: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22DBEE8C-2079-4106-A39E-A43168954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892745"/>
              </p:ext>
            </p:extLst>
          </p:nvPr>
        </p:nvGraphicFramePr>
        <p:xfrm>
          <a:off x="971958" y="1479692"/>
          <a:ext cx="7650085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14">
                  <a:extLst>
                    <a:ext uri="{9D8B030D-6E8A-4147-A177-3AD203B41FA5}">
                      <a16:colId xmlns:a16="http://schemas.microsoft.com/office/drawing/2014/main" val="1662365329"/>
                    </a:ext>
                  </a:extLst>
                </a:gridCol>
                <a:gridCol w="2700028">
                  <a:extLst>
                    <a:ext uri="{9D8B030D-6E8A-4147-A177-3AD203B41FA5}">
                      <a16:colId xmlns:a16="http://schemas.microsoft.com/office/drawing/2014/main" val="1908538321"/>
                    </a:ext>
                  </a:extLst>
                </a:gridCol>
                <a:gridCol w="3870043">
                  <a:extLst>
                    <a:ext uri="{9D8B030D-6E8A-4147-A177-3AD203B41FA5}">
                      <a16:colId xmlns:a16="http://schemas.microsoft.com/office/drawing/2014/main" val="1282198497"/>
                    </a:ext>
                  </a:extLst>
                </a:gridCol>
              </a:tblGrid>
              <a:tr h="247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지표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방법 및 기준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6174"/>
                  </a:ext>
                </a:extLst>
              </a:tr>
              <a:tr h="376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mAP@50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>
                          <a:latin typeface="+mn-ea"/>
                          <a:ea typeface="+mn-ea"/>
                        </a:rPr>
                        <a:t>IoU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0.5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일 때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 True Positive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로 인정한 평균 정밀도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예측된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Bounding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Box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가 실제 객체와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50% 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이상 겹치면 정답으로 간주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624847"/>
                  </a:ext>
                </a:extLst>
              </a:tr>
              <a:tr h="474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mAP@50-95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>
                          <a:latin typeface="+mn-ea"/>
                          <a:ea typeface="+mn-ea"/>
                        </a:rPr>
                        <a:t>IoU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 0.5~0.95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구간 평균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더 정밀한 평가를 위해 </a:t>
                      </a:r>
                      <a:r>
                        <a:rPr lang="en-US" altLang="ko-KR" sz="1100" b="0" dirty="0" err="1">
                          <a:latin typeface="+mn-ea"/>
                          <a:ea typeface="+mn-ea"/>
                        </a:rPr>
                        <a:t>IoU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dirty="0" err="1">
                          <a:latin typeface="+mn-ea"/>
                          <a:ea typeface="+mn-ea"/>
                        </a:rPr>
                        <a:t>임계값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(threshold)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0.50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0.95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0.05 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간격으로 바꿔가며 총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개의 </a:t>
                      </a:r>
                      <a:r>
                        <a:rPr lang="en-US" altLang="ko-KR" sz="1100" b="0" dirty="0" err="1">
                          <a:latin typeface="+mn-ea"/>
                          <a:ea typeface="+mn-ea"/>
                        </a:rPr>
                        <a:t>IoU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값에 대해 </a:t>
                      </a:r>
                      <a:r>
                        <a:rPr lang="en-US" altLang="ko-KR" sz="1100" b="0" dirty="0" err="1">
                          <a:latin typeface="+mn-ea"/>
                          <a:ea typeface="+mn-ea"/>
                        </a:rPr>
                        <a:t>mAP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 계산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 :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mAP@50, mAP@55, ..., mAP@95 → 10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개 평균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753080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1E603C3-3CA1-4AB5-87D3-07D7A2123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10089"/>
              </p:ext>
            </p:extLst>
          </p:nvPr>
        </p:nvGraphicFramePr>
        <p:xfrm>
          <a:off x="788562" y="3967825"/>
          <a:ext cx="8016876" cy="8165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68073">
                  <a:extLst>
                    <a:ext uri="{9D8B030D-6E8A-4147-A177-3AD203B41FA5}">
                      <a16:colId xmlns:a16="http://schemas.microsoft.com/office/drawing/2014/main" val="1925693420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2152454049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845415049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3394930380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1206489973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349431415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4090411344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3896645783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527759138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1808988617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55087288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3579856609"/>
                    </a:ext>
                  </a:extLst>
                </a:gridCol>
              </a:tblGrid>
              <a:tr h="204133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DAWN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ACDC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MERGED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417133"/>
                  </a:ext>
                </a:extLst>
              </a:tr>
              <a:tr h="2041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train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validation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train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validation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train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validation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extLst>
                  <a:ext uri="{0D108BD9-81ED-4DB2-BD59-A6C34878D82A}">
                    <a16:rowId xmlns:a16="http://schemas.microsoft.com/office/drawing/2014/main" val="733454906"/>
                  </a:ext>
                </a:extLst>
              </a:tr>
              <a:tr h="2041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700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203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1,003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2,715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770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383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3,868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3,415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973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483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4,871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extLst>
                  <a:ext uri="{0D108BD9-81ED-4DB2-BD59-A6C34878D82A}">
                    <a16:rowId xmlns:a16="http://schemas.microsoft.com/office/drawing/2014/main" val="4148465085"/>
                  </a:ext>
                </a:extLst>
              </a:tr>
              <a:tr h="2041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100%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extLst>
                  <a:ext uri="{0D108BD9-81ED-4DB2-BD59-A6C34878D82A}">
                    <a16:rowId xmlns:a16="http://schemas.microsoft.com/office/drawing/2014/main" val="421662382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E53476A-1CC7-4C07-868A-C87FA0190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4455"/>
              </p:ext>
            </p:extLst>
          </p:nvPr>
        </p:nvGraphicFramePr>
        <p:xfrm>
          <a:off x="791012" y="4848916"/>
          <a:ext cx="8016876" cy="13311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0963">
                  <a:extLst>
                    <a:ext uri="{9D8B030D-6E8A-4147-A177-3AD203B41FA5}">
                      <a16:colId xmlns:a16="http://schemas.microsoft.com/office/drawing/2014/main" val="43467155"/>
                    </a:ext>
                  </a:extLst>
                </a:gridCol>
                <a:gridCol w="1350015">
                  <a:extLst>
                    <a:ext uri="{9D8B030D-6E8A-4147-A177-3AD203B41FA5}">
                      <a16:colId xmlns:a16="http://schemas.microsoft.com/office/drawing/2014/main" val="2635789233"/>
                    </a:ext>
                  </a:extLst>
                </a:gridCol>
                <a:gridCol w="720008">
                  <a:extLst>
                    <a:ext uri="{9D8B030D-6E8A-4147-A177-3AD203B41FA5}">
                      <a16:colId xmlns:a16="http://schemas.microsoft.com/office/drawing/2014/main" val="2342148663"/>
                    </a:ext>
                  </a:extLst>
                </a:gridCol>
                <a:gridCol w="990011">
                  <a:extLst>
                    <a:ext uri="{9D8B030D-6E8A-4147-A177-3AD203B41FA5}">
                      <a16:colId xmlns:a16="http://schemas.microsoft.com/office/drawing/2014/main" val="4206384404"/>
                    </a:ext>
                  </a:extLst>
                </a:gridCol>
                <a:gridCol w="1530017">
                  <a:extLst>
                    <a:ext uri="{9D8B030D-6E8A-4147-A177-3AD203B41FA5}">
                      <a16:colId xmlns:a16="http://schemas.microsoft.com/office/drawing/2014/main" val="213676125"/>
                    </a:ext>
                  </a:extLst>
                </a:gridCol>
                <a:gridCol w="900010">
                  <a:extLst>
                    <a:ext uri="{9D8B030D-6E8A-4147-A177-3AD203B41FA5}">
                      <a16:colId xmlns:a16="http://schemas.microsoft.com/office/drawing/2014/main" val="2311458609"/>
                    </a:ext>
                  </a:extLst>
                </a:gridCol>
                <a:gridCol w="995852">
                  <a:extLst>
                    <a:ext uri="{9D8B030D-6E8A-4147-A177-3AD203B41FA5}">
                      <a16:colId xmlns:a16="http://schemas.microsoft.com/office/drawing/2014/main" val="4116421006"/>
                    </a:ext>
                  </a:extLst>
                </a:gridCol>
              </a:tblGrid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Weights Trained 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>
                    <a:solidFill>
                      <a:srgbClr val="00B0F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Weights Evaluated 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773542"/>
                  </a:ext>
                </a:extLst>
              </a:tr>
              <a:tr h="332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Weight Trained on Version No.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데이터셋 버전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Input Images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Base Weights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Size of Images during Training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Approximate Training Time for the MERGED Dataset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Size of Validation Images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Size of Test Images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1265783433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Raw images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yolov8x.pt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4h (32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Raw images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Raw images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3883333261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640*640 (augmented)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yolov8l.pt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5h (32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277019644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640*640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yolov8l.pt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2h (32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3760961175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1280*1280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yolov8x.pt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640*640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3.5h (32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1280*1280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1280*1280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2856734382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1280*1280 (augmented)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yolov8x.pt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640*640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4.5h (16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1280*1280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1280*1280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2449849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8218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60765"/>
            <a:ext cx="8492036" cy="542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최고의 가중치 및 데이터 증강 버전 선택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YOLOv8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pretrained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weight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종류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COCO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Dataset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으로 사전 학습되어 있어 기본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Object Detection 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기능 탑재</a:t>
            </a: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가중치를 기초로 </a:t>
            </a:r>
            <a:r>
              <a:rPr kumimoji="0" lang="en-US" altLang="ko-K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transfer learning </a:t>
            </a:r>
            <a:r>
              <a: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수행 </a:t>
            </a:r>
            <a:r>
              <a:rPr kumimoji="0" lang="en-US" altLang="ko-K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 데이터셋에 대해 </a:t>
            </a:r>
            <a:r>
              <a:rPr kumimoji="0" lang="en-US" altLang="ko-K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validation, test </a:t>
            </a:r>
            <a:r>
              <a: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수행</a:t>
            </a:r>
            <a:endParaRPr kumimoji="0" lang="en-US" altLang="ko-KR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7581F53-F3F7-40B2-8D29-75C41B61A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582626"/>
              </p:ext>
            </p:extLst>
          </p:nvPr>
        </p:nvGraphicFramePr>
        <p:xfrm>
          <a:off x="871184" y="1493270"/>
          <a:ext cx="6631683" cy="16657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619">
                  <a:extLst>
                    <a:ext uri="{9D8B030D-6E8A-4147-A177-3AD203B41FA5}">
                      <a16:colId xmlns:a16="http://schemas.microsoft.com/office/drawing/2014/main" val="522989009"/>
                    </a:ext>
                  </a:extLst>
                </a:gridCol>
                <a:gridCol w="900010">
                  <a:extLst>
                    <a:ext uri="{9D8B030D-6E8A-4147-A177-3AD203B41FA5}">
                      <a16:colId xmlns:a16="http://schemas.microsoft.com/office/drawing/2014/main" val="2328961405"/>
                    </a:ext>
                  </a:extLst>
                </a:gridCol>
                <a:gridCol w="810009">
                  <a:extLst>
                    <a:ext uri="{9D8B030D-6E8A-4147-A177-3AD203B41FA5}">
                      <a16:colId xmlns:a16="http://schemas.microsoft.com/office/drawing/2014/main" val="1793899810"/>
                    </a:ext>
                  </a:extLst>
                </a:gridCol>
                <a:gridCol w="990011">
                  <a:extLst>
                    <a:ext uri="{9D8B030D-6E8A-4147-A177-3AD203B41FA5}">
                      <a16:colId xmlns:a16="http://schemas.microsoft.com/office/drawing/2014/main" val="3467565606"/>
                    </a:ext>
                  </a:extLst>
                </a:gridCol>
                <a:gridCol w="900010">
                  <a:extLst>
                    <a:ext uri="{9D8B030D-6E8A-4147-A177-3AD203B41FA5}">
                      <a16:colId xmlns:a16="http://schemas.microsoft.com/office/drawing/2014/main" val="3996311700"/>
                    </a:ext>
                  </a:extLst>
                </a:gridCol>
                <a:gridCol w="810009">
                  <a:extLst>
                    <a:ext uri="{9D8B030D-6E8A-4147-A177-3AD203B41FA5}">
                      <a16:colId xmlns:a16="http://schemas.microsoft.com/office/drawing/2014/main" val="1796015162"/>
                    </a:ext>
                  </a:extLst>
                </a:gridCol>
                <a:gridCol w="1350015">
                  <a:extLst>
                    <a:ext uri="{9D8B030D-6E8A-4147-A177-3AD203B41FA5}">
                      <a16:colId xmlns:a16="http://schemas.microsoft.com/office/drawing/2014/main" val="1854306035"/>
                    </a:ext>
                  </a:extLst>
                </a:gridCol>
              </a:tblGrid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가중치 계수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모델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의미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파라미터 수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속도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정확도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적용 데이터셋 버전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843900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Yolov8n.pt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Nano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아주 작음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매우 빠름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낮음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N/A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553365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Yolov8s.pt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Small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작음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빠름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중간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N/A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433998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Yolov8m.pt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Medium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중간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N/A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167816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Yolov8l.pt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Large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큼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느림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높음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V2, V3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387077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Yolov8x.pt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Extra-large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매우 큼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느림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매우 높음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V1, V4, V5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916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454B69-D190-4EF1-B55C-7CF962BDAD80}"/>
              </a:ext>
            </a:extLst>
          </p:cNvPr>
          <p:cNvSpPr txBox="1"/>
          <p:nvPr/>
        </p:nvSpPr>
        <p:spPr>
          <a:xfrm>
            <a:off x="7430477" y="2596097"/>
            <a:ext cx="2001577" cy="24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solidFill>
                  <a:srgbClr val="00B0F0"/>
                </a:solidFill>
              </a:rPr>
              <a:t>640*640, 640*640(augmented)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12947-0462-481B-9D10-4DC2077BA2E1}"/>
              </a:ext>
            </a:extLst>
          </p:cNvPr>
          <p:cNvSpPr txBox="1"/>
          <p:nvPr/>
        </p:nvSpPr>
        <p:spPr>
          <a:xfrm>
            <a:off x="7445951" y="2827800"/>
            <a:ext cx="1553711" cy="409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solidFill>
                  <a:srgbClr val="00B0F0"/>
                </a:solidFill>
              </a:rPr>
              <a:t>Raw image, 1280*1280, 1280*1280(augmented)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BE7700-EB93-48D5-9E08-B1F892B74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55" y="3833380"/>
            <a:ext cx="2810118" cy="217077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F8CCB7-9564-4C56-BA50-2B3235493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290" y="3833380"/>
            <a:ext cx="2805843" cy="21674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7597AD-808C-4D68-9E7A-6945A02D0811}"/>
              </a:ext>
            </a:extLst>
          </p:cNvPr>
          <p:cNvSpPr txBox="1"/>
          <p:nvPr/>
        </p:nvSpPr>
        <p:spPr>
          <a:xfrm>
            <a:off x="982578" y="5920454"/>
            <a:ext cx="2090036" cy="409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Validation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: </a:t>
            </a:r>
            <a:r>
              <a:rPr lang="ko-KR" altLang="en-US" sz="900" b="1" dirty="0">
                <a:solidFill>
                  <a:schemeClr val="tx1"/>
                </a:solidFill>
              </a:rPr>
              <a:t>가중치 계수 </a:t>
            </a:r>
            <a:r>
              <a:rPr lang="en-US" altLang="ko-KR" sz="900" b="1" dirty="0">
                <a:solidFill>
                  <a:schemeClr val="tx1"/>
                </a:solidFill>
              </a:rPr>
              <a:t>4, 5 </a:t>
            </a:r>
            <a:r>
              <a:rPr lang="ko-KR" altLang="en-US" sz="900" b="1" dirty="0">
                <a:solidFill>
                  <a:schemeClr val="tx1"/>
                </a:solidFill>
              </a:rPr>
              <a:t>성능 높음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74DD6-B88C-4D0A-87CA-D19938CE9135}"/>
              </a:ext>
            </a:extLst>
          </p:cNvPr>
          <p:cNvSpPr txBox="1"/>
          <p:nvPr/>
        </p:nvSpPr>
        <p:spPr>
          <a:xfrm>
            <a:off x="4040642" y="5920646"/>
            <a:ext cx="2001577" cy="4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: </a:t>
            </a:r>
            <a:r>
              <a:rPr lang="ko-KR" altLang="en-US" sz="900" b="1" dirty="0">
                <a:solidFill>
                  <a:schemeClr val="tx1"/>
                </a:solidFill>
              </a:rPr>
              <a:t>가중치 계수 </a:t>
            </a:r>
            <a:r>
              <a:rPr lang="en-US" altLang="ko-KR" sz="900" b="1" dirty="0">
                <a:solidFill>
                  <a:schemeClr val="tx1"/>
                </a:solidFill>
              </a:rPr>
              <a:t>4, 5 </a:t>
            </a:r>
            <a:r>
              <a:rPr lang="ko-KR" altLang="en-US" sz="900" b="1" dirty="0">
                <a:solidFill>
                  <a:schemeClr val="tx1"/>
                </a:solidFill>
              </a:rPr>
              <a:t>성능 높음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5D484E-A277-4984-9CCF-ACE93DFEE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469" y="3869854"/>
            <a:ext cx="2532043" cy="20505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028AEB-F112-440C-81D1-54ED467DA9BE}"/>
              </a:ext>
            </a:extLst>
          </p:cNvPr>
          <p:cNvSpPr txBox="1"/>
          <p:nvPr/>
        </p:nvSpPr>
        <p:spPr>
          <a:xfrm>
            <a:off x="6541737" y="5892627"/>
            <a:ext cx="2350311" cy="4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ACDC </a:t>
            </a:r>
            <a:r>
              <a:rPr lang="ko-KR" altLang="en-US" sz="900" dirty="0">
                <a:solidFill>
                  <a:schemeClr val="tx1"/>
                </a:solidFill>
              </a:rPr>
              <a:t>데이터 증강 </a:t>
            </a:r>
            <a:r>
              <a:rPr lang="ko-KR" altLang="en-US" sz="900" dirty="0" err="1">
                <a:solidFill>
                  <a:schemeClr val="tx1"/>
                </a:solidFill>
              </a:rPr>
              <a:t>버전별</a:t>
            </a:r>
            <a:r>
              <a:rPr lang="en-US" altLang="ko-KR" sz="900" dirty="0">
                <a:solidFill>
                  <a:schemeClr val="tx1"/>
                </a:solidFill>
              </a:rPr>
              <a:t>(A0~A8)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: A8(horizontal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</a:rPr>
              <a:t>flip,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</a:rPr>
              <a:t>cropping) </a:t>
            </a:r>
            <a:r>
              <a:rPr lang="ko-KR" altLang="en-US" sz="900" b="1" dirty="0">
                <a:solidFill>
                  <a:schemeClr val="tx1"/>
                </a:solidFill>
              </a:rPr>
              <a:t>성능 우수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39247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06733"/>
            <a:ext cx="8492036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통합 데이터셋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(MERGED)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에 대한 가중치 학습 평가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각 데이터셋 별 테스트셋 검증 결과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Raw image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보다 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resizing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데이터셋이 성능 높음</a:t>
            </a:r>
            <a:endParaRPr lang="en-US" altLang="ko-KR" sz="11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1280*1280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resizing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640*640 resizing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보다 성능 높음</a:t>
            </a:r>
            <a:endParaRPr lang="en-US" altLang="ko-KR" sz="11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가중치 계수가 높은 모델일수록 </a:t>
            </a:r>
            <a:r>
              <a:rPr lang="en-US" altLang="ko-KR" sz="1100" kern="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resing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만한 데이터셋보다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100" kern="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resizing&amp;augmentation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데이터셋이 성능 높음</a:t>
            </a:r>
            <a:endParaRPr lang="en-US" altLang="ko-KR" sz="11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통합 데이터셋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(MERGED)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DAWN, ACDC 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개별 데이터셋보다 성능 높음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B7969CE-3776-414D-A183-7B8BEE152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61" y="1369057"/>
            <a:ext cx="2350813" cy="181597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1F4FDB0-9972-4481-984B-9A98FFCAB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349" y="1358977"/>
            <a:ext cx="2350814" cy="181597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E22B7A4-7447-4D8A-B57C-596407429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959" y="3351645"/>
            <a:ext cx="2350816" cy="18159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5D33AAF-45F4-41D9-B9EB-879BEC82B2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1349" y="3351645"/>
            <a:ext cx="2350814" cy="181597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EC6F2E0-C2EF-4160-9FC7-C67DCEB36923}"/>
              </a:ext>
            </a:extLst>
          </p:cNvPr>
          <p:cNvSpPr txBox="1"/>
          <p:nvPr/>
        </p:nvSpPr>
        <p:spPr>
          <a:xfrm>
            <a:off x="1111467" y="3118136"/>
            <a:ext cx="2177057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DAWN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8F5B68-0638-4F73-83A1-EE1DFFA44C5A}"/>
              </a:ext>
            </a:extLst>
          </p:cNvPr>
          <p:cNvSpPr txBox="1"/>
          <p:nvPr/>
        </p:nvSpPr>
        <p:spPr>
          <a:xfrm>
            <a:off x="3789317" y="3118136"/>
            <a:ext cx="2177057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ACDC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07389F-17CA-454B-A808-F434E110F30D}"/>
              </a:ext>
            </a:extLst>
          </p:cNvPr>
          <p:cNvSpPr txBox="1"/>
          <p:nvPr/>
        </p:nvSpPr>
        <p:spPr>
          <a:xfrm>
            <a:off x="1015765" y="5076006"/>
            <a:ext cx="2177057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Merged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274B35-8A6B-4775-8C39-3E1965A29FE2}"/>
              </a:ext>
            </a:extLst>
          </p:cNvPr>
          <p:cNvSpPr txBox="1"/>
          <p:nvPr/>
        </p:nvSpPr>
        <p:spPr>
          <a:xfrm>
            <a:off x="3789316" y="5076006"/>
            <a:ext cx="2177057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chemeClr val="tx1"/>
                </a:solidFill>
              </a:rPr>
              <a:t>각 데이터셋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 종합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겹치기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34" name="표 34">
            <a:extLst>
              <a:ext uri="{FF2B5EF4-FFF2-40B4-BE49-F238E27FC236}">
                <a16:creationId xmlns:a16="http://schemas.microsoft.com/office/drawing/2014/main" id="{7B71C3B9-83DC-43C6-9710-7698828F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587834"/>
              </p:ext>
            </p:extLst>
          </p:nvPr>
        </p:nvGraphicFramePr>
        <p:xfrm>
          <a:off x="6192018" y="2251644"/>
          <a:ext cx="2790031" cy="2437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10">
                  <a:extLst>
                    <a:ext uri="{9D8B030D-6E8A-4147-A177-3AD203B41FA5}">
                      <a16:colId xmlns:a16="http://schemas.microsoft.com/office/drawing/2014/main" val="2288258778"/>
                    </a:ext>
                  </a:extLst>
                </a:gridCol>
                <a:gridCol w="647084">
                  <a:extLst>
                    <a:ext uri="{9D8B030D-6E8A-4147-A177-3AD203B41FA5}">
                      <a16:colId xmlns:a16="http://schemas.microsoft.com/office/drawing/2014/main" val="341797854"/>
                    </a:ext>
                  </a:extLst>
                </a:gridCol>
                <a:gridCol w="1242937">
                  <a:extLst>
                    <a:ext uri="{9D8B030D-6E8A-4147-A177-3AD203B41FA5}">
                      <a16:colId xmlns:a16="http://schemas.microsoft.com/office/drawing/2014/main" val="3000288879"/>
                    </a:ext>
                  </a:extLst>
                </a:gridCol>
              </a:tblGrid>
              <a:tr h="34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가중치 계수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컬러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74304"/>
                  </a:ext>
                </a:extLst>
              </a:tr>
              <a:tr h="34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Base weight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432096"/>
                  </a:ext>
                </a:extLst>
              </a:tr>
              <a:tr h="34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Raw images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1307924927"/>
                  </a:ext>
                </a:extLst>
              </a:tr>
              <a:tr h="34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640*640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900" u="none" strike="noStrike" dirty="0" err="1">
                          <a:effectLst/>
                          <a:latin typeface="+mn-ea"/>
                          <a:ea typeface="+mn-ea"/>
                        </a:rPr>
                        <a:t>resizing&amp;augmented</a:t>
                      </a: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1831939878"/>
                  </a:ext>
                </a:extLst>
              </a:tr>
              <a:tr h="34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640*640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(only resizing)</a:t>
                      </a: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242368096"/>
                  </a:ext>
                </a:extLst>
              </a:tr>
              <a:tr h="34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1280*1280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(only resizing)</a:t>
                      </a: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913432506"/>
                  </a:ext>
                </a:extLst>
              </a:tr>
              <a:tr h="34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1280*1280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(resizing&amp;augmented)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194258598"/>
                  </a:ext>
                </a:extLst>
              </a:tr>
            </a:tbl>
          </a:graphicData>
        </a:graphic>
      </p:graphicFrame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9CAA6DE4-EA8B-4EE2-B291-8DB06048FA82}"/>
              </a:ext>
            </a:extLst>
          </p:cNvPr>
          <p:cNvSpPr/>
          <p:nvPr/>
        </p:nvSpPr>
        <p:spPr bwMode="auto">
          <a:xfrm rot="5400000">
            <a:off x="7357230" y="2694571"/>
            <a:ext cx="180002" cy="180002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26FE1719-47A0-45D4-84D1-400D7D3410E2}"/>
              </a:ext>
            </a:extLst>
          </p:cNvPr>
          <p:cNvSpPr/>
          <p:nvPr/>
        </p:nvSpPr>
        <p:spPr bwMode="auto">
          <a:xfrm rot="5400000">
            <a:off x="7357230" y="3040337"/>
            <a:ext cx="180002" cy="180002"/>
          </a:xfrm>
          <a:prstGeom prst="triangle">
            <a:avLst/>
          </a:prstGeom>
          <a:solidFill>
            <a:srgbClr val="0033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B3B7216C-BF0F-42E9-A0EC-C5BEE7B94476}"/>
              </a:ext>
            </a:extLst>
          </p:cNvPr>
          <p:cNvSpPr/>
          <p:nvPr/>
        </p:nvSpPr>
        <p:spPr bwMode="auto">
          <a:xfrm rot="5400000">
            <a:off x="7357230" y="3387430"/>
            <a:ext cx="180002" cy="180002"/>
          </a:xfrm>
          <a:prstGeom prst="triangl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C5F0CD40-7ED6-44CF-AFFC-EF242DC58FF1}"/>
              </a:ext>
            </a:extLst>
          </p:cNvPr>
          <p:cNvSpPr/>
          <p:nvPr/>
        </p:nvSpPr>
        <p:spPr bwMode="auto">
          <a:xfrm rot="5400000">
            <a:off x="7357230" y="3743745"/>
            <a:ext cx="180002" cy="180002"/>
          </a:xfrm>
          <a:prstGeom prst="triangle">
            <a:avLst/>
          </a:prstGeom>
          <a:solidFill>
            <a:srgbClr val="CF07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F31CD505-5355-4D12-8B19-E6A2C3011A07}"/>
              </a:ext>
            </a:extLst>
          </p:cNvPr>
          <p:cNvSpPr/>
          <p:nvPr/>
        </p:nvSpPr>
        <p:spPr bwMode="auto">
          <a:xfrm rot="5400000">
            <a:off x="7357230" y="4090838"/>
            <a:ext cx="180002" cy="180002"/>
          </a:xfrm>
          <a:prstGeom prst="triangle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202B4A98-06B2-4E35-9E1F-CBB4A885B73B}"/>
              </a:ext>
            </a:extLst>
          </p:cNvPr>
          <p:cNvSpPr/>
          <p:nvPr/>
        </p:nvSpPr>
        <p:spPr bwMode="auto">
          <a:xfrm rot="5400000">
            <a:off x="7357230" y="4445182"/>
            <a:ext cx="180002" cy="180002"/>
          </a:xfrm>
          <a:prstGeom prst="triangl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12784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95168"/>
            <a:ext cx="8492036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및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데이터셋에 대한 통합 데이터셋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(MERGED)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효과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각 데이터셋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통합 데이터셋 성능 검증 결과 비교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통합 데이터셋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(MERGED)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DAWN, ACDC 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개별 데이터셋보다 대체로 성능 높음</a:t>
            </a: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FA883B-9038-41EC-8DC2-966493270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61" y="1385966"/>
            <a:ext cx="2880032" cy="22247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5CF978-990D-49EE-B486-D4400CE0A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994" y="1385967"/>
            <a:ext cx="2880032" cy="22247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45CC7C0-1188-4689-86AF-BADDDC56397E}"/>
              </a:ext>
            </a:extLst>
          </p:cNvPr>
          <p:cNvSpPr txBox="1"/>
          <p:nvPr/>
        </p:nvSpPr>
        <p:spPr>
          <a:xfrm>
            <a:off x="791959" y="3545989"/>
            <a:ext cx="3420038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DAWN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en-US" altLang="ko-KR" sz="900" dirty="0">
                <a:solidFill>
                  <a:schemeClr val="tx1"/>
                </a:solidFill>
              </a:rPr>
              <a:t>DAWN-MERGED </a:t>
            </a:r>
            <a:r>
              <a:rPr lang="ko-KR" altLang="en-US" sz="900" dirty="0">
                <a:solidFill>
                  <a:schemeClr val="tx1"/>
                </a:solidFill>
              </a:rPr>
              <a:t>데이터셋 성능 비교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A70FE9-E699-4591-80B9-F7F231AD11A5}"/>
              </a:ext>
            </a:extLst>
          </p:cNvPr>
          <p:cNvSpPr txBox="1"/>
          <p:nvPr/>
        </p:nvSpPr>
        <p:spPr>
          <a:xfrm>
            <a:off x="4121994" y="3545989"/>
            <a:ext cx="3420038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ACDC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en-US" altLang="ko-KR" sz="900" dirty="0">
                <a:solidFill>
                  <a:schemeClr val="tx1"/>
                </a:solidFill>
              </a:rPr>
              <a:t>ACDC-MERGED </a:t>
            </a:r>
            <a:r>
              <a:rPr lang="ko-KR" altLang="en-US" sz="900" dirty="0">
                <a:solidFill>
                  <a:schemeClr val="tx1"/>
                </a:solidFill>
              </a:rPr>
              <a:t>데이터셋 성능 비교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5EC807-C468-49C3-B9CD-942C7ADF6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074" y="3789004"/>
            <a:ext cx="2527633" cy="204702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ABB6FF9-EE84-4B1B-8CB6-73FD6E759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772" y="3789004"/>
            <a:ext cx="2527633" cy="204702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2B5FBBC-DE96-4361-B5B3-5EAEEECE3AA4}"/>
              </a:ext>
            </a:extLst>
          </p:cNvPr>
          <p:cNvSpPr txBox="1"/>
          <p:nvPr/>
        </p:nvSpPr>
        <p:spPr>
          <a:xfrm>
            <a:off x="766807" y="5769230"/>
            <a:ext cx="3420038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 err="1">
                <a:solidFill>
                  <a:schemeClr val="tx1"/>
                </a:solidFill>
              </a:rPr>
              <a:t>날씨별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DAWN-MERGED </a:t>
            </a:r>
            <a:r>
              <a:rPr lang="ko-KR" altLang="en-US" sz="900" dirty="0">
                <a:solidFill>
                  <a:schemeClr val="tx1"/>
                </a:solidFill>
              </a:rPr>
              <a:t>데이터셋 성능 비교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0C451E-BFFB-4CA6-9419-4D7F818137E2}"/>
              </a:ext>
            </a:extLst>
          </p:cNvPr>
          <p:cNvSpPr txBox="1"/>
          <p:nvPr/>
        </p:nvSpPr>
        <p:spPr>
          <a:xfrm>
            <a:off x="3941993" y="5769229"/>
            <a:ext cx="3420038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 err="1">
                <a:solidFill>
                  <a:schemeClr val="tx1"/>
                </a:solidFill>
              </a:rPr>
              <a:t>날씨별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ACDC-MERGED </a:t>
            </a:r>
            <a:r>
              <a:rPr lang="ko-KR" altLang="en-US" sz="900" dirty="0">
                <a:solidFill>
                  <a:schemeClr val="tx1"/>
                </a:solidFill>
              </a:rPr>
              <a:t>데이터셋 성능 비교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8490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1091189"/>
            <a:ext cx="8402035" cy="328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성능 </a:t>
            </a: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결과 예시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930147-4C9F-4C96-8940-350404C10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1" y="1538979"/>
            <a:ext cx="2147990" cy="21479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129A715-69A5-4511-9FC0-5C003F89C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410" y="1538979"/>
            <a:ext cx="2147990" cy="21479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00D032-AB24-464A-9193-3321BA8125D0}"/>
              </a:ext>
            </a:extLst>
          </p:cNvPr>
          <p:cNvSpPr txBox="1"/>
          <p:nvPr/>
        </p:nvSpPr>
        <p:spPr>
          <a:xfrm>
            <a:off x="161951" y="3686722"/>
            <a:ext cx="2070023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YOLOv8 base weight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3947A-D74A-4F6D-B0DE-E859E35AD08E}"/>
              </a:ext>
            </a:extLst>
          </p:cNvPr>
          <p:cNvSpPr txBox="1"/>
          <p:nvPr/>
        </p:nvSpPr>
        <p:spPr>
          <a:xfrm>
            <a:off x="2420020" y="3686722"/>
            <a:ext cx="2070023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YOLOv8 trained weight(MERGED)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B1CF4AF-0E98-487A-94E3-CAFD924CB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435" y="1538732"/>
            <a:ext cx="2147990" cy="21479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01C1853-E7D7-4958-9E57-7271FA2CF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894" y="1539415"/>
            <a:ext cx="2147307" cy="21473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3737A2-F2CE-401F-81C3-04050C25412B}"/>
              </a:ext>
            </a:extLst>
          </p:cNvPr>
          <p:cNvSpPr txBox="1"/>
          <p:nvPr/>
        </p:nvSpPr>
        <p:spPr>
          <a:xfrm>
            <a:off x="4679018" y="3686722"/>
            <a:ext cx="2070023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YOLOv8 base weight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2523C-F5F5-4F9C-B48D-C95E51BDED3C}"/>
              </a:ext>
            </a:extLst>
          </p:cNvPr>
          <p:cNvSpPr txBox="1"/>
          <p:nvPr/>
        </p:nvSpPr>
        <p:spPr>
          <a:xfrm>
            <a:off x="6929043" y="3684696"/>
            <a:ext cx="2070023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YOLOv8 trained weight(MERGED)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F2CF4D2-EF40-40F8-8481-73957ACB62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199" y="3969006"/>
            <a:ext cx="2147991" cy="21479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20907C5-AA1D-42AE-AEFD-545DF2502E05}"/>
              </a:ext>
            </a:extLst>
          </p:cNvPr>
          <p:cNvSpPr txBox="1"/>
          <p:nvPr/>
        </p:nvSpPr>
        <p:spPr>
          <a:xfrm>
            <a:off x="161951" y="6077480"/>
            <a:ext cx="2070023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YOLOv8 base weight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0624471-665F-471B-8DD9-ED9E2A84AE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1427" y="3979453"/>
            <a:ext cx="2141974" cy="21419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A62B125-6728-4A36-B18D-C26DCC3C01C4}"/>
              </a:ext>
            </a:extLst>
          </p:cNvPr>
          <p:cNvSpPr txBox="1"/>
          <p:nvPr/>
        </p:nvSpPr>
        <p:spPr>
          <a:xfrm>
            <a:off x="2385410" y="6092553"/>
            <a:ext cx="2070023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YOLOv8 trained weight(MERGED)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0D3B8CD-9C2D-44A9-ABC8-80CB4A5ACB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35" y="3979453"/>
            <a:ext cx="2141974" cy="214197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67652E1-7A06-49C7-AA8F-C981ED673F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894" y="3979453"/>
            <a:ext cx="2147307" cy="214730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39C0025-E7E1-44CE-96D3-E0412322EEB3}"/>
              </a:ext>
            </a:extLst>
          </p:cNvPr>
          <p:cNvSpPr txBox="1"/>
          <p:nvPr/>
        </p:nvSpPr>
        <p:spPr>
          <a:xfrm>
            <a:off x="4686837" y="6079506"/>
            <a:ext cx="2070023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YOLOv8 base weight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792FFC-0678-4887-8175-641DABD346B2}"/>
              </a:ext>
            </a:extLst>
          </p:cNvPr>
          <p:cNvSpPr txBox="1"/>
          <p:nvPr/>
        </p:nvSpPr>
        <p:spPr>
          <a:xfrm>
            <a:off x="6936862" y="6077480"/>
            <a:ext cx="2070023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YOLOv8 trained weight(MERGED)</a:t>
            </a:r>
          </a:p>
        </p:txBody>
      </p:sp>
    </p:spTree>
    <p:extLst>
      <p:ext uri="{BB962C8B-B14F-4D97-AF65-F5344CB8AC3E}">
        <p14:creationId xmlns:p14="http://schemas.microsoft.com/office/powerpoint/2010/main" val="236320179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402035" cy="479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결론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800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제안된 데이터 </a:t>
            </a:r>
            <a:r>
              <a:rPr lang="ko-KR" altLang="en-US" sz="1500" b="0" dirty="0">
                <a:latin typeface="noto"/>
              </a:rPr>
              <a:t>통합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 기법은 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YOLOv8 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알고리즘의 기본 가중치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(</a:t>
            </a:r>
            <a:r>
              <a:rPr lang="en-US" altLang="ko-KR" sz="1500" b="0" dirty="0">
                <a:latin typeface="noto"/>
              </a:rPr>
              <a:t>base</a:t>
            </a:r>
            <a:r>
              <a:rPr lang="ko-KR" altLang="en-US" sz="1500" b="0" dirty="0">
                <a:latin typeface="noto"/>
              </a:rPr>
              <a:t> </a:t>
            </a:r>
            <a:r>
              <a:rPr lang="en-US" altLang="ko-KR" sz="1500" b="0" dirty="0">
                <a:latin typeface="noto"/>
              </a:rPr>
              <a:t>weight)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 성능에 비해 객체 탐지 정확도를 크게 향상시켰음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marL="586800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MERGED 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데이터셋이 개별 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DAWN, ACDC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 데이터셋에 대한 가중치 훈련보다 더 나은 성능을 보였</a:t>
            </a:r>
            <a:r>
              <a:rPr lang="ko-KR" altLang="en-US" sz="1500" b="0" dirty="0">
                <a:latin typeface="noto"/>
              </a:rPr>
              <a:t>음</a:t>
            </a:r>
            <a:r>
              <a:rPr lang="en-US" altLang="ko-KR" sz="1500" b="0" dirty="0">
                <a:latin typeface="noto"/>
              </a:rPr>
              <a:t>.</a:t>
            </a:r>
          </a:p>
          <a:p>
            <a:pPr marL="586800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특징 관련 데이터셋의 더 다양한 이미지를 병합하는 것이 객체 탐지에 더 나은 성능을 발휘할 수 있음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marL="586800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b="0" dirty="0">
                <a:latin typeface="noto"/>
              </a:rPr>
              <a:t>본 논문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에 제시된 기본 데이터셋과 레이블로 시작하여 더 많은 데이터셋을 추가함으로써 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Object Detection 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성능 결과를 더욱 향상시킬 수 있음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. </a:t>
            </a:r>
          </a:p>
          <a:p>
            <a:pPr marL="586800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더 강력한 컴퓨터 성능은 훈련 중이거나 더 많은 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epoch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 횟수의 훈련을 통해 더 큰 이미지 사이즈를 사용함으로써 </a:t>
            </a:r>
            <a:r>
              <a:rPr lang="ko-KR" altLang="en-US" sz="1500" b="0" dirty="0">
                <a:latin typeface="noto"/>
              </a:rPr>
              <a:t>성능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 결과를 향상시킬 가능성 있음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marL="586800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b="0" dirty="0">
                <a:latin typeface="noto"/>
              </a:rPr>
              <a:t>본 논문에서 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기상 특징은 거의 모든 악천후 상황을 포괄하지만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태양 눈부심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(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역광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)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과 같은 일부 환경적 요인에 대한 데이터셋은 없음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. 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악천후 날씨 외에도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sz="1500" b="0" dirty="0">
                <a:latin typeface="noto"/>
              </a:rPr>
              <a:t>일반적인 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noto"/>
              </a:rPr>
              <a:t>날씨 환경의 데이터셋 이미지가 더 정확한 객체 탐지로 이어질 수 있음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154021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7D46-C139-9199-B45A-7A777DE9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37717338-6C73-0DAB-541E-C2131D16D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3" y="1088974"/>
            <a:ext cx="8312034" cy="927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[1] Musat, V.;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Fursa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I.; Newman, P.;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Cuzzolin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F.; Bradley, A. Multi-Weather City: Adverse Weather Stacking for Autonomous Driving. In Proceedings of the 2021 IEEE/CVF International Conference on Computer Vision Workshops (ICCVW), Montreal, BC, Canada, 11–17 October 2021; IEEE: New York, NY, USA, 2021.</a:t>
            </a:r>
            <a:endParaRPr lang="en-US" altLang="ko-KR" sz="1400" b="0" i="0" kern="0" dirty="0">
              <a:solidFill>
                <a:srgbClr val="0033CC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098DF2-0FED-0E54-CAA4-04A96F7E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</a:p>
        </p:txBody>
      </p:sp>
    </p:spTree>
    <p:extLst>
      <p:ext uri="{BB962C8B-B14F-4D97-AF65-F5344CB8AC3E}">
        <p14:creationId xmlns:p14="http://schemas.microsoft.com/office/powerpoint/2010/main" val="178811343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078985"/>
            <a:ext cx="7110079" cy="2133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감사합니다</a:t>
            </a:r>
            <a:endParaRPr lang="en-US" altLang="ko-KR" sz="5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Q&amp;A</a:t>
            </a:r>
            <a:endParaRPr lang="ko-KR" altLang="en-US" sz="5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23391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2004:Templates:Presentations:Designs:Calm Seas</Template>
  <TotalTime>60211</TotalTime>
  <Words>2020</Words>
  <Application>Microsoft Office PowerPoint</Application>
  <PresentationFormat>화면 슬라이드 쇼(4:3)</PresentationFormat>
  <Paragraphs>515</Paragraphs>
  <Slides>18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noto</vt:lpstr>
      <vt:lpstr>나눔고딕 ExtraBold</vt:lpstr>
      <vt:lpstr>맑은 고딕</vt:lpstr>
      <vt:lpstr>Arial</vt:lpstr>
      <vt:lpstr>Cambria</vt:lpstr>
      <vt:lpstr>Corbel</vt:lpstr>
      <vt:lpstr>Times New Roman</vt:lpstr>
      <vt:lpstr>Wingdings</vt:lpstr>
      <vt:lpstr>1_Default Design</vt:lpstr>
      <vt:lpstr>2_Default Design</vt:lpstr>
      <vt:lpstr>PowerPoint 프레젠테이션</vt:lpstr>
      <vt:lpstr>목차</vt:lpstr>
      <vt:lpstr>프로젝트 #1 개요</vt:lpstr>
      <vt:lpstr>프로젝트 #1 개요</vt:lpstr>
      <vt:lpstr>서론 (Introduction)</vt:lpstr>
      <vt:lpstr>서론 (Introduction)</vt:lpstr>
      <vt:lpstr>방법 (Methodology)</vt:lpstr>
      <vt:lpstr>방법 (Methodology)</vt:lpstr>
      <vt:lpstr>방법 (Methodology)</vt:lpstr>
      <vt:lpstr>방법 (Methodology)</vt:lpstr>
      <vt:lpstr>실험 구성 및 평가 방법 (Experiment Settings) </vt:lpstr>
      <vt:lpstr>실험 구성 및 평가 방법 (Experiment Settings) </vt:lpstr>
      <vt:lpstr>실험 구성 및 평가 방법 (Experiment Settings) </vt:lpstr>
      <vt:lpstr>실험 구성 및 평가 방법 (Experiment Settings) </vt:lpstr>
      <vt:lpstr>결과 및 분석 (Results &amp; Analysis)</vt:lpstr>
      <vt:lpstr>결과 및 분석 (Results &amp; Analysis)</vt:lpstr>
      <vt:lpstr>참고 문헌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이광연</dc:creator>
  <cp:lastModifiedBy>Jinha Kim</cp:lastModifiedBy>
  <cp:revision>3260</cp:revision>
  <cp:lastPrinted>2023-01-25T05:07:50Z</cp:lastPrinted>
  <dcterms:created xsi:type="dcterms:W3CDTF">2004-08-18T11:28:05Z</dcterms:created>
  <dcterms:modified xsi:type="dcterms:W3CDTF">2025-04-08T08:55:44Z</dcterms:modified>
</cp:coreProperties>
</file>