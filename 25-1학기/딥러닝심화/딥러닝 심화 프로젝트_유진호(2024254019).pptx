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</p:sldIdLst>
  <p:sldSz cx="18288000" cy="10287000"/>
  <p:notesSz cx="6858000" cy="9144000"/>
  <p:embeddedFontLst>
    <p:embeddedFont>
      <p:font typeface="TDTD순고딕" panose="020B0600000101010101" charset="-127"/>
      <p:regular r:id="rId10"/>
    </p:embeddedFont>
    <p:embeddedFont>
      <p:font typeface="TDTD순고딕 Bold" panose="020B0600000101010101" charset="-127"/>
      <p:regular r:id="rId11"/>
    </p:embeddedFont>
    <p:embeddedFont>
      <p:font typeface="TDTD평고딕" panose="020B0600000101010101" charset="-127"/>
      <p:regular r:id="rId12"/>
    </p:embeddedFont>
    <p:embeddedFont>
      <p:font typeface="Tlab 돋움 레귤러" panose="020B0600000101010101" charset="-127"/>
      <p:regular r:id="rId13"/>
    </p:embeddedFont>
    <p:embeddedFont>
      <p:font typeface="Tlab 돋움 레귤러 Bold" panose="020B0600000101010101" charset="-127"/>
      <p:regular r:id="rId14"/>
    </p:embeddedFont>
    <p:embeddedFont>
      <p:font typeface="Cabin" panose="020B0600000101010101" charset="0"/>
      <p:regular r:id="rId15"/>
    </p:embeddedFont>
    <p:embeddedFont>
      <p:font typeface="Cabin Bold" panose="020B0600000101010101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300" y="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01507" y="8075454"/>
            <a:ext cx="8057793" cy="7285019"/>
            <a:chOff x="0" y="0"/>
            <a:chExt cx="736529" cy="665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6529" cy="665893"/>
            </a:xfrm>
            <a:custGeom>
              <a:avLst/>
              <a:gdLst/>
              <a:ahLst/>
              <a:cxnLst/>
              <a:rect l="l" t="t" r="r" b="b"/>
              <a:pathLst>
                <a:path w="736529" h="665893">
                  <a:moveTo>
                    <a:pt x="368265" y="0"/>
                  </a:moveTo>
                  <a:cubicBezTo>
                    <a:pt x="164878" y="0"/>
                    <a:pt x="0" y="149065"/>
                    <a:pt x="0" y="332946"/>
                  </a:cubicBezTo>
                  <a:cubicBezTo>
                    <a:pt x="0" y="516828"/>
                    <a:pt x="164878" y="665893"/>
                    <a:pt x="368265" y="665893"/>
                  </a:cubicBezTo>
                  <a:cubicBezTo>
                    <a:pt x="571651" y="665893"/>
                    <a:pt x="736529" y="516828"/>
                    <a:pt x="736529" y="332946"/>
                  </a:cubicBezTo>
                  <a:cubicBezTo>
                    <a:pt x="736529" y="149065"/>
                    <a:pt x="571651" y="0"/>
                    <a:pt x="368265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69050" y="-13773"/>
              <a:ext cx="598430" cy="617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19007" y="2299190"/>
            <a:ext cx="6022793" cy="6959110"/>
          </a:xfrm>
          <a:custGeom>
            <a:avLst/>
            <a:gdLst/>
            <a:ahLst/>
            <a:cxnLst/>
            <a:rect l="l" t="t" r="r" b="b"/>
            <a:pathLst>
              <a:path w="6022793" h="6959110">
                <a:moveTo>
                  <a:pt x="0" y="0"/>
                </a:moveTo>
                <a:lnTo>
                  <a:pt x="6022793" y="0"/>
                </a:lnTo>
                <a:lnTo>
                  <a:pt x="6022793" y="6959110"/>
                </a:lnTo>
                <a:lnTo>
                  <a:pt x="0" y="69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3888347"/>
            <a:ext cx="8216803" cy="254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4"/>
              </a:lnSpc>
            </a:pPr>
            <a:r>
              <a:rPr lang="en-US" sz="8300" spc="-249" dirty="0" err="1">
                <a:solidFill>
                  <a:srgbClr val="6274CF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프로젝트</a:t>
            </a:r>
            <a:r>
              <a:rPr lang="en-US" sz="8300" spc="-249" dirty="0">
                <a:solidFill>
                  <a:srgbClr val="6274CF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</a:p>
          <a:p>
            <a:pPr algn="l">
              <a:lnSpc>
                <a:spcPts val="10044"/>
              </a:lnSpc>
            </a:pPr>
            <a:r>
              <a:rPr lang="en-US" sz="8300" spc="-249" dirty="0" err="1">
                <a:solidFill>
                  <a:srgbClr val="6274CF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프레젠테이션</a:t>
            </a:r>
            <a:endParaRPr lang="en-US" sz="8300" spc="-249" dirty="0">
              <a:solidFill>
                <a:srgbClr val="6274CF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230403" y="778193"/>
            <a:ext cx="402889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ko-KR" altLang="en-US" sz="2400" dirty="0">
                <a:solidFill>
                  <a:srgbClr val="252525"/>
                </a:solidFill>
                <a:latin typeface="Cabin"/>
                <a:ea typeface="Cabin"/>
                <a:cs typeface="Cabin"/>
                <a:sym typeface="Cabin"/>
              </a:rPr>
              <a:t>딥러닝 심화</a:t>
            </a:r>
            <a:endParaRPr lang="en-US" sz="2400" dirty="0">
              <a:solidFill>
                <a:srgbClr val="252525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6573380"/>
            <a:ext cx="6546959" cy="544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spc="32" dirty="0" err="1">
                <a:solidFill>
                  <a:srgbClr val="6274C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발표자</a:t>
            </a:r>
            <a:r>
              <a:rPr lang="en-US" sz="3200" b="1" spc="32" dirty="0">
                <a:solidFill>
                  <a:srgbClr val="6274C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. </a:t>
            </a:r>
            <a:r>
              <a:rPr lang="ko-KR" altLang="en-US" sz="3200" b="1" spc="32" dirty="0">
                <a:solidFill>
                  <a:srgbClr val="6274C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유진호 </a:t>
            </a:r>
            <a:r>
              <a:rPr lang="en-US" altLang="ko-KR" sz="3200" b="1" spc="32" dirty="0">
                <a:solidFill>
                  <a:srgbClr val="6274C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(2024254019)</a:t>
            </a:r>
            <a:endParaRPr lang="en-US" sz="3200" b="1" spc="32" dirty="0">
              <a:solidFill>
                <a:srgbClr val="6274CF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792798"/>
            <a:ext cx="2406276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41" dirty="0">
                <a:solidFill>
                  <a:srgbClr val="252525"/>
                </a:solidFill>
                <a:latin typeface="Cabin"/>
                <a:ea typeface="Cabin"/>
                <a:cs typeface="Cabin"/>
                <a:sym typeface="Cabin"/>
              </a:rPr>
              <a:t>2025.4.24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28700" y="1397084"/>
            <a:ext cx="16230600" cy="0"/>
          </a:xfrm>
          <a:prstGeom prst="line">
            <a:avLst/>
          </a:prstGeom>
          <a:ln w="38100" cap="flat">
            <a:solidFill>
              <a:srgbClr val="25252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71320" y="3973578"/>
            <a:ext cx="751342" cy="7513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46263" y="3973578"/>
            <a:ext cx="751342" cy="75134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71320" y="5015159"/>
            <a:ext cx="751342" cy="75134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46263" y="5015159"/>
            <a:ext cx="751342" cy="75134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71320" y="6054907"/>
            <a:ext cx="751342" cy="75134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46263" y="6054907"/>
            <a:ext cx="751342" cy="75134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71320" y="7094654"/>
            <a:ext cx="751342" cy="75134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46263" y="7094654"/>
            <a:ext cx="751342" cy="75134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0"/>
            <a:ext cx="18288000" cy="2372063"/>
            <a:chOff x="0" y="0"/>
            <a:chExt cx="4816593" cy="6247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16592" cy="624741"/>
            </a:xfrm>
            <a:custGeom>
              <a:avLst/>
              <a:gdLst/>
              <a:ahLst/>
              <a:cxnLst/>
              <a:rect l="l" t="t" r="r" b="b"/>
              <a:pathLst>
                <a:path w="4816592" h="624741">
                  <a:moveTo>
                    <a:pt x="0" y="0"/>
                  </a:moveTo>
                  <a:lnTo>
                    <a:pt x="4816592" y="0"/>
                  </a:lnTo>
                  <a:lnTo>
                    <a:pt x="4816592" y="624741"/>
                  </a:lnTo>
                  <a:lnTo>
                    <a:pt x="0" y="624741"/>
                  </a:ln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4816593" cy="700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20567" y="1024107"/>
            <a:ext cx="7110099" cy="165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b="1" dirty="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CONTENTS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70583" y="3747954"/>
            <a:ext cx="552818" cy="86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sz="3400" b="1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45525" y="3747954"/>
            <a:ext cx="552818" cy="86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sz="3400" b="1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70583" y="4786374"/>
            <a:ext cx="552818" cy="86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sz="3400" b="1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745525" y="4786374"/>
            <a:ext cx="552818" cy="86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sz="3400" b="1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70583" y="5823651"/>
            <a:ext cx="552818" cy="86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sz="3400" b="1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45525" y="5835647"/>
            <a:ext cx="552818" cy="86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sz="3400" b="1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7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70583" y="6865870"/>
            <a:ext cx="552818" cy="86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sz="3400" b="1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45525" y="6865870"/>
            <a:ext cx="552818" cy="86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sz="3400" b="1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678334" y="3724600"/>
            <a:ext cx="5403203" cy="89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ko-KR" altLang="en-US" sz="3500" spc="35" dirty="0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적용 코드 예시 및 마무리</a:t>
            </a:r>
            <a:endParaRPr lang="en-US" sz="3500" spc="35" dirty="0">
              <a:solidFill>
                <a:srgbClr val="6274CF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678334" y="4766181"/>
            <a:ext cx="5403203" cy="89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ko-KR" altLang="en-US" sz="3500" strike="sngStrike" spc="35" dirty="0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기대효과 및 향후 계획</a:t>
            </a:r>
            <a:endParaRPr lang="en-US" sz="3500" strike="sngStrike" spc="35" dirty="0">
              <a:solidFill>
                <a:srgbClr val="6274CF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678334" y="5805929"/>
            <a:ext cx="5403203" cy="89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ko-KR" altLang="en-US" sz="3500" strike="sngStrike" spc="35" dirty="0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결과</a:t>
            </a:r>
            <a:endParaRPr lang="en-US" sz="3500" strike="sngStrike" spc="35" dirty="0">
              <a:solidFill>
                <a:srgbClr val="6274CF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678334" y="6845677"/>
            <a:ext cx="5403203" cy="89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ko-KR" altLang="en-US" sz="3500" strike="sngStrike" spc="35" dirty="0" err="1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느낀점</a:t>
            </a:r>
            <a:endParaRPr lang="en-US" sz="3500" strike="sngStrike" spc="35" dirty="0">
              <a:solidFill>
                <a:srgbClr val="6274CF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2927462" y="3724600"/>
            <a:ext cx="5403203" cy="89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ko-KR" altLang="en-US" sz="3500" spc="35" dirty="0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프로젝트 주제 </a:t>
            </a:r>
            <a:endParaRPr lang="en-US" sz="3500" spc="35" dirty="0">
              <a:solidFill>
                <a:srgbClr val="6274CF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927462" y="4766181"/>
            <a:ext cx="5403203" cy="89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ko-KR" altLang="en-US" sz="3500" spc="35" dirty="0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주제 선정 동기</a:t>
            </a:r>
            <a:endParaRPr lang="en-US" sz="3500" spc="35" dirty="0">
              <a:solidFill>
                <a:srgbClr val="6274CF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2927462" y="5805929"/>
            <a:ext cx="5403203" cy="89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ko-KR" altLang="en-US" sz="3500" spc="35" dirty="0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데이터셋 구성 및 </a:t>
            </a:r>
            <a:r>
              <a:rPr lang="ko-KR" altLang="en-US" sz="3500" spc="35" dirty="0" err="1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전처리</a:t>
            </a:r>
            <a:endParaRPr lang="en-US" sz="3500" spc="35" dirty="0">
              <a:solidFill>
                <a:srgbClr val="6274CF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2927462" y="6845677"/>
            <a:ext cx="5403203" cy="89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ko-KR" altLang="en-US" sz="3500" spc="35" dirty="0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모델 구조 및 처리 흐름도</a:t>
            </a:r>
            <a:endParaRPr lang="en-US" sz="3500" spc="35" dirty="0">
              <a:solidFill>
                <a:srgbClr val="6274CF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144562" y="3762493"/>
            <a:ext cx="8069615" cy="560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ko-KR" altLang="en-US" sz="3600" b="1" dirty="0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야간 표지판 탐지 및 텍스트 인식 시스템</a:t>
            </a:r>
            <a:endParaRPr lang="en-US" sz="3600" b="1" dirty="0">
              <a:solidFill>
                <a:srgbClr val="6274CF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4562" y="409575"/>
            <a:ext cx="1396179" cy="1260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b="1" spc="132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4562" y="1306830"/>
            <a:ext cx="5301543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ko-KR" altLang="en-US" sz="5200" b="1" dirty="0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프로젝트 주제</a:t>
            </a:r>
            <a:endParaRPr lang="en-US" sz="5200" b="1" dirty="0">
              <a:solidFill>
                <a:srgbClr val="252525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44562" y="4500470"/>
            <a:ext cx="8069615" cy="3986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1"/>
              </a:lnSpc>
            </a:pP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어두운 조건에서도 교통 표지판을 탐지하고</a:t>
            </a:r>
            <a:r>
              <a:rPr lang="en-US" altLang="ko-KR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해당 표지판의 텍스트를 인식하는 시스템 구현</a:t>
            </a:r>
            <a:endParaRPr lang="en-US" altLang="ko-KR" sz="2599" spc="25" dirty="0">
              <a:solidFill>
                <a:srgbClr val="252525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4471"/>
              </a:lnSpc>
            </a:pPr>
            <a:endParaRPr lang="en-US" sz="2599" spc="25" dirty="0">
              <a:solidFill>
                <a:srgbClr val="252525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4471"/>
              </a:lnSpc>
            </a:pP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목표 </a:t>
            </a:r>
            <a:r>
              <a:rPr lang="en-US" altLang="ko-KR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:</a:t>
            </a:r>
          </a:p>
          <a:p>
            <a:pPr algn="l">
              <a:lnSpc>
                <a:spcPts val="4471"/>
              </a:lnSpc>
            </a:pPr>
            <a:r>
              <a:rPr 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  - </a:t>
            </a: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어두운 환경에서도 표지판 인식 정확도 확보</a:t>
            </a:r>
            <a:endParaRPr lang="en-US" altLang="ko-KR" sz="2599" spc="25" dirty="0">
              <a:solidFill>
                <a:srgbClr val="252525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4471"/>
              </a:lnSpc>
            </a:pPr>
            <a:r>
              <a:rPr 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  - Yolo </a:t>
            </a: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모델을 이용한 객체 탐지</a:t>
            </a:r>
            <a:endParaRPr lang="en-US" altLang="ko-KR" sz="2599" spc="25" dirty="0">
              <a:solidFill>
                <a:srgbClr val="252525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4471"/>
              </a:lnSpc>
            </a:pPr>
            <a:r>
              <a:rPr 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  - OCR</a:t>
            </a: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을 활용한 텍스트 추출</a:t>
            </a:r>
            <a:endParaRPr lang="en-US" sz="2599" spc="25" dirty="0">
              <a:solidFill>
                <a:srgbClr val="252525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pic>
        <p:nvPicPr>
          <p:cNvPr id="1034" name="Picture 10" descr="규제표지 교통안전 표지판 알루미늄 도로 안전 통행금지 - 시계코리아">
            <a:extLst>
              <a:ext uri="{FF2B5EF4-FFF2-40B4-BE49-F238E27FC236}">
                <a16:creationId xmlns:a16="http://schemas.microsoft.com/office/drawing/2014/main" id="{3C76B8D3-DD86-82C5-BC0D-7C702004F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3086100"/>
            <a:ext cx="64008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144562" y="2953040"/>
            <a:ext cx="6399238" cy="819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99"/>
              </a:lnSpc>
            </a:pPr>
            <a:r>
              <a:rPr lang="ko-KR" altLang="en-US" sz="3599" b="1" spc="35" dirty="0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현업 연관성</a:t>
            </a:r>
            <a:r>
              <a:rPr lang="en-US" altLang="ko-KR" sz="3599" b="1" spc="35" dirty="0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, </a:t>
            </a:r>
            <a:r>
              <a:rPr lang="ko-KR" altLang="en-US" sz="3599" b="1" spc="35" dirty="0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기술적 배경</a:t>
            </a:r>
            <a:endParaRPr lang="en-US" sz="3599" b="1" spc="35" dirty="0">
              <a:solidFill>
                <a:srgbClr val="6274CF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44562" y="3853038"/>
            <a:ext cx="12800038" cy="1816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23" dirty="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- </a:t>
            </a:r>
            <a:r>
              <a:rPr lang="ko-KR" altLang="en-US" sz="2399" spc="23" dirty="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자율주행 및 원격운전에서 야간 객체 탐지는 정확도 저하 문제가 큼</a:t>
            </a:r>
            <a:endParaRPr lang="en-US" altLang="ko-KR" sz="2399" spc="23" dirty="0">
              <a:solidFill>
                <a:srgbClr val="000000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  <a:p>
            <a:pPr algn="l">
              <a:lnSpc>
                <a:spcPts val="3599"/>
              </a:lnSpc>
            </a:pPr>
            <a:r>
              <a:rPr lang="en-US" sz="2399" spc="23" dirty="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- </a:t>
            </a:r>
            <a:r>
              <a:rPr lang="ko-KR" altLang="en-US" sz="2399" spc="23" dirty="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특히 표지판 및 경고 문구는 야간에 인식되지 않으면 안전사고로 직결</a:t>
            </a:r>
            <a:endParaRPr lang="en-US" altLang="ko-KR" sz="2399" spc="23" dirty="0">
              <a:solidFill>
                <a:srgbClr val="000000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  <a:p>
            <a:pPr algn="l">
              <a:lnSpc>
                <a:spcPts val="3599"/>
              </a:lnSpc>
            </a:pPr>
            <a:r>
              <a:rPr lang="en-US" sz="2399" spc="23" dirty="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- Yolo</a:t>
            </a:r>
            <a:r>
              <a:rPr lang="ko-KR" altLang="en-US" sz="2399" spc="23" dirty="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와 </a:t>
            </a:r>
            <a:r>
              <a:rPr lang="en-US" altLang="ko-KR" sz="2399" spc="23" dirty="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OCR</a:t>
            </a:r>
            <a:r>
              <a:rPr lang="ko-KR" altLang="en-US" sz="2399" spc="23" dirty="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을 결합하여 실시간으로 야간 경고 탐지와</a:t>
            </a:r>
            <a:r>
              <a:rPr lang="en-US" altLang="ko-KR" sz="2399" spc="23" dirty="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ko-KR" altLang="en-US" sz="2399" spc="23" dirty="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텍스트 해석이</a:t>
            </a:r>
            <a:endParaRPr lang="en-US" altLang="ko-KR" sz="2399" spc="23" dirty="0">
              <a:solidFill>
                <a:srgbClr val="000000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  <a:p>
            <a:pPr algn="l">
              <a:lnSpc>
                <a:spcPts val="3599"/>
              </a:lnSpc>
            </a:pPr>
            <a:r>
              <a:rPr lang="en-US" altLang="ko-KR" sz="2399" spc="23" dirty="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</a:t>
            </a:r>
            <a:r>
              <a:rPr lang="ko-KR" altLang="en-US" sz="2399" spc="23" dirty="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가능하게 함</a:t>
            </a:r>
            <a:endParaRPr lang="en-US" sz="2399" spc="23" dirty="0">
              <a:solidFill>
                <a:srgbClr val="000000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4562" y="1306830"/>
            <a:ext cx="5301543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ko-KR" altLang="en-US" sz="5200" b="1" dirty="0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주제 선정 동기</a:t>
            </a:r>
            <a:endParaRPr lang="en-US" sz="5200" b="1" dirty="0">
              <a:solidFill>
                <a:srgbClr val="252525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F31A3A3-0D1C-8AFE-9046-3215A26EA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740" y="6667500"/>
            <a:ext cx="4446661" cy="157178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A623B9E-7346-381D-D84A-A1F14C751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4610100"/>
            <a:ext cx="7162800" cy="5417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6328" y="3302421"/>
            <a:ext cx="7110540" cy="1360842"/>
            <a:chOff x="0" y="0"/>
            <a:chExt cx="1872735" cy="3584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2735" cy="358411"/>
            </a:xfrm>
            <a:custGeom>
              <a:avLst/>
              <a:gdLst/>
              <a:ahLst/>
              <a:cxnLst/>
              <a:rect l="l" t="t" r="r" b="b"/>
              <a:pathLst>
                <a:path w="1872735" h="358411">
                  <a:moveTo>
                    <a:pt x="1669535" y="0"/>
                  </a:moveTo>
                  <a:cubicBezTo>
                    <a:pt x="1781759" y="0"/>
                    <a:pt x="1872735" y="80233"/>
                    <a:pt x="1872735" y="179206"/>
                  </a:cubicBezTo>
                  <a:cubicBezTo>
                    <a:pt x="1872735" y="278178"/>
                    <a:pt x="1781759" y="358411"/>
                    <a:pt x="1669535" y="358411"/>
                  </a:cubicBezTo>
                  <a:lnTo>
                    <a:pt x="203200" y="358411"/>
                  </a:lnTo>
                  <a:cubicBezTo>
                    <a:pt x="90976" y="358411"/>
                    <a:pt x="0" y="278178"/>
                    <a:pt x="0" y="179206"/>
                  </a:cubicBezTo>
                  <a:cubicBezTo>
                    <a:pt x="0" y="80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6274C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872735" cy="434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121133" y="3302421"/>
            <a:ext cx="7110540" cy="1360842"/>
            <a:chOff x="0" y="0"/>
            <a:chExt cx="1872735" cy="3584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72735" cy="358411"/>
            </a:xfrm>
            <a:custGeom>
              <a:avLst/>
              <a:gdLst/>
              <a:ahLst/>
              <a:cxnLst/>
              <a:rect l="l" t="t" r="r" b="b"/>
              <a:pathLst>
                <a:path w="1872735" h="358411">
                  <a:moveTo>
                    <a:pt x="1669535" y="0"/>
                  </a:moveTo>
                  <a:cubicBezTo>
                    <a:pt x="1781759" y="0"/>
                    <a:pt x="1872735" y="80233"/>
                    <a:pt x="1872735" y="179206"/>
                  </a:cubicBezTo>
                  <a:cubicBezTo>
                    <a:pt x="1872735" y="278178"/>
                    <a:pt x="1781759" y="358411"/>
                    <a:pt x="1669535" y="358411"/>
                  </a:cubicBezTo>
                  <a:lnTo>
                    <a:pt x="203200" y="358411"/>
                  </a:lnTo>
                  <a:cubicBezTo>
                    <a:pt x="90976" y="358411"/>
                    <a:pt x="0" y="278178"/>
                    <a:pt x="0" y="179206"/>
                  </a:cubicBezTo>
                  <a:cubicBezTo>
                    <a:pt x="0" y="80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872735" cy="434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56328" y="5472675"/>
            <a:ext cx="7110540" cy="1360842"/>
            <a:chOff x="0" y="0"/>
            <a:chExt cx="1872735" cy="3584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2735" cy="358411"/>
            </a:xfrm>
            <a:custGeom>
              <a:avLst/>
              <a:gdLst/>
              <a:ahLst/>
              <a:cxnLst/>
              <a:rect l="l" t="t" r="r" b="b"/>
              <a:pathLst>
                <a:path w="1872735" h="358411">
                  <a:moveTo>
                    <a:pt x="1669535" y="0"/>
                  </a:moveTo>
                  <a:cubicBezTo>
                    <a:pt x="1781759" y="0"/>
                    <a:pt x="1872735" y="80233"/>
                    <a:pt x="1872735" y="179206"/>
                  </a:cubicBezTo>
                  <a:cubicBezTo>
                    <a:pt x="1872735" y="278178"/>
                    <a:pt x="1781759" y="358411"/>
                    <a:pt x="1669535" y="358411"/>
                  </a:cubicBezTo>
                  <a:lnTo>
                    <a:pt x="203200" y="358411"/>
                  </a:lnTo>
                  <a:cubicBezTo>
                    <a:pt x="90976" y="358411"/>
                    <a:pt x="0" y="278178"/>
                    <a:pt x="0" y="179206"/>
                  </a:cubicBezTo>
                  <a:cubicBezTo>
                    <a:pt x="0" y="80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6274C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1872735" cy="434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21133" y="5472675"/>
            <a:ext cx="7110540" cy="1360842"/>
            <a:chOff x="0" y="0"/>
            <a:chExt cx="1872735" cy="3584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2735" cy="358411"/>
            </a:xfrm>
            <a:custGeom>
              <a:avLst/>
              <a:gdLst/>
              <a:ahLst/>
              <a:cxnLst/>
              <a:rect l="l" t="t" r="r" b="b"/>
              <a:pathLst>
                <a:path w="1872735" h="358411">
                  <a:moveTo>
                    <a:pt x="1669535" y="0"/>
                  </a:moveTo>
                  <a:cubicBezTo>
                    <a:pt x="1781759" y="0"/>
                    <a:pt x="1872735" y="80233"/>
                    <a:pt x="1872735" y="179206"/>
                  </a:cubicBezTo>
                  <a:cubicBezTo>
                    <a:pt x="1872735" y="278178"/>
                    <a:pt x="1781759" y="358411"/>
                    <a:pt x="1669535" y="358411"/>
                  </a:cubicBezTo>
                  <a:lnTo>
                    <a:pt x="203200" y="358411"/>
                  </a:lnTo>
                  <a:cubicBezTo>
                    <a:pt x="90976" y="358411"/>
                    <a:pt x="0" y="278178"/>
                    <a:pt x="0" y="179206"/>
                  </a:cubicBezTo>
                  <a:cubicBezTo>
                    <a:pt x="0" y="80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872735" cy="434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56328" y="7643142"/>
            <a:ext cx="7110540" cy="1360842"/>
            <a:chOff x="0" y="0"/>
            <a:chExt cx="1872735" cy="3584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72735" cy="358411"/>
            </a:xfrm>
            <a:custGeom>
              <a:avLst/>
              <a:gdLst/>
              <a:ahLst/>
              <a:cxnLst/>
              <a:rect l="l" t="t" r="r" b="b"/>
              <a:pathLst>
                <a:path w="1872735" h="358411">
                  <a:moveTo>
                    <a:pt x="1669535" y="0"/>
                  </a:moveTo>
                  <a:cubicBezTo>
                    <a:pt x="1781759" y="0"/>
                    <a:pt x="1872735" y="80233"/>
                    <a:pt x="1872735" y="179206"/>
                  </a:cubicBezTo>
                  <a:cubicBezTo>
                    <a:pt x="1872735" y="278178"/>
                    <a:pt x="1781759" y="358411"/>
                    <a:pt x="1669535" y="358411"/>
                  </a:cubicBezTo>
                  <a:lnTo>
                    <a:pt x="203200" y="358411"/>
                  </a:lnTo>
                  <a:cubicBezTo>
                    <a:pt x="90976" y="358411"/>
                    <a:pt x="0" y="278178"/>
                    <a:pt x="0" y="179206"/>
                  </a:cubicBezTo>
                  <a:cubicBezTo>
                    <a:pt x="0" y="80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6274C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872735" cy="434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121133" y="7643142"/>
            <a:ext cx="7110540" cy="1360842"/>
            <a:chOff x="0" y="0"/>
            <a:chExt cx="1872735" cy="3584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72735" cy="358411"/>
            </a:xfrm>
            <a:custGeom>
              <a:avLst/>
              <a:gdLst/>
              <a:ahLst/>
              <a:cxnLst/>
              <a:rect l="l" t="t" r="r" b="b"/>
              <a:pathLst>
                <a:path w="1872735" h="358411">
                  <a:moveTo>
                    <a:pt x="1669535" y="0"/>
                  </a:moveTo>
                  <a:cubicBezTo>
                    <a:pt x="1781759" y="0"/>
                    <a:pt x="1872735" y="80233"/>
                    <a:pt x="1872735" y="179206"/>
                  </a:cubicBezTo>
                  <a:cubicBezTo>
                    <a:pt x="1872735" y="278178"/>
                    <a:pt x="1781759" y="358411"/>
                    <a:pt x="1669535" y="358411"/>
                  </a:cubicBezTo>
                  <a:lnTo>
                    <a:pt x="203200" y="358411"/>
                  </a:lnTo>
                  <a:cubicBezTo>
                    <a:pt x="90976" y="358411"/>
                    <a:pt x="0" y="278178"/>
                    <a:pt x="0" y="179206"/>
                  </a:cubicBezTo>
                  <a:cubicBezTo>
                    <a:pt x="0" y="80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872735" cy="434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9348789" y="3663023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3"/>
                </a:lnTo>
                <a:lnTo>
                  <a:pt x="0" y="612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348789" y="5846930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2"/>
                </a:lnTo>
                <a:lnTo>
                  <a:pt x="0" y="61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348789" y="8007853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2"/>
                </a:lnTo>
                <a:lnTo>
                  <a:pt x="0" y="61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8939211" y="3663023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3"/>
                </a:lnTo>
                <a:lnTo>
                  <a:pt x="0" y="61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939211" y="5846930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2"/>
                </a:lnTo>
                <a:lnTo>
                  <a:pt x="0" y="612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939211" y="8007853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2"/>
                </a:lnTo>
                <a:lnTo>
                  <a:pt x="0" y="612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529633" y="3663023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3"/>
                </a:lnTo>
                <a:lnTo>
                  <a:pt x="0" y="6123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529633" y="5846930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2"/>
                </a:lnTo>
                <a:lnTo>
                  <a:pt x="0" y="612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8529633" y="8007853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2"/>
                </a:lnTo>
                <a:lnTo>
                  <a:pt x="0" y="612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4562" y="1306830"/>
            <a:ext cx="9610408" cy="11844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ko-KR" altLang="en-US" sz="5200" b="1" dirty="0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사용 데이터 및 </a:t>
            </a:r>
            <a:r>
              <a:rPr lang="ko-KR" altLang="en-US" sz="5200" b="1" dirty="0" err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전처리</a:t>
            </a:r>
            <a:r>
              <a:rPr lang="ko-KR" altLang="en-US" sz="5200" b="1" dirty="0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방법</a:t>
            </a:r>
            <a:endParaRPr lang="en-US" sz="5200" b="1" dirty="0">
              <a:solidFill>
                <a:srgbClr val="252525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620936" y="3479287"/>
            <a:ext cx="5912096" cy="73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ko-KR" altLang="en-US" sz="3200" b="1" spc="32" dirty="0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사용 데이터</a:t>
            </a:r>
            <a:endParaRPr lang="en-US" sz="3200" b="1" spc="32" dirty="0">
              <a:solidFill>
                <a:srgbClr val="6274CF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720354" y="3479287"/>
            <a:ext cx="5912096" cy="73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ko-KR" altLang="en-US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야간 도로 이미지</a:t>
            </a:r>
            <a:r>
              <a:rPr lang="en-US" altLang="ko-KR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(</a:t>
            </a:r>
            <a:r>
              <a:rPr lang="ko-KR" altLang="en-US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공개 데이터셋</a:t>
            </a:r>
            <a:r>
              <a:rPr lang="en-US" altLang="ko-KR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)</a:t>
            </a:r>
            <a:endParaRPr lang="en-US" sz="3200" b="1" spc="32" dirty="0">
              <a:solidFill>
                <a:srgbClr val="FFFFFF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620936" y="5661026"/>
            <a:ext cx="5912096" cy="73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ko-KR" altLang="en-US" sz="3200" b="1" spc="32" dirty="0" err="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전처리</a:t>
            </a:r>
            <a:r>
              <a:rPr lang="ko-KR" altLang="en-US" sz="3200" b="1" spc="32" dirty="0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방법</a:t>
            </a:r>
            <a:endParaRPr lang="en-US" sz="3200" b="1" spc="32" dirty="0">
              <a:solidFill>
                <a:srgbClr val="6274CF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720354" y="5661026"/>
            <a:ext cx="5912096" cy="728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ko-KR" altLang="en-US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밝기</a:t>
            </a:r>
            <a:r>
              <a:rPr lang="en-US" altLang="ko-KR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,contrast </a:t>
            </a:r>
            <a:r>
              <a:rPr lang="ko-KR" altLang="en-US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보정</a:t>
            </a:r>
            <a:r>
              <a:rPr lang="en-US" altLang="ko-KR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/noise </a:t>
            </a:r>
            <a:r>
              <a:rPr lang="ko-KR" altLang="en-US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제거</a:t>
            </a:r>
            <a:endParaRPr lang="en-US" sz="3200" b="1" spc="32" dirty="0">
              <a:solidFill>
                <a:srgbClr val="FFFFFF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620936" y="7824117"/>
            <a:ext cx="5912096" cy="73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ko-KR" altLang="en-US" sz="3200" b="1" spc="32" dirty="0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데이터 부족 시</a:t>
            </a:r>
            <a:endParaRPr lang="en-US" sz="3200" b="1" spc="32" dirty="0">
              <a:solidFill>
                <a:srgbClr val="6274CF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720354" y="7824117"/>
            <a:ext cx="5912096" cy="728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ko-KR" altLang="en-US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데이터 증강</a:t>
            </a:r>
            <a:endParaRPr lang="en-US" sz="3200" b="1" spc="32" dirty="0">
              <a:solidFill>
                <a:srgbClr val="FFFFFF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 dirty="0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4562" y="1306830"/>
            <a:ext cx="9142778" cy="11844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ko-KR" altLang="en-US" sz="5200" b="1" dirty="0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적용 알고리즘 및 흐름도</a:t>
            </a:r>
            <a:endParaRPr lang="en-US" sz="5200" b="1" dirty="0">
              <a:solidFill>
                <a:srgbClr val="252525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ABFA086-EC86-4621-00DB-153A07C48C5B}"/>
              </a:ext>
            </a:extLst>
          </p:cNvPr>
          <p:cNvGrpSpPr/>
          <p:nvPr/>
        </p:nvGrpSpPr>
        <p:grpSpPr>
          <a:xfrm>
            <a:off x="276893" y="4991100"/>
            <a:ext cx="3177312" cy="1360842"/>
            <a:chOff x="1447800" y="3302421"/>
            <a:chExt cx="4481592" cy="1360842"/>
          </a:xfrm>
        </p:grpSpPr>
        <p:grpSp>
          <p:nvGrpSpPr>
            <p:cNvPr id="18" name="Group 2">
              <a:extLst>
                <a:ext uri="{FF2B5EF4-FFF2-40B4-BE49-F238E27FC236}">
                  <a16:creationId xmlns:a16="http://schemas.microsoft.com/office/drawing/2014/main" id="{C2D81698-7021-C9DE-74AD-FD1F7815C359}"/>
                </a:ext>
              </a:extLst>
            </p:cNvPr>
            <p:cNvGrpSpPr/>
            <p:nvPr/>
          </p:nvGrpSpPr>
          <p:grpSpPr>
            <a:xfrm>
              <a:off x="1447800" y="3302421"/>
              <a:ext cx="4481592" cy="1360842"/>
              <a:chOff x="0" y="0"/>
              <a:chExt cx="1872735" cy="358411"/>
            </a:xfrm>
          </p:grpSpPr>
          <p:sp>
            <p:nvSpPr>
              <p:cNvPr id="19" name="Freeform 3">
                <a:extLst>
                  <a:ext uri="{FF2B5EF4-FFF2-40B4-BE49-F238E27FC236}">
                    <a16:creationId xmlns:a16="http://schemas.microsoft.com/office/drawing/2014/main" id="{4B0ECF0F-C0F8-B539-C0CF-2A8769E1465E}"/>
                  </a:ext>
                </a:extLst>
              </p:cNvPr>
              <p:cNvSpPr/>
              <p:nvPr/>
            </p:nvSpPr>
            <p:spPr>
              <a:xfrm>
                <a:off x="0" y="0"/>
                <a:ext cx="1872735" cy="358411"/>
              </a:xfrm>
              <a:custGeom>
                <a:avLst/>
                <a:gdLst/>
                <a:ahLst/>
                <a:cxnLst/>
                <a:rect l="l" t="t" r="r" b="b"/>
                <a:pathLst>
                  <a:path w="1872735" h="358411">
                    <a:moveTo>
                      <a:pt x="1669535" y="0"/>
                    </a:moveTo>
                    <a:cubicBezTo>
                      <a:pt x="1781759" y="0"/>
                      <a:pt x="1872735" y="80233"/>
                      <a:pt x="1872735" y="179206"/>
                    </a:cubicBezTo>
                    <a:cubicBezTo>
                      <a:pt x="1872735" y="278178"/>
                      <a:pt x="1781759" y="358411"/>
                      <a:pt x="1669535" y="358411"/>
                    </a:cubicBezTo>
                    <a:lnTo>
                      <a:pt x="203200" y="358411"/>
                    </a:lnTo>
                    <a:cubicBezTo>
                      <a:pt x="90976" y="358411"/>
                      <a:pt x="0" y="278178"/>
                      <a:pt x="0" y="179206"/>
                    </a:cubicBezTo>
                    <a:cubicBezTo>
                      <a:pt x="0" y="8023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6274CF"/>
                </a:solidFill>
                <a:prstDash val="solid"/>
                <a:miter/>
              </a:ln>
            </p:spPr>
          </p:sp>
          <p:sp>
            <p:nvSpPr>
              <p:cNvPr id="20" name="TextBox 4">
                <a:extLst>
                  <a:ext uri="{FF2B5EF4-FFF2-40B4-BE49-F238E27FC236}">
                    <a16:creationId xmlns:a16="http://schemas.microsoft.com/office/drawing/2014/main" id="{A254CAB2-E453-72CC-30EA-DB4336FB7FA6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1872735" cy="4346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8"/>
                  </a:lnSpc>
                </a:pPr>
                <a:endParaRPr/>
              </a:p>
            </p:txBody>
          </p:sp>
        </p:grpSp>
        <p:sp>
          <p:nvSpPr>
            <p:cNvPr id="27" name="TextBox 31">
              <a:extLst>
                <a:ext uri="{FF2B5EF4-FFF2-40B4-BE49-F238E27FC236}">
                  <a16:creationId xmlns:a16="http://schemas.microsoft.com/office/drawing/2014/main" id="{B304ADCE-8A14-4831-187E-A2FCA3D2C2E6}"/>
                </a:ext>
              </a:extLst>
            </p:cNvPr>
            <p:cNvSpPr txBox="1"/>
            <p:nvPr/>
          </p:nvSpPr>
          <p:spPr>
            <a:xfrm>
              <a:off x="1858277" y="3540817"/>
              <a:ext cx="3689883" cy="728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400"/>
                </a:lnSpc>
              </a:pPr>
              <a:r>
                <a:rPr lang="en-US" sz="3200" b="1" spc="32" dirty="0">
                  <a:solidFill>
                    <a:srgbClr val="6274C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Image Input</a:t>
              </a:r>
            </a:p>
          </p:txBody>
        </p:sp>
      </p:grpSp>
      <p:sp>
        <p:nvSpPr>
          <p:cNvPr id="28" name="TextBox 32">
            <a:extLst>
              <a:ext uri="{FF2B5EF4-FFF2-40B4-BE49-F238E27FC236}">
                <a16:creationId xmlns:a16="http://schemas.microsoft.com/office/drawing/2014/main" id="{8EBF70FF-004C-2A03-424A-99DF9492599F}"/>
              </a:ext>
            </a:extLst>
          </p:cNvPr>
          <p:cNvSpPr txBox="1"/>
          <p:nvPr/>
        </p:nvSpPr>
        <p:spPr>
          <a:xfrm>
            <a:off x="10287340" y="3516919"/>
            <a:ext cx="5912096" cy="73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ko-KR" altLang="en-US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야간 도로 이미지</a:t>
            </a:r>
            <a:r>
              <a:rPr lang="en-US" altLang="ko-KR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(</a:t>
            </a:r>
            <a:r>
              <a:rPr lang="ko-KR" altLang="en-US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공개 데이터셋</a:t>
            </a:r>
            <a:r>
              <a:rPr lang="en-US" altLang="ko-KR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)</a:t>
            </a:r>
            <a:endParaRPr lang="en-US" sz="3200" b="1" spc="32" dirty="0">
              <a:solidFill>
                <a:srgbClr val="FFFFFF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176D1A8-FD05-D17D-3713-FE568FAA0AAB}"/>
              </a:ext>
            </a:extLst>
          </p:cNvPr>
          <p:cNvGrpSpPr/>
          <p:nvPr/>
        </p:nvGrpSpPr>
        <p:grpSpPr>
          <a:xfrm>
            <a:off x="3454205" y="2906131"/>
            <a:ext cx="4726437" cy="1650164"/>
            <a:chOff x="6888671" y="2973485"/>
            <a:chExt cx="5351601" cy="1650164"/>
          </a:xfrm>
        </p:grpSpPr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B59A9662-0E08-5B3C-5968-2402799DD4FC}"/>
                </a:ext>
              </a:extLst>
            </p:cNvPr>
            <p:cNvGrpSpPr/>
            <p:nvPr/>
          </p:nvGrpSpPr>
          <p:grpSpPr>
            <a:xfrm>
              <a:off x="6888671" y="2973485"/>
              <a:ext cx="3976970" cy="1650164"/>
              <a:chOff x="0" y="-76200"/>
              <a:chExt cx="1872735" cy="43461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5B3F3559-4A33-DBC7-65B5-1DE2253880ED}"/>
                  </a:ext>
                </a:extLst>
              </p:cNvPr>
              <p:cNvSpPr/>
              <p:nvPr/>
            </p:nvSpPr>
            <p:spPr>
              <a:xfrm>
                <a:off x="0" y="0"/>
                <a:ext cx="1872735" cy="358411"/>
              </a:xfrm>
              <a:custGeom>
                <a:avLst/>
                <a:gdLst/>
                <a:ahLst/>
                <a:cxnLst/>
                <a:rect l="l" t="t" r="r" b="b"/>
                <a:pathLst>
                  <a:path w="1872735" h="358411">
                    <a:moveTo>
                      <a:pt x="1669535" y="0"/>
                    </a:moveTo>
                    <a:cubicBezTo>
                      <a:pt x="1781759" y="0"/>
                      <a:pt x="1872735" y="80233"/>
                      <a:pt x="1872735" y="179206"/>
                    </a:cubicBezTo>
                    <a:cubicBezTo>
                      <a:pt x="1872735" y="278178"/>
                      <a:pt x="1781759" y="358411"/>
                      <a:pt x="1669535" y="358411"/>
                    </a:cubicBezTo>
                    <a:lnTo>
                      <a:pt x="203200" y="358411"/>
                    </a:lnTo>
                    <a:cubicBezTo>
                      <a:pt x="90976" y="358411"/>
                      <a:pt x="0" y="278178"/>
                      <a:pt x="0" y="179206"/>
                    </a:cubicBezTo>
                    <a:cubicBezTo>
                      <a:pt x="0" y="8023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274CF"/>
              </a:solid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A57B3911-8041-AB5F-C2D5-D9AAA0B48CF1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1872735" cy="4346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8"/>
                  </a:lnSpc>
                </a:pPr>
                <a:endParaRPr/>
              </a:p>
            </p:txBody>
          </p:sp>
        </p:grpSp>
        <p:sp>
          <p:nvSpPr>
            <p:cNvPr id="31" name="TextBox 32">
              <a:extLst>
                <a:ext uri="{FF2B5EF4-FFF2-40B4-BE49-F238E27FC236}">
                  <a16:creationId xmlns:a16="http://schemas.microsoft.com/office/drawing/2014/main" id="{6BF13F0E-69D3-1F0C-903A-D222612027FB}"/>
                </a:ext>
              </a:extLst>
            </p:cNvPr>
            <p:cNvSpPr txBox="1"/>
            <p:nvPr/>
          </p:nvSpPr>
          <p:spPr>
            <a:xfrm>
              <a:off x="7099014" y="3479669"/>
              <a:ext cx="5141258" cy="7321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400"/>
                </a:lnSpc>
              </a:pPr>
              <a:r>
                <a:rPr lang="en-US" sz="3200" b="1" spc="32" dirty="0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Yolo</a:t>
              </a:r>
              <a:r>
                <a:rPr lang="ko-KR" altLang="en-US" sz="3200" b="1" spc="32" dirty="0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 </a:t>
              </a:r>
              <a:r>
                <a:rPr lang="en-US" altLang="ko-KR" sz="3200" b="1" spc="32" dirty="0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Detection</a:t>
              </a:r>
              <a:endParaRPr lang="en-US" sz="3200" b="1" spc="32" dirty="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89C57BD-6549-428D-9712-230847DEE66B}"/>
              </a:ext>
            </a:extLst>
          </p:cNvPr>
          <p:cNvGrpSpPr/>
          <p:nvPr/>
        </p:nvGrpSpPr>
        <p:grpSpPr>
          <a:xfrm>
            <a:off x="7531984" y="3142229"/>
            <a:ext cx="2429563" cy="1360842"/>
            <a:chOff x="1447800" y="3302421"/>
            <a:chExt cx="4481592" cy="1360842"/>
          </a:xfrm>
        </p:grpSpPr>
        <p:grpSp>
          <p:nvGrpSpPr>
            <p:cNvPr id="35" name="Group 2">
              <a:extLst>
                <a:ext uri="{FF2B5EF4-FFF2-40B4-BE49-F238E27FC236}">
                  <a16:creationId xmlns:a16="http://schemas.microsoft.com/office/drawing/2014/main" id="{6CC5B233-9942-0D1B-C5DD-15D2FDD196D4}"/>
                </a:ext>
              </a:extLst>
            </p:cNvPr>
            <p:cNvGrpSpPr/>
            <p:nvPr/>
          </p:nvGrpSpPr>
          <p:grpSpPr>
            <a:xfrm>
              <a:off x="1447800" y="3302421"/>
              <a:ext cx="4481592" cy="1360842"/>
              <a:chOff x="0" y="0"/>
              <a:chExt cx="1872735" cy="358411"/>
            </a:xfrm>
          </p:grpSpPr>
          <p:sp>
            <p:nvSpPr>
              <p:cNvPr id="37" name="Freeform 3">
                <a:extLst>
                  <a:ext uri="{FF2B5EF4-FFF2-40B4-BE49-F238E27FC236}">
                    <a16:creationId xmlns:a16="http://schemas.microsoft.com/office/drawing/2014/main" id="{6AF0B3EE-CEB1-0201-911C-8E71FA7F0EC7}"/>
                  </a:ext>
                </a:extLst>
              </p:cNvPr>
              <p:cNvSpPr/>
              <p:nvPr/>
            </p:nvSpPr>
            <p:spPr>
              <a:xfrm>
                <a:off x="0" y="0"/>
                <a:ext cx="1872735" cy="358411"/>
              </a:xfrm>
              <a:custGeom>
                <a:avLst/>
                <a:gdLst/>
                <a:ahLst/>
                <a:cxnLst/>
                <a:rect l="l" t="t" r="r" b="b"/>
                <a:pathLst>
                  <a:path w="1872735" h="358411">
                    <a:moveTo>
                      <a:pt x="1669535" y="0"/>
                    </a:moveTo>
                    <a:cubicBezTo>
                      <a:pt x="1781759" y="0"/>
                      <a:pt x="1872735" y="80233"/>
                      <a:pt x="1872735" y="179206"/>
                    </a:cubicBezTo>
                    <a:cubicBezTo>
                      <a:pt x="1872735" y="278178"/>
                      <a:pt x="1781759" y="358411"/>
                      <a:pt x="1669535" y="358411"/>
                    </a:cubicBezTo>
                    <a:lnTo>
                      <a:pt x="203200" y="358411"/>
                    </a:lnTo>
                    <a:cubicBezTo>
                      <a:pt x="90976" y="358411"/>
                      <a:pt x="0" y="278178"/>
                      <a:pt x="0" y="179206"/>
                    </a:cubicBezTo>
                    <a:cubicBezTo>
                      <a:pt x="0" y="8023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6274CF"/>
                </a:solidFill>
                <a:prstDash val="solid"/>
                <a:miter/>
              </a:ln>
            </p:spPr>
          </p:sp>
          <p:sp>
            <p:nvSpPr>
              <p:cNvPr id="38" name="TextBox 4">
                <a:extLst>
                  <a:ext uri="{FF2B5EF4-FFF2-40B4-BE49-F238E27FC236}">
                    <a16:creationId xmlns:a16="http://schemas.microsoft.com/office/drawing/2014/main" id="{10CA5802-A85D-2786-6420-DA6FBF37E8E2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1872735" cy="4346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8"/>
                  </a:lnSpc>
                </a:pPr>
                <a:endParaRPr/>
              </a:p>
            </p:txBody>
          </p:sp>
        </p:grpSp>
        <p:sp>
          <p:nvSpPr>
            <p:cNvPr id="36" name="TextBox 31">
              <a:extLst>
                <a:ext uri="{FF2B5EF4-FFF2-40B4-BE49-F238E27FC236}">
                  <a16:creationId xmlns:a16="http://schemas.microsoft.com/office/drawing/2014/main" id="{8D5D6095-8758-ED20-2204-D0BE1E407614}"/>
                </a:ext>
              </a:extLst>
            </p:cNvPr>
            <p:cNvSpPr txBox="1"/>
            <p:nvPr/>
          </p:nvSpPr>
          <p:spPr>
            <a:xfrm>
              <a:off x="1858277" y="3540817"/>
              <a:ext cx="3689883" cy="728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400"/>
                </a:lnSpc>
              </a:pPr>
              <a:r>
                <a:rPr lang="en-US" sz="3200" b="1" spc="32" dirty="0">
                  <a:solidFill>
                    <a:srgbClr val="6274C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Crop ROI</a:t>
              </a:r>
            </a:p>
          </p:txBody>
        </p:sp>
      </p:grpSp>
      <p:sp>
        <p:nvSpPr>
          <p:cNvPr id="39" name="Freeform 26">
            <a:extLst>
              <a:ext uri="{FF2B5EF4-FFF2-40B4-BE49-F238E27FC236}">
                <a16:creationId xmlns:a16="http://schemas.microsoft.com/office/drawing/2014/main" id="{D1D42A93-6EAF-1D64-30DE-3A92D960468C}"/>
              </a:ext>
            </a:extLst>
          </p:cNvPr>
          <p:cNvSpPr/>
          <p:nvPr/>
        </p:nvSpPr>
        <p:spPr>
          <a:xfrm rot="18663720">
            <a:off x="3163641" y="4481810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3"/>
                </a:lnTo>
                <a:lnTo>
                  <a:pt x="0" y="612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26">
            <a:extLst>
              <a:ext uri="{FF2B5EF4-FFF2-40B4-BE49-F238E27FC236}">
                <a16:creationId xmlns:a16="http://schemas.microsoft.com/office/drawing/2014/main" id="{1A28AB75-8069-C83C-EC78-B3324ABDB067}"/>
              </a:ext>
            </a:extLst>
          </p:cNvPr>
          <p:cNvSpPr/>
          <p:nvPr/>
        </p:nvSpPr>
        <p:spPr>
          <a:xfrm>
            <a:off x="7035429" y="3472226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3"/>
                </a:lnTo>
                <a:lnTo>
                  <a:pt x="0" y="612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26">
            <a:extLst>
              <a:ext uri="{FF2B5EF4-FFF2-40B4-BE49-F238E27FC236}">
                <a16:creationId xmlns:a16="http://schemas.microsoft.com/office/drawing/2014/main" id="{AD6513D9-CCDC-E99A-7610-53B0858722CF}"/>
              </a:ext>
            </a:extLst>
          </p:cNvPr>
          <p:cNvSpPr/>
          <p:nvPr/>
        </p:nvSpPr>
        <p:spPr>
          <a:xfrm>
            <a:off x="10032579" y="3425047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3"/>
                </a:lnTo>
                <a:lnTo>
                  <a:pt x="0" y="612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A5E4AD8-66B5-8F74-0F59-A31EC89282C1}"/>
              </a:ext>
            </a:extLst>
          </p:cNvPr>
          <p:cNvGrpSpPr/>
          <p:nvPr/>
        </p:nvGrpSpPr>
        <p:grpSpPr>
          <a:xfrm>
            <a:off x="10655916" y="2852907"/>
            <a:ext cx="6285815" cy="1650164"/>
            <a:chOff x="6888671" y="2973485"/>
            <a:chExt cx="6285815" cy="1650164"/>
          </a:xfrm>
        </p:grpSpPr>
        <p:grpSp>
          <p:nvGrpSpPr>
            <p:cNvPr id="43" name="Group 5">
              <a:extLst>
                <a:ext uri="{FF2B5EF4-FFF2-40B4-BE49-F238E27FC236}">
                  <a16:creationId xmlns:a16="http://schemas.microsoft.com/office/drawing/2014/main" id="{55341123-C4A9-63C6-590D-8A251423EE73}"/>
                </a:ext>
              </a:extLst>
            </p:cNvPr>
            <p:cNvGrpSpPr/>
            <p:nvPr/>
          </p:nvGrpSpPr>
          <p:grpSpPr>
            <a:xfrm>
              <a:off x="6888671" y="2973485"/>
              <a:ext cx="3976970" cy="1650164"/>
              <a:chOff x="0" y="-76200"/>
              <a:chExt cx="1872735" cy="434611"/>
            </a:xfrm>
          </p:grpSpPr>
          <p:sp>
            <p:nvSpPr>
              <p:cNvPr id="45" name="Freeform 6">
                <a:extLst>
                  <a:ext uri="{FF2B5EF4-FFF2-40B4-BE49-F238E27FC236}">
                    <a16:creationId xmlns:a16="http://schemas.microsoft.com/office/drawing/2014/main" id="{382311DA-5936-82FC-7543-CD5950915AA7}"/>
                  </a:ext>
                </a:extLst>
              </p:cNvPr>
              <p:cNvSpPr/>
              <p:nvPr/>
            </p:nvSpPr>
            <p:spPr>
              <a:xfrm>
                <a:off x="0" y="0"/>
                <a:ext cx="1872735" cy="358411"/>
              </a:xfrm>
              <a:custGeom>
                <a:avLst/>
                <a:gdLst/>
                <a:ahLst/>
                <a:cxnLst/>
                <a:rect l="l" t="t" r="r" b="b"/>
                <a:pathLst>
                  <a:path w="1872735" h="358411">
                    <a:moveTo>
                      <a:pt x="1669535" y="0"/>
                    </a:moveTo>
                    <a:cubicBezTo>
                      <a:pt x="1781759" y="0"/>
                      <a:pt x="1872735" y="80233"/>
                      <a:pt x="1872735" y="179206"/>
                    </a:cubicBezTo>
                    <a:cubicBezTo>
                      <a:pt x="1872735" y="278178"/>
                      <a:pt x="1781759" y="358411"/>
                      <a:pt x="1669535" y="358411"/>
                    </a:cubicBezTo>
                    <a:lnTo>
                      <a:pt x="203200" y="358411"/>
                    </a:lnTo>
                    <a:cubicBezTo>
                      <a:pt x="90976" y="358411"/>
                      <a:pt x="0" y="278178"/>
                      <a:pt x="0" y="179206"/>
                    </a:cubicBezTo>
                    <a:cubicBezTo>
                      <a:pt x="0" y="8023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274CF"/>
              </a:solid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6" name="TextBox 7">
                <a:extLst>
                  <a:ext uri="{FF2B5EF4-FFF2-40B4-BE49-F238E27FC236}">
                    <a16:creationId xmlns:a16="http://schemas.microsoft.com/office/drawing/2014/main" id="{0E141728-D675-C209-C1AE-7EBEBBAD60F4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1872735" cy="4346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8"/>
                  </a:lnSpc>
                </a:pPr>
                <a:endParaRPr/>
              </a:p>
            </p:txBody>
          </p:sp>
        </p:grpSp>
        <p:sp>
          <p:nvSpPr>
            <p:cNvPr id="44" name="TextBox 32">
              <a:extLst>
                <a:ext uri="{FF2B5EF4-FFF2-40B4-BE49-F238E27FC236}">
                  <a16:creationId xmlns:a16="http://schemas.microsoft.com/office/drawing/2014/main" id="{4EBC910F-28B9-7C70-7929-4CA860CF984A}"/>
                </a:ext>
              </a:extLst>
            </p:cNvPr>
            <p:cNvSpPr txBox="1"/>
            <p:nvPr/>
          </p:nvSpPr>
          <p:spPr>
            <a:xfrm>
              <a:off x="7262390" y="3530468"/>
              <a:ext cx="5912096" cy="7321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00"/>
                </a:lnSpc>
              </a:pPr>
              <a:r>
                <a:rPr lang="en-US" sz="3200" b="1" spc="32" dirty="0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OCR Extraction</a:t>
              </a:r>
            </a:p>
          </p:txBody>
        </p:sp>
      </p:grpSp>
      <p:sp>
        <p:nvSpPr>
          <p:cNvPr id="47" name="Freeform 26">
            <a:extLst>
              <a:ext uri="{FF2B5EF4-FFF2-40B4-BE49-F238E27FC236}">
                <a16:creationId xmlns:a16="http://schemas.microsoft.com/office/drawing/2014/main" id="{54EC76B2-CF2B-51CB-E468-8867BBAB2D9E}"/>
              </a:ext>
            </a:extLst>
          </p:cNvPr>
          <p:cNvSpPr/>
          <p:nvPr/>
        </p:nvSpPr>
        <p:spPr>
          <a:xfrm rot="2746760">
            <a:off x="14593641" y="4248442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3"/>
                </a:lnTo>
                <a:lnTo>
                  <a:pt x="0" y="612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274ED1C-18FE-E587-8A47-83EB88ACD678}"/>
              </a:ext>
            </a:extLst>
          </p:cNvPr>
          <p:cNvGrpSpPr/>
          <p:nvPr/>
        </p:nvGrpSpPr>
        <p:grpSpPr>
          <a:xfrm>
            <a:off x="14833795" y="4784114"/>
            <a:ext cx="3177312" cy="1360842"/>
            <a:chOff x="1447800" y="3302421"/>
            <a:chExt cx="4481592" cy="1360842"/>
          </a:xfrm>
        </p:grpSpPr>
        <p:grpSp>
          <p:nvGrpSpPr>
            <p:cNvPr id="49" name="Group 2">
              <a:extLst>
                <a:ext uri="{FF2B5EF4-FFF2-40B4-BE49-F238E27FC236}">
                  <a16:creationId xmlns:a16="http://schemas.microsoft.com/office/drawing/2014/main" id="{F9C412D0-794E-8D4F-F9D3-88FA552DA6B8}"/>
                </a:ext>
              </a:extLst>
            </p:cNvPr>
            <p:cNvGrpSpPr/>
            <p:nvPr/>
          </p:nvGrpSpPr>
          <p:grpSpPr>
            <a:xfrm>
              <a:off x="1447800" y="3302421"/>
              <a:ext cx="4481592" cy="1360842"/>
              <a:chOff x="0" y="0"/>
              <a:chExt cx="1872735" cy="358411"/>
            </a:xfrm>
          </p:grpSpPr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F153604F-72FD-D732-8140-1112950DEDAE}"/>
                  </a:ext>
                </a:extLst>
              </p:cNvPr>
              <p:cNvSpPr/>
              <p:nvPr/>
            </p:nvSpPr>
            <p:spPr>
              <a:xfrm>
                <a:off x="0" y="0"/>
                <a:ext cx="1872735" cy="358411"/>
              </a:xfrm>
              <a:custGeom>
                <a:avLst/>
                <a:gdLst/>
                <a:ahLst/>
                <a:cxnLst/>
                <a:rect l="l" t="t" r="r" b="b"/>
                <a:pathLst>
                  <a:path w="1872735" h="358411">
                    <a:moveTo>
                      <a:pt x="1669535" y="0"/>
                    </a:moveTo>
                    <a:cubicBezTo>
                      <a:pt x="1781759" y="0"/>
                      <a:pt x="1872735" y="80233"/>
                      <a:pt x="1872735" y="179206"/>
                    </a:cubicBezTo>
                    <a:cubicBezTo>
                      <a:pt x="1872735" y="278178"/>
                      <a:pt x="1781759" y="358411"/>
                      <a:pt x="1669535" y="358411"/>
                    </a:cubicBezTo>
                    <a:lnTo>
                      <a:pt x="203200" y="358411"/>
                    </a:lnTo>
                    <a:cubicBezTo>
                      <a:pt x="90976" y="358411"/>
                      <a:pt x="0" y="278178"/>
                      <a:pt x="0" y="179206"/>
                    </a:cubicBezTo>
                    <a:cubicBezTo>
                      <a:pt x="0" y="8023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6274CF"/>
                </a:solidFill>
                <a:prstDash val="solid"/>
                <a:miter/>
              </a:ln>
            </p:spPr>
          </p:sp>
          <p:sp>
            <p:nvSpPr>
              <p:cNvPr id="52" name="TextBox 4">
                <a:extLst>
                  <a:ext uri="{FF2B5EF4-FFF2-40B4-BE49-F238E27FC236}">
                    <a16:creationId xmlns:a16="http://schemas.microsoft.com/office/drawing/2014/main" id="{8B9460B9-75CD-BE18-2423-CDAEDF53D445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1872735" cy="4346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8"/>
                  </a:lnSpc>
                </a:pPr>
                <a:endParaRPr/>
              </a:p>
            </p:txBody>
          </p:sp>
        </p:grpSp>
        <p:sp>
          <p:nvSpPr>
            <p:cNvPr id="50" name="TextBox 31">
              <a:extLst>
                <a:ext uri="{FF2B5EF4-FFF2-40B4-BE49-F238E27FC236}">
                  <a16:creationId xmlns:a16="http://schemas.microsoft.com/office/drawing/2014/main" id="{908D7CE5-B74D-2310-AD35-BF3F562C541A}"/>
                </a:ext>
              </a:extLst>
            </p:cNvPr>
            <p:cNvSpPr txBox="1"/>
            <p:nvPr/>
          </p:nvSpPr>
          <p:spPr>
            <a:xfrm>
              <a:off x="1858277" y="3540817"/>
              <a:ext cx="3689883" cy="728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400"/>
                </a:lnSpc>
              </a:pPr>
              <a:r>
                <a:rPr lang="en-US" sz="3200" b="1" spc="32" dirty="0">
                  <a:solidFill>
                    <a:srgbClr val="6274C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Text Output</a:t>
              </a:r>
            </a:p>
          </p:txBody>
        </p:sp>
      </p:grpSp>
      <p:sp>
        <p:nvSpPr>
          <p:cNvPr id="53" name="TextBox 7">
            <a:extLst>
              <a:ext uri="{FF2B5EF4-FFF2-40B4-BE49-F238E27FC236}">
                <a16:creationId xmlns:a16="http://schemas.microsoft.com/office/drawing/2014/main" id="{44A2B436-559E-FA33-F87D-6A1F14FE8B85}"/>
              </a:ext>
            </a:extLst>
          </p:cNvPr>
          <p:cNvSpPr txBox="1"/>
          <p:nvPr/>
        </p:nvSpPr>
        <p:spPr>
          <a:xfrm>
            <a:off x="5019545" y="5113278"/>
            <a:ext cx="8069615" cy="456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1"/>
              </a:lnSpc>
            </a:pP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탐지 단계</a:t>
            </a:r>
            <a:endParaRPr lang="en-US" altLang="ko-KR" sz="2599" spc="25" dirty="0">
              <a:solidFill>
                <a:srgbClr val="252525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4471"/>
              </a:lnSpc>
            </a:pPr>
            <a:r>
              <a:rPr 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  </a:t>
            </a: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○</a:t>
            </a:r>
            <a:r>
              <a:rPr 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 Yolov8</a:t>
            </a:r>
            <a:br>
              <a:rPr 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</a:br>
            <a:r>
              <a:rPr 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      - </a:t>
            </a: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객체 </a:t>
            </a:r>
            <a:r>
              <a:rPr lang="en-US" altLang="ko-KR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: </a:t>
            </a: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표지지판</a:t>
            </a:r>
            <a:r>
              <a:rPr lang="en-US" altLang="ko-KR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경고문구 영역 탐지</a:t>
            </a:r>
            <a:br>
              <a:rPr lang="en-US" altLang="ko-KR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</a:br>
            <a:r>
              <a:rPr lang="en-US" altLang="ko-KR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      - </a:t>
            </a: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사전 학습 모델 </a:t>
            </a:r>
            <a:r>
              <a:rPr lang="en-US" altLang="ko-KR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&gt; Transfer Learning </a:t>
            </a: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활용</a:t>
            </a:r>
            <a:endParaRPr lang="en-US" altLang="ko-KR" sz="2599" spc="25" dirty="0">
              <a:solidFill>
                <a:srgbClr val="252525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4471"/>
              </a:lnSpc>
            </a:pP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텍스트 인식단계</a:t>
            </a:r>
            <a:endParaRPr lang="en-US" altLang="ko-KR" sz="2599" spc="25" dirty="0">
              <a:solidFill>
                <a:srgbClr val="252525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4471"/>
              </a:lnSpc>
            </a:pPr>
            <a:r>
              <a:rPr 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○ </a:t>
            </a:r>
            <a:r>
              <a:rPr lang="en-US" altLang="ko-KR" sz="2599" spc="25" dirty="0" err="1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Tesseracat</a:t>
            </a:r>
            <a:r>
              <a:rPr lang="en-US" altLang="ko-KR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 OCR</a:t>
            </a:r>
          </a:p>
          <a:p>
            <a:pPr algn="l">
              <a:lnSpc>
                <a:spcPts val="4471"/>
              </a:lnSpc>
            </a:pPr>
            <a:r>
              <a:rPr 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      - Yolo </a:t>
            </a:r>
            <a:r>
              <a:rPr lang="ko-KR" altLang="en-US" sz="2599" spc="25" dirty="0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박스 내 텍스트 인식하여 경고 문구 추출</a:t>
            </a:r>
            <a:endParaRPr lang="en-US" sz="2599" spc="25" dirty="0">
              <a:solidFill>
                <a:srgbClr val="252525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4471"/>
              </a:lnSpc>
            </a:pPr>
            <a:endParaRPr lang="en-US" sz="2599" spc="25" dirty="0">
              <a:solidFill>
                <a:srgbClr val="252525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3434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2408296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0"/>
            <a:ext cx="9144000" cy="10287000"/>
            <a:chOff x="0" y="0"/>
            <a:chExt cx="1567132" cy="17630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67131" cy="1763023"/>
            </a:xfrm>
            <a:custGeom>
              <a:avLst/>
              <a:gdLst/>
              <a:ahLst/>
              <a:cxnLst/>
              <a:rect l="l" t="t" r="r" b="b"/>
              <a:pathLst>
                <a:path w="1567131" h="1763023">
                  <a:moveTo>
                    <a:pt x="0" y="0"/>
                  </a:moveTo>
                  <a:lnTo>
                    <a:pt x="1567131" y="0"/>
                  </a:lnTo>
                  <a:lnTo>
                    <a:pt x="1567131" y="1763023"/>
                  </a:lnTo>
                  <a:lnTo>
                    <a:pt x="0" y="1763023"/>
                  </a:lnTo>
                  <a:close/>
                </a:path>
              </a:pathLst>
            </a:custGeom>
            <a:blipFill>
              <a:blip r:embed="rId2">
                <a:alphaModFix amt="18000"/>
              </a:blip>
              <a:stretch>
                <a:fillRect l="-65945" r="-2910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114336" y="2369184"/>
            <a:ext cx="7144964" cy="259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YOLO</a:t>
            </a:r>
            <a:r>
              <a:rPr lang="ko-KR" altLang="en-US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를 통해 박스를 찾고</a:t>
            </a:r>
            <a:r>
              <a:rPr lang="en-US" altLang="ko-KR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해당 박스 영역을 잘라서 </a:t>
            </a:r>
            <a:r>
              <a:rPr lang="en-US" altLang="ko-KR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OCR</a:t>
            </a:r>
            <a:r>
              <a:rPr lang="ko-KR" altLang="en-US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에 입력하면 텍스트가 추출됨</a:t>
            </a:r>
            <a:r>
              <a:rPr lang="en-US" altLang="ko-KR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</a:t>
            </a:r>
          </a:p>
          <a:p>
            <a:pPr algn="l">
              <a:lnSpc>
                <a:spcPts val="3360"/>
              </a:lnSpc>
            </a:pPr>
            <a:endParaRPr lang="en-US" sz="2400" spc="24" dirty="0">
              <a:solidFill>
                <a:srgbClr val="FFFFFF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  <a:p>
            <a:pPr algn="l">
              <a:lnSpc>
                <a:spcPts val="3360"/>
              </a:lnSpc>
            </a:pPr>
            <a:r>
              <a:rPr lang="ko-KR" altLang="en-US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향후 과제 </a:t>
            </a:r>
            <a:r>
              <a:rPr lang="en-US" altLang="ko-KR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: </a:t>
            </a:r>
            <a:r>
              <a:rPr lang="ko-KR" altLang="en-US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야간 환경에 맞게 </a:t>
            </a:r>
            <a:r>
              <a:rPr lang="en-US" altLang="ko-KR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fine-tuning,           </a:t>
            </a:r>
          </a:p>
          <a:p>
            <a:pPr algn="l">
              <a:lnSpc>
                <a:spcPts val="3360"/>
              </a:lnSpc>
            </a:pPr>
            <a:r>
              <a:rPr lang="en-US" altLang="ko-KR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           </a:t>
            </a:r>
            <a:r>
              <a:rPr lang="ko-KR" altLang="en-US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성능평가</a:t>
            </a:r>
            <a:r>
              <a:rPr lang="en-US" altLang="ko-KR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(Precision/Recall),</a:t>
            </a:r>
          </a:p>
          <a:p>
            <a:pPr algn="l">
              <a:lnSpc>
                <a:spcPts val="3360"/>
              </a:lnSpc>
            </a:pPr>
            <a:r>
              <a:rPr lang="en-US" altLang="ko-KR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           </a:t>
            </a:r>
            <a:r>
              <a:rPr lang="ko-KR" altLang="en-US" sz="2400" spc="24" dirty="0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영상 </a:t>
            </a:r>
            <a:r>
              <a:rPr lang="ko-KR" altLang="en-US" sz="2400" spc="24">
                <a:solidFill>
                  <a:srgbClr val="FFFFF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처리 확장</a:t>
            </a:r>
            <a:endParaRPr lang="en-US" sz="2400" spc="24" dirty="0">
              <a:solidFill>
                <a:srgbClr val="FFFFFF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114336" y="1430655"/>
            <a:ext cx="5389995" cy="82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ko-KR" altLang="en-US" sz="3600" b="1" spc="36" dirty="0">
                <a:solidFill>
                  <a:srgbClr val="98A9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설명</a:t>
            </a:r>
            <a:endParaRPr lang="en-US" sz="3600" b="1" spc="36" dirty="0">
              <a:solidFill>
                <a:srgbClr val="98A9FF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 dirty="0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4562" y="1306830"/>
            <a:ext cx="5301543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ko-KR" altLang="en-US" sz="5200" b="1" dirty="0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적용 코드 예시</a:t>
            </a:r>
            <a:endParaRPr lang="en-US" sz="5200" b="1" dirty="0">
              <a:solidFill>
                <a:srgbClr val="252525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4C9282D-BD2C-EC45-98A4-70F8F018A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361112"/>
            <a:ext cx="6654148" cy="56706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74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343197" y="3841114"/>
            <a:ext cx="9803018" cy="1302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9"/>
              </a:lnSpc>
              <a:spcBef>
                <a:spcPct val="0"/>
              </a:spcBef>
            </a:pPr>
            <a:r>
              <a:rPr lang="en-US" sz="7599" b="1" dirty="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THANK YOU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343197" y="5417290"/>
            <a:ext cx="15601606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275</Words>
  <Application>Microsoft Office PowerPoint</Application>
  <PresentationFormat>사용자 지정</PresentationFormat>
  <Paragraphs>68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Cabin</vt:lpstr>
      <vt:lpstr>Tlab 돋움 레귤러 Bold</vt:lpstr>
      <vt:lpstr>TDTD평고딕</vt:lpstr>
      <vt:lpstr>TDTD순고딕 Bold</vt:lpstr>
      <vt:lpstr>Tlab 돋움 레귤러</vt:lpstr>
      <vt:lpstr>TDTD순고딕</vt:lpstr>
      <vt:lpstr>Arial</vt:lpstr>
      <vt:lpstr>Cabin 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파랑 흰색 깔끔한 프로젝트 소개 프레젠테이션</dc:title>
  <dc:creator>USER-01</dc:creator>
  <cp:lastModifiedBy>USER-01</cp:lastModifiedBy>
  <cp:revision>3</cp:revision>
  <dcterms:created xsi:type="dcterms:W3CDTF">2006-08-16T00:00:00Z</dcterms:created>
  <dcterms:modified xsi:type="dcterms:W3CDTF">2025-04-23T06:35:11Z</dcterms:modified>
  <dc:identifier>DAGlbRGsvkI</dc:identifier>
</cp:coreProperties>
</file>