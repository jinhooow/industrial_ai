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9" r:id="rId1"/>
    <p:sldMasterId id="2147483795" r:id="rId2"/>
  </p:sldMasterIdLst>
  <p:notesMasterIdLst>
    <p:notesMasterId r:id="rId18"/>
  </p:notesMasterIdLst>
  <p:handoutMasterIdLst>
    <p:handoutMasterId r:id="rId19"/>
  </p:handoutMasterIdLst>
  <p:sldIdLst>
    <p:sldId id="449" r:id="rId3"/>
    <p:sldId id="1027" r:id="rId4"/>
    <p:sldId id="999" r:id="rId5"/>
    <p:sldId id="1019" r:id="rId6"/>
    <p:sldId id="1010" r:id="rId7"/>
    <p:sldId id="1046" r:id="rId8"/>
    <p:sldId id="1021" r:id="rId9"/>
    <p:sldId id="1044" r:id="rId10"/>
    <p:sldId id="1033" r:id="rId11"/>
    <p:sldId id="1032" r:id="rId12"/>
    <p:sldId id="1035" r:id="rId13"/>
    <p:sldId id="1036" r:id="rId14"/>
    <p:sldId id="1034" r:id="rId15"/>
    <p:sldId id="1057" r:id="rId16"/>
    <p:sldId id="1006" r:id="rId17"/>
  </p:sldIdLst>
  <p:sldSz cx="9144000" cy="6858000" type="screen4x3"/>
  <p:notesSz cx="6797675" cy="9926638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CEE8726-F9F3-41AF-B5F6-E34B9A5B6B90}">
          <p14:sldIdLst>
            <p14:sldId id="449"/>
            <p14:sldId id="1027"/>
            <p14:sldId id="999"/>
            <p14:sldId id="1019"/>
            <p14:sldId id="1010"/>
            <p14:sldId id="1046"/>
            <p14:sldId id="1021"/>
            <p14:sldId id="1044"/>
            <p14:sldId id="1033"/>
            <p14:sldId id="1032"/>
            <p14:sldId id="1035"/>
            <p14:sldId id="1036"/>
            <p14:sldId id="1034"/>
            <p14:sldId id="1057"/>
            <p14:sldId id="10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92" userDrawn="1">
          <p15:clr>
            <a:srgbClr val="A4A3A4"/>
          </p15:clr>
        </p15:guide>
        <p15:guide id="2" orient="horz" pos="813" userDrawn="1">
          <p15:clr>
            <a:srgbClr val="A4A3A4"/>
          </p15:clr>
        </p15:guide>
        <p15:guide id="3" orient="horz" pos="1122" userDrawn="1">
          <p15:clr>
            <a:srgbClr val="A4A3A4"/>
          </p15:clr>
        </p15:guide>
        <p15:guide id="4" orient="horz" pos="3537" userDrawn="1">
          <p15:clr>
            <a:srgbClr val="A4A3A4"/>
          </p15:clr>
        </p15:guide>
        <p15:guide id="5" orient="horz" pos="4199" userDrawn="1">
          <p15:clr>
            <a:srgbClr val="A4A3A4"/>
          </p15:clr>
        </p15:guide>
        <p15:guide id="6" orient="horz" pos="3921" userDrawn="1">
          <p15:clr>
            <a:srgbClr val="A4A3A4"/>
          </p15:clr>
        </p15:guide>
        <p15:guide id="7" orient="horz" pos="1952" userDrawn="1">
          <p15:clr>
            <a:srgbClr val="A4A3A4"/>
          </p15:clr>
        </p15:guide>
        <p15:guide id="8" pos="5551" userDrawn="1">
          <p15:clr>
            <a:srgbClr val="A4A3A4"/>
          </p15:clr>
        </p15:guide>
        <p15:guide id="9" pos="338" userDrawn="1">
          <p15:clr>
            <a:srgbClr val="A4A3A4"/>
          </p15:clr>
        </p15:guide>
        <p15:guide id="10" pos="4497" userDrawn="1">
          <p15:clr>
            <a:srgbClr val="A4A3A4"/>
          </p15:clr>
        </p15:guide>
        <p15:guide id="11" pos="2829" userDrawn="1">
          <p15:clr>
            <a:srgbClr val="A4A3A4"/>
          </p15:clr>
        </p15:guide>
        <p15:guide id="12" pos="1557" userDrawn="1">
          <p15:clr>
            <a:srgbClr val="A4A3A4"/>
          </p15:clr>
        </p15:guide>
        <p15:guide id="13" pos="3056" userDrawn="1">
          <p15:clr>
            <a:srgbClr val="A4A3A4"/>
          </p15:clr>
        </p15:guide>
        <p15:guide id="14" orient="horz" pos="1102">
          <p15:clr>
            <a:srgbClr val="A4A3A4"/>
          </p15:clr>
        </p15:guide>
        <p15:guide id="15" orient="horz" pos="3067">
          <p15:clr>
            <a:srgbClr val="A4A3A4"/>
          </p15:clr>
        </p15:guide>
        <p15:guide id="16" orient="horz" pos="4201">
          <p15:clr>
            <a:srgbClr val="A4A3A4"/>
          </p15:clr>
        </p15:guide>
        <p15:guide id="17" orient="horz" pos="1933">
          <p15:clr>
            <a:srgbClr val="A4A3A4"/>
          </p15:clr>
        </p15:guide>
        <p15:guide id="18" pos="55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7BB"/>
    <a:srgbClr val="0033CC"/>
    <a:srgbClr val="12275E"/>
    <a:srgbClr val="9A1F4E"/>
    <a:srgbClr val="E8E8E8"/>
    <a:srgbClr val="152B65"/>
    <a:srgbClr val="8FAADC"/>
    <a:srgbClr val="CCECFF"/>
    <a:srgbClr val="FFFFCC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59" autoAdjust="0"/>
    <p:restoredTop sz="92077" autoAdjust="0"/>
  </p:normalViewPr>
  <p:slideViewPr>
    <p:cSldViewPr>
      <p:cViewPr varScale="1">
        <p:scale>
          <a:sx n="74" d="100"/>
          <a:sy n="74" d="100"/>
        </p:scale>
        <p:origin x="56" y="832"/>
      </p:cViewPr>
      <p:guideLst>
        <p:guide orient="horz" pos="492"/>
        <p:guide orient="horz" pos="813"/>
        <p:guide orient="horz" pos="1122"/>
        <p:guide orient="horz" pos="3537"/>
        <p:guide orient="horz" pos="4199"/>
        <p:guide orient="horz" pos="3921"/>
        <p:guide orient="horz" pos="1952"/>
        <p:guide pos="5551"/>
        <p:guide pos="338"/>
        <p:guide pos="4497"/>
        <p:guide pos="2829"/>
        <p:guide pos="1557"/>
        <p:guide pos="3056"/>
        <p:guide orient="horz" pos="1102"/>
        <p:guide orient="horz" pos="3067"/>
        <p:guide orient="horz" pos="4201"/>
        <p:guide orient="horz" pos="1933"/>
        <p:guide pos="55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1908" y="414"/>
      </p:cViewPr>
      <p:guideLst>
        <p:guide orient="horz" pos="3127"/>
        <p:guide pos="2141"/>
      </p:guideLst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324A1115-9F2D-4D68-85C5-5EC1194C254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92951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15710"/>
            <a:ext cx="5435600" cy="4466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BDE6D3F4-B44C-4D4D-B492-8788D90AD2B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1658302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E690D-55DA-C1ED-AC59-99CCE19B6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866B6D-6295-D56C-E428-4F2DF1C78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2D091F-37BA-356A-39EF-FD99AEFFE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A5E26E-A4EB-038C-CBF7-FB15D36105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987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503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9685-7F23-F9A1-1D80-B69453E4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B18B73-F5F0-7CEE-9B5E-2F8C8C15C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3804AA-160E-1CA6-8E8E-F3A911BCF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04E12C-C88E-F1AC-EC6D-A59395EF8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257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EC3A-6E98-A112-7E89-E090C3E4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64F0A2-E33E-2E97-6477-3B162698C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D66C7-6C9A-0D7E-2FD9-ECD61DE12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56727-9B7A-498E-18C7-87C42DCE1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9784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EC3A-6E98-A112-7E89-E090C3E4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64F0A2-E33E-2E97-6477-3B162698C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D66C7-6C9A-0D7E-2FD9-ECD61DE12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56727-9B7A-498E-18C7-87C42DCE1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891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025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184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479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011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793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495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224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503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561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sp>
        <p:nvSpPr>
          <p:cNvPr id="14" name="직사각형 13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2074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F254D-D485-4424-B9F6-B67A605DDF19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953764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3310797-E8F0-33FF-3EAC-DF0D297E0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B02B1F-C918-4EA9-8A71-4A69BA71DD78}" type="slidenum">
              <a:rPr lang="en-GB" altLang="ko-KR" smtClean="0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val="343135767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4F184-09B5-43E3-9B7A-CC3A5F5FC70F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val="312410962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26954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4037ABE-D605-7DC2-CD98-5957AE0F5873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716561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14089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7828934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3298205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19BEA91-710F-4DA2-A57A-92029721C1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r="6054"/>
          <a:stretch/>
        </p:blipFill>
        <p:spPr>
          <a:xfrm>
            <a:off x="-1256" y="-3606"/>
            <a:ext cx="9144000" cy="792606"/>
          </a:xfrm>
          <a:prstGeom prst="rect">
            <a:avLst/>
          </a:prstGeom>
        </p:spPr>
      </p:pic>
      <p:sp>
        <p:nvSpPr>
          <p:cNvPr id="4137" name="Rectangle 4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116" y="6560298"/>
            <a:ext cx="117020" cy="113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 defTabSz="757623" eaLnBrk="0" hangingPunct="0">
              <a:defRPr sz="738">
                <a:solidFill>
                  <a:srgbClr val="000000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64B02B1F-C918-4EA9-8A71-4A69BA71DD78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0"/>
            <a:r>
              <a:rPr lang="en-US" altLang="ko-KR" dirty="0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008097E2-E215-16CD-58E7-6BD749988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71" r:id="rId2"/>
    <p:sldLayoutId id="2147483772" r:id="rId3"/>
    <p:sldLayoutId id="2147483794" r:id="rId4"/>
    <p:sldLayoutId id="2147483773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FF8754-B9F3-D76F-38C3-B0091EEFC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C00000">
                <a:tint val="45000"/>
                <a:satMod val="400000"/>
              </a:srgbClr>
            </a:duotone>
          </a:blip>
          <a:srcRect r="24209"/>
          <a:stretch/>
        </p:blipFill>
        <p:spPr>
          <a:xfrm>
            <a:off x="-1255" y="-3606"/>
            <a:ext cx="7376881" cy="792606"/>
          </a:xfrm>
          <a:custGeom>
            <a:avLst/>
            <a:gdLst>
              <a:gd name="connsiteX0" fmla="*/ 0 w 7376881"/>
              <a:gd name="connsiteY0" fmla="*/ 0 h 792606"/>
              <a:gd name="connsiteX1" fmla="*/ 7376881 w 7376881"/>
              <a:gd name="connsiteY1" fmla="*/ 0 h 792606"/>
              <a:gd name="connsiteX2" fmla="*/ 7335083 w 7376881"/>
              <a:gd name="connsiteY2" fmla="*/ 72101 h 792606"/>
              <a:gd name="connsiteX3" fmla="*/ 6478558 w 7376881"/>
              <a:gd name="connsiteY3" fmla="*/ 773769 h 792606"/>
              <a:gd name="connsiteX4" fmla="*/ 6439960 w 7376881"/>
              <a:gd name="connsiteY4" fmla="*/ 792606 h 792606"/>
              <a:gd name="connsiteX5" fmla="*/ 0 w 7376881"/>
              <a:gd name="connsiteY5" fmla="*/ 792606 h 792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76881" h="792606">
                <a:moveTo>
                  <a:pt x="0" y="0"/>
                </a:moveTo>
                <a:lnTo>
                  <a:pt x="7376881" y="0"/>
                </a:lnTo>
                <a:lnTo>
                  <a:pt x="7335083" y="72101"/>
                </a:lnTo>
                <a:cubicBezTo>
                  <a:pt x="7153136" y="331561"/>
                  <a:pt x="6859280" y="569153"/>
                  <a:pt x="6478558" y="773769"/>
                </a:cubicBezTo>
                <a:lnTo>
                  <a:pt x="6439960" y="792606"/>
                </a:lnTo>
                <a:lnTo>
                  <a:pt x="0" y="792606"/>
                </a:lnTo>
                <a:close/>
              </a:path>
            </a:pathLst>
          </a:custGeom>
        </p:spPr>
      </p:pic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0"/>
            <a:r>
              <a:rPr lang="en-US" altLang="ko-KR" dirty="0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617EA2C-9563-3A9C-CD52-0AE019419479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B15DAD-E0C6-A00C-DFBE-C16F6DB1373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4BDD22-E678-EB87-D6D2-EB743F53AA76}"/>
              </a:ext>
            </a:extLst>
          </p:cNvPr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066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951C254-D3FE-4F55-B884-40C49A8602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6399033"/>
            <a:ext cx="1444806" cy="267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42296-B25A-27A7-7E69-7939DB0BA19F}"/>
              </a:ext>
            </a:extLst>
          </p:cNvPr>
          <p:cNvSpPr txBox="1"/>
          <p:nvPr/>
        </p:nvSpPr>
        <p:spPr>
          <a:xfrm>
            <a:off x="1016960" y="2193435"/>
            <a:ext cx="7110079" cy="875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4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프로젝트</a:t>
            </a:r>
            <a:endParaRPr lang="en-US" altLang="ko-KR" sz="4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DA4912B-7505-A2FB-FBB8-4DF4D2A23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960" y="4878004"/>
            <a:ext cx="7605084" cy="79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>
            <a:lvl1pPr marL="0" indent="0" algn="l" defTabSz="647700" rtl="0" eaLnBrk="0" fontAlgn="base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None/>
              <a:defRPr sz="16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44500" indent="-180975" algn="l" defTabSz="647700" rtl="0" eaLnBrk="0" fontAlgn="base" hangingPunct="0">
              <a:lnSpc>
                <a:spcPct val="105000"/>
              </a:lnSpc>
              <a:spcBef>
                <a:spcPct val="5000"/>
              </a:spcBef>
              <a:spcAft>
                <a:spcPct val="0"/>
              </a:spcAft>
              <a:buClr>
                <a:srgbClr val="F37121"/>
              </a:buClr>
              <a:buFont typeface="Arial Unicode MS" pitchFamily="50" charset="-127"/>
              <a:buChar char="–"/>
              <a:defRPr sz="1400">
                <a:solidFill>
                  <a:srgbClr val="000000"/>
                </a:solidFill>
                <a:latin typeface="+mn-lt"/>
              </a:defRPr>
            </a:lvl2pPr>
            <a:lvl3pPr marL="628650" indent="-182563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3pPr>
            <a:lvl4pPr marL="811213" indent="-180975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Arial" pitchFamily="34" charset="0"/>
              <a:buChar char="-"/>
              <a:defRPr sz="1400">
                <a:solidFill>
                  <a:srgbClr val="000000"/>
                </a:solidFill>
                <a:latin typeface="+mn-lt"/>
              </a:defRPr>
            </a:lvl4pPr>
            <a:lvl5pPr marL="993775" indent="-180975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5pPr>
            <a:lvl6pPr marL="14509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6pPr>
            <a:lvl7pPr marL="19081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7pPr>
            <a:lvl8pPr marL="23653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8pPr>
            <a:lvl9pPr marL="28225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9pPr>
          </a:lstStyle>
          <a:p>
            <a:pPr algn="ctr" eaLnBrk="1" hangingPunct="1"/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유진호</a:t>
            </a:r>
          </a:p>
          <a:p>
            <a:pPr algn="ctr" eaLnBrk="1" hangingPunct="1"/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jhyoo@avgenius.kr</a:t>
            </a:r>
          </a:p>
          <a:p>
            <a:pPr algn="ctr" eaLnBrk="1" hangingPunct="1"/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충북대학교 산업인공지능학과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D12AAC-3E69-1D46-503B-5B89E4C8F6DA}"/>
              </a:ext>
            </a:extLst>
          </p:cNvPr>
          <p:cNvSpPr txBox="1"/>
          <p:nvPr/>
        </p:nvSpPr>
        <p:spPr>
          <a:xfrm>
            <a:off x="330701" y="3226216"/>
            <a:ext cx="8482595" cy="377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&lt;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임베디드 환경을 위한 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YOLO 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객체 탐지 모델의 경량화 기법에 따른 전력효율 평가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571C43D-1094-CBC8-93A7-E64A401C7D9C}"/>
              </a:ext>
            </a:extLst>
          </p:cNvPr>
          <p:cNvSpPr/>
          <p:nvPr/>
        </p:nvSpPr>
        <p:spPr bwMode="auto">
          <a:xfrm>
            <a:off x="115261" y="102298"/>
            <a:ext cx="1756710" cy="270003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지능화파일럿프로젝트</a:t>
            </a:r>
            <a:endParaRPr kumimoji="0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7947A-22F7-ACF6-BE68-C023D657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F4E887F-B744-6B7A-4C4C-8E52D2FC289E}"/>
              </a:ext>
            </a:extLst>
          </p:cNvPr>
          <p:cNvSpPr/>
          <p:nvPr/>
        </p:nvSpPr>
        <p:spPr bwMode="auto">
          <a:xfrm>
            <a:off x="1007441" y="1583763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F2E444A-CCC5-1E52-E2F2-774CB94EF44F}"/>
              </a:ext>
            </a:extLst>
          </p:cNvPr>
          <p:cNvGrpSpPr/>
          <p:nvPr/>
        </p:nvGrpSpPr>
        <p:grpSpPr>
          <a:xfrm>
            <a:off x="684584" y="1494115"/>
            <a:ext cx="892810" cy="892810"/>
            <a:chOff x="611956" y="1268976"/>
            <a:chExt cx="772344" cy="7723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2B7DCD8-C3DC-03E3-46C3-F784F7CBAEC8}"/>
                </a:ext>
              </a:extLst>
            </p:cNvPr>
            <p:cNvSpPr/>
            <p:nvPr/>
          </p:nvSpPr>
          <p:spPr bwMode="auto">
            <a:xfrm>
              <a:off x="611956" y="1268976"/>
              <a:ext cx="772344" cy="77234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800" b="1" i="0" u="none" strike="noStrike" cap="none" normalizeH="0" baseline="0" dirty="0">
                  <a:ln>
                    <a:noFill/>
                  </a:ln>
                  <a:solidFill>
                    <a:srgbClr val="12275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0" lang="ko-KR" altLang="en-US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원형: 비어 있음 9">
              <a:extLst>
                <a:ext uri="{FF2B5EF4-FFF2-40B4-BE49-F238E27FC236}">
                  <a16:creationId xmlns:a16="http://schemas.microsoft.com/office/drawing/2014/main" id="{0583181C-BEBF-EA72-D49B-C042C8B84EEC}"/>
                </a:ext>
              </a:extLst>
            </p:cNvPr>
            <p:cNvSpPr/>
            <p:nvPr/>
          </p:nvSpPr>
          <p:spPr bwMode="auto">
            <a:xfrm>
              <a:off x="641596" y="1298616"/>
              <a:ext cx="713064" cy="713064"/>
            </a:xfrm>
            <a:prstGeom prst="donut">
              <a:avLst>
                <a:gd name="adj" fmla="val 15399"/>
              </a:avLst>
            </a:prstGeom>
            <a:solidFill>
              <a:srgbClr val="12275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6CD4B33-3444-8728-8A81-9FE54092028D}"/>
              </a:ext>
            </a:extLst>
          </p:cNvPr>
          <p:cNvSpPr txBox="1"/>
          <p:nvPr/>
        </p:nvSpPr>
        <p:spPr>
          <a:xfrm>
            <a:off x="1016960" y="858239"/>
            <a:ext cx="7110079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CONTENTS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D5391FC-D30E-9626-A826-A46F35B0B0D0}"/>
              </a:ext>
            </a:extLst>
          </p:cNvPr>
          <p:cNvSpPr txBox="1"/>
          <p:nvPr/>
        </p:nvSpPr>
        <p:spPr>
          <a:xfrm>
            <a:off x="1891949" y="1597641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프로젝트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개요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E833CCB-254F-4EDC-B4CF-5E75326F8A56}"/>
              </a:ext>
            </a:extLst>
          </p:cNvPr>
          <p:cNvSpPr txBox="1"/>
          <p:nvPr/>
        </p:nvSpPr>
        <p:spPr>
          <a:xfrm>
            <a:off x="1911844" y="1978237"/>
            <a:ext cx="5165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프로젝트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개요 및 선정 논문 소개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팀 구성원 소개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및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업무분장</a:t>
            </a:r>
          </a:p>
        </p:txBody>
      </p:sp>
      <p:sp>
        <p:nvSpPr>
          <p:cNvPr id="97" name="제목 96">
            <a:extLst>
              <a:ext uri="{FF2B5EF4-FFF2-40B4-BE49-F238E27FC236}">
                <a16:creationId xmlns:a16="http://schemas.microsoft.com/office/drawing/2014/main" id="{A28BFF74-6A22-4B71-71A7-B479E073E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B982560-D7CD-B33C-6112-784F24646D74}"/>
              </a:ext>
            </a:extLst>
          </p:cNvPr>
          <p:cNvSpPr/>
          <p:nvPr/>
        </p:nvSpPr>
        <p:spPr bwMode="auto">
          <a:xfrm>
            <a:off x="1007441" y="2513122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0E9D92A-1A51-3CAB-D2D2-903D0A8CF341}"/>
              </a:ext>
            </a:extLst>
          </p:cNvPr>
          <p:cNvGrpSpPr/>
          <p:nvPr/>
        </p:nvGrpSpPr>
        <p:grpSpPr>
          <a:xfrm>
            <a:off x="684584" y="2423474"/>
            <a:ext cx="892810" cy="892810"/>
            <a:chOff x="611956" y="1268976"/>
            <a:chExt cx="772344" cy="772344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6198C792-4618-209B-06A3-278D297C175A}"/>
                </a:ext>
              </a:extLst>
            </p:cNvPr>
            <p:cNvSpPr/>
            <p:nvPr/>
          </p:nvSpPr>
          <p:spPr bwMode="auto">
            <a:xfrm>
              <a:off x="611956" y="1268976"/>
              <a:ext cx="772344" cy="77234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800" b="1" i="0" u="none" strike="noStrike" cap="none" normalizeH="0" baseline="0" dirty="0">
                  <a:ln>
                    <a:noFill/>
                  </a:ln>
                  <a:solidFill>
                    <a:srgbClr val="12275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II</a:t>
              </a:r>
              <a:endParaRPr kumimoji="0" lang="ko-KR" altLang="en-US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원형: 비어 있음 4">
              <a:extLst>
                <a:ext uri="{FF2B5EF4-FFF2-40B4-BE49-F238E27FC236}">
                  <a16:creationId xmlns:a16="http://schemas.microsoft.com/office/drawing/2014/main" id="{364CA204-4D89-CE76-B294-7CA37ECBEC75}"/>
                </a:ext>
              </a:extLst>
            </p:cNvPr>
            <p:cNvSpPr/>
            <p:nvPr/>
          </p:nvSpPr>
          <p:spPr bwMode="auto">
            <a:xfrm>
              <a:off x="641596" y="1298616"/>
              <a:ext cx="713064" cy="713064"/>
            </a:xfrm>
            <a:prstGeom prst="donut">
              <a:avLst>
                <a:gd name="adj" fmla="val 15399"/>
              </a:avLst>
            </a:prstGeom>
            <a:solidFill>
              <a:srgbClr val="12275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FA689D1-05A4-3252-9C3D-F7BD0A9A89C1}"/>
              </a:ext>
            </a:extLst>
          </p:cNvPr>
          <p:cNvSpPr/>
          <p:nvPr/>
        </p:nvSpPr>
        <p:spPr bwMode="auto">
          <a:xfrm>
            <a:off x="1007441" y="3442481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004470E-C687-9E69-4685-0AD990AE5521}"/>
              </a:ext>
            </a:extLst>
          </p:cNvPr>
          <p:cNvSpPr/>
          <p:nvPr/>
        </p:nvSpPr>
        <p:spPr bwMode="auto">
          <a:xfrm>
            <a:off x="684584" y="3352833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원형: 비어 있음 8">
            <a:extLst>
              <a:ext uri="{FF2B5EF4-FFF2-40B4-BE49-F238E27FC236}">
                <a16:creationId xmlns:a16="http://schemas.microsoft.com/office/drawing/2014/main" id="{DE980ABB-33FD-A237-E625-663F915C08C5}"/>
              </a:ext>
            </a:extLst>
          </p:cNvPr>
          <p:cNvSpPr/>
          <p:nvPr/>
        </p:nvSpPr>
        <p:spPr bwMode="auto">
          <a:xfrm>
            <a:off x="718847" y="3387096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A1484F4-667F-CD2D-1279-71E981E4F209}"/>
              </a:ext>
            </a:extLst>
          </p:cNvPr>
          <p:cNvSpPr/>
          <p:nvPr/>
        </p:nvSpPr>
        <p:spPr bwMode="auto">
          <a:xfrm>
            <a:off x="1007441" y="4371840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317B0B6-BD28-984B-8426-438D831EBAE1}"/>
              </a:ext>
            </a:extLst>
          </p:cNvPr>
          <p:cNvSpPr/>
          <p:nvPr/>
        </p:nvSpPr>
        <p:spPr bwMode="auto">
          <a:xfrm>
            <a:off x="684584" y="4282192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원형: 비어 있음 15">
            <a:extLst>
              <a:ext uri="{FF2B5EF4-FFF2-40B4-BE49-F238E27FC236}">
                <a16:creationId xmlns:a16="http://schemas.microsoft.com/office/drawing/2014/main" id="{66B91699-50F3-FDF4-6145-98C5C0503328}"/>
              </a:ext>
            </a:extLst>
          </p:cNvPr>
          <p:cNvSpPr/>
          <p:nvPr/>
        </p:nvSpPr>
        <p:spPr bwMode="auto">
          <a:xfrm>
            <a:off x="718847" y="4316455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76AF960-EA98-A5C5-435C-50D3B45BAA86}"/>
              </a:ext>
            </a:extLst>
          </p:cNvPr>
          <p:cNvSpPr/>
          <p:nvPr/>
        </p:nvSpPr>
        <p:spPr bwMode="auto">
          <a:xfrm>
            <a:off x="1007441" y="5301201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2FF3D88-A235-151A-9806-7AB5A30B362A}"/>
              </a:ext>
            </a:extLst>
          </p:cNvPr>
          <p:cNvSpPr/>
          <p:nvPr/>
        </p:nvSpPr>
        <p:spPr bwMode="auto">
          <a:xfrm>
            <a:off x="684584" y="5211553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원형: 비어 있음 18">
            <a:extLst>
              <a:ext uri="{FF2B5EF4-FFF2-40B4-BE49-F238E27FC236}">
                <a16:creationId xmlns:a16="http://schemas.microsoft.com/office/drawing/2014/main" id="{8945EC71-5C2F-E486-D407-AD3AFFBD3542}"/>
              </a:ext>
            </a:extLst>
          </p:cNvPr>
          <p:cNvSpPr/>
          <p:nvPr/>
        </p:nvSpPr>
        <p:spPr bwMode="auto">
          <a:xfrm>
            <a:off x="718847" y="5245816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B51080-C366-D11C-647F-00AB3C04590C}"/>
              </a:ext>
            </a:extLst>
          </p:cNvPr>
          <p:cNvSpPr txBox="1"/>
          <p:nvPr/>
        </p:nvSpPr>
        <p:spPr>
          <a:xfrm>
            <a:off x="1891949" y="2533813"/>
            <a:ext cx="23839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서론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(Introduction)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B19EBC-8745-3BC4-C5A2-ABEA9ABDDAF6}"/>
              </a:ext>
            </a:extLst>
          </p:cNvPr>
          <p:cNvSpPr txBox="1"/>
          <p:nvPr/>
        </p:nvSpPr>
        <p:spPr>
          <a:xfrm>
            <a:off x="1911844" y="2914409"/>
            <a:ext cx="2924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배경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필요성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문제 정의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5DDC4A-47FA-808E-4BEB-99D958373173}"/>
              </a:ext>
            </a:extLst>
          </p:cNvPr>
          <p:cNvSpPr txBox="1"/>
          <p:nvPr/>
        </p:nvSpPr>
        <p:spPr>
          <a:xfrm>
            <a:off x="1891949" y="3458906"/>
            <a:ext cx="5593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방법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및 구현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(Methodology &amp; Implementation)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974605-6B00-391D-EA9E-F6330423283D}"/>
              </a:ext>
            </a:extLst>
          </p:cNvPr>
          <p:cNvSpPr txBox="1"/>
          <p:nvPr/>
        </p:nvSpPr>
        <p:spPr>
          <a:xfrm>
            <a:off x="1911844" y="3839502"/>
            <a:ext cx="2167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문제 해결을 위한 방법론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E3B922-4461-7140-8086-4A320DE0710B}"/>
              </a:ext>
            </a:extLst>
          </p:cNvPr>
          <p:cNvSpPr txBox="1"/>
          <p:nvPr/>
        </p:nvSpPr>
        <p:spPr>
          <a:xfrm>
            <a:off x="1891949" y="4395078"/>
            <a:ext cx="52645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실험 구성 및 평가 방법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(Experiment Settings)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7B993E-9604-1B78-594A-1871C2EB2DC6}"/>
              </a:ext>
            </a:extLst>
          </p:cNvPr>
          <p:cNvSpPr txBox="1"/>
          <p:nvPr/>
        </p:nvSpPr>
        <p:spPr>
          <a:xfrm>
            <a:off x="1911844" y="4775674"/>
            <a:ext cx="4164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데이터셋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하이퍼파라미터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컴퓨팅 환경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평가지표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6BC154-C577-3876-1D9C-EA0E627D0B9E}"/>
              </a:ext>
            </a:extLst>
          </p:cNvPr>
          <p:cNvSpPr txBox="1"/>
          <p:nvPr/>
        </p:nvSpPr>
        <p:spPr>
          <a:xfrm>
            <a:off x="1891949" y="531762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연구계획</a:t>
            </a:r>
          </a:p>
        </p:txBody>
      </p:sp>
    </p:spTree>
    <p:extLst>
      <p:ext uri="{BB962C8B-B14F-4D97-AF65-F5344CB8AC3E}">
        <p14:creationId xmlns:p14="http://schemas.microsoft.com/office/powerpoint/2010/main" val="331197772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C633F-B60D-FEBA-ED2F-B3F10B03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</a:t>
            </a:r>
            <a:r>
              <a:rPr lang="en-US" altLang="ko-KR" dirty="0"/>
              <a:t>#1 </a:t>
            </a:r>
            <a:r>
              <a:rPr lang="ko-KR" altLang="en-US" dirty="0"/>
              <a:t>개요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2F34785-C5AA-F695-6941-A78FBC0FC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867073"/>
            <a:ext cx="8312034" cy="467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프로젝트 목표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프로젝트 배경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및 필요성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프로젝트 배경</a:t>
            </a: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최근 자율주행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 err="1">
                <a:solidFill>
                  <a:schemeClr val="tx1"/>
                </a:solidFill>
                <a:latin typeface="+mn-ea"/>
                <a:ea typeface="+mn-ea"/>
              </a:rPr>
              <a:t>드론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로봇 등 지능형 시스템에서는 실시간 객체 탐지가 핵심 기능으로 요구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기존 딥러닝 모델은 높은 </a:t>
            </a:r>
            <a:r>
              <a:rPr lang="ko-KR" altLang="en-US" sz="1400" kern="0" dirty="0" err="1">
                <a:solidFill>
                  <a:schemeClr val="tx1"/>
                </a:solidFill>
                <a:latin typeface="+mn-ea"/>
                <a:ea typeface="+mn-ea"/>
              </a:rPr>
              <a:t>연산량과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전력 소모로 인해 임베디드 환경에 직접 적용하기 어려움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따라서 제한된 연산 자원과 배터리 환경에서도 효율적인 성능을 제공할 수 있도록 모델 경량화와 전력 효율성 개선이 필수적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2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프로젝트 필요성</a:t>
            </a: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임베디드 장치는 고성능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GPU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서버 대비 연산 자원과 전력 소비에 큰 제약이 따름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806450" lvl="2" indent="-179388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모델의 정확도를 일정 수준 유지하면서도 </a:t>
            </a:r>
            <a:r>
              <a:rPr lang="ko-KR" altLang="en-US" sz="1400" kern="0" dirty="0" err="1">
                <a:solidFill>
                  <a:schemeClr val="tx1"/>
                </a:solidFill>
                <a:latin typeface="+mn-ea"/>
                <a:ea typeface="+mn-ea"/>
              </a:rPr>
              <a:t>연산량과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전력 소모를 줄이는 경량화 기법의 연구가 필요함</a:t>
            </a:r>
            <a:endParaRPr lang="en-US" altLang="ko-KR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2F95EB-334A-08BE-293F-F085586C932F}"/>
              </a:ext>
            </a:extLst>
          </p:cNvPr>
          <p:cNvSpPr/>
          <p:nvPr/>
        </p:nvSpPr>
        <p:spPr bwMode="auto">
          <a:xfrm>
            <a:off x="580014" y="1272581"/>
            <a:ext cx="8312034" cy="62640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임베디드 환경에서 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YOLO 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객체 탐지 모델을 </a:t>
            </a:r>
            <a:r>
              <a:rPr lang="ko-KR" altLang="en-US" sz="1600" dirty="0" err="1">
                <a:solidFill>
                  <a:schemeClr val="tx1"/>
                </a:solidFill>
                <a:latin typeface="Arial" charset="0"/>
              </a:rPr>
              <a:t>경량화하여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 전력 효율성을 체계적으로 평가하고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,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실시간 지능형 시스템에 적용 가능한 최적화된 모델 설계 방안을 제시하는 것</a:t>
            </a:r>
            <a:endParaRPr lang="en-US" altLang="ko-KR" sz="16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89474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0D13-A7F8-4502-DD65-20B5774B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6ADA9890-26D2-8E29-0383-8BD35A607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51" y="908972"/>
            <a:ext cx="8640097" cy="4168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문제정의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lvl="1" indent="-342900">
              <a:lnSpc>
                <a:spcPct val="14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기존 객체 탐지 연구는 정확도와 속도 개선에 집중되어 왔지만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전력 효율성은 상대적으로 간과되어 왔다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이는 실제 임베디드 시스템 적용 시 모델 동작 시간이 제한되거나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장치 발열 및 배터리 지속 시간에 큰 문제를 야기함</a:t>
            </a:r>
            <a:endParaRPr lang="en-US" altLang="ko-KR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4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따라서 본 연구는 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YOLO 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모델을 대상으로 다양한 경량화 기법을 적용하고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정확도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속도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전력의 균형을 정량적으로 평가하는 문제를 정의함</a:t>
            </a:r>
            <a:endParaRPr lang="en-US" altLang="ko-KR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40000"/>
              </a:lnSpc>
              <a:spcBef>
                <a:spcPts val="600"/>
              </a:spcBef>
              <a:buFont typeface="+mj-lt"/>
              <a:buAutoNum type="arabicParenR"/>
            </a:pPr>
            <a:endParaRPr lang="en-US" altLang="ko-KR" kern="0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주요 </a:t>
            </a:r>
            <a:r>
              <a:rPr lang="ko-KR" altLang="en-US" sz="1800" kern="0" dirty="0" err="1">
                <a:solidFill>
                  <a:schemeClr val="accent1">
                    <a:lumMod val="75000"/>
                  </a:schemeClr>
                </a:solidFill>
              </a:rPr>
              <a:t>기여점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lvl="1" indent="-342900">
              <a:lnSpc>
                <a:spcPct val="14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본 연구는 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YOLO 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객체 탐지 모델을 대상으로 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Pruning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과 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Quantization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을 적용하여 </a:t>
            </a:r>
            <a:r>
              <a:rPr lang="ko-KR" altLang="en-US" kern="0" dirty="0" err="1">
                <a:solidFill>
                  <a:schemeClr val="tx1"/>
                </a:solidFill>
                <a:latin typeface="+mn-ea"/>
                <a:ea typeface="+mn-ea"/>
              </a:rPr>
              <a:t>경량화된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 모델을 설계하고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이를 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Jetson Thor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와 같은 최신 임베디드 장치에서 실험</a:t>
            </a:r>
            <a:endParaRPr lang="en-US" altLang="ko-KR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4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기존 연구가 정확도와 속도 중심의 성능만 보고한 것과 달리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본 연구는 **전력 효율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ko-KR" kern="0" dirty="0" err="1">
                <a:solidFill>
                  <a:schemeClr val="tx1"/>
                </a:solidFill>
                <a:latin typeface="+mn-ea"/>
                <a:ea typeface="+mn-ea"/>
              </a:rPr>
              <a:t>mAP</a:t>
            </a:r>
            <a:r>
              <a:rPr lang="en-US" altLang="ko-KR" kern="0" dirty="0">
                <a:solidFill>
                  <a:schemeClr val="tx1"/>
                </a:solidFill>
                <a:latin typeface="+mn-ea"/>
                <a:ea typeface="+mn-ea"/>
              </a:rPr>
              <a:t>/Watt)**</a:t>
            </a:r>
            <a:r>
              <a:rPr lang="ko-KR" altLang="en-US" kern="0" dirty="0">
                <a:solidFill>
                  <a:schemeClr val="tx1"/>
                </a:solidFill>
                <a:latin typeface="+mn-ea"/>
                <a:ea typeface="+mn-ea"/>
              </a:rPr>
              <a:t>을 핵심 지표로 도입하여 임베디드 환경에서의 실제 활용 가능성을 분석했다는 점에서 차별성을 가짐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DE800F3-E48B-C1FF-262C-90F450174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 </a:t>
            </a:r>
            <a:r>
              <a:rPr lang="en-US" altLang="ko-KR" dirty="0"/>
              <a:t>(Introduction)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821536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D47B-444D-EC80-7F55-64A05784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F2F40C28-F832-41FB-88BF-D08DA8CC9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2" y="867898"/>
            <a:ext cx="8402035" cy="671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Overview</a:t>
            </a:r>
          </a:p>
          <a:p>
            <a:pPr marL="627062" lvl="2" indent="0">
              <a:lnSpc>
                <a:spcPct val="110000"/>
              </a:lnSpc>
              <a:spcBef>
                <a:spcPts val="600"/>
              </a:spcBef>
              <a:buNone/>
            </a:pPr>
            <a:endParaRPr lang="en-US" altLang="ko-KR" sz="1800" u="sng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29E88179-6AA6-4715-A747-AB6EFC5A5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</p:spPr>
        <p:txBody>
          <a:bodyPr/>
          <a:lstStyle/>
          <a:p>
            <a:r>
              <a:rPr lang="ko-KR" altLang="en-US" dirty="0"/>
              <a:t>방법 및 구현 </a:t>
            </a:r>
            <a:r>
              <a:rPr lang="en-US" altLang="ko-KR" dirty="0"/>
              <a:t>(Methodology &amp; Implementation)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6D6E858-43B2-60B4-340B-E083E18BD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335" y="3668845"/>
            <a:ext cx="4031994" cy="1549206"/>
          </a:xfrm>
          <a:prstGeom prst="rect">
            <a:avLst/>
          </a:prstGeom>
        </p:spPr>
      </p:pic>
      <p:pic>
        <p:nvPicPr>
          <p:cNvPr id="1026" name="Picture 2" descr="딥러닝 경량화] Pruning 기법으로 딥러닝 네트워크 경량화하기: 개념과 실제 적용 사례 | HMG Developers">
            <a:extLst>
              <a:ext uri="{FF2B5EF4-FFF2-40B4-BE49-F238E27FC236}">
                <a16:creationId xmlns:a16="http://schemas.microsoft.com/office/drawing/2014/main" id="{3B6CE902-376D-813D-1D3F-D6C4BD827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55" y="1393102"/>
            <a:ext cx="2628900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ization) 딥러닝 모델 양자화-1">
            <a:extLst>
              <a:ext uri="{FF2B5EF4-FFF2-40B4-BE49-F238E27FC236}">
                <a16:creationId xmlns:a16="http://schemas.microsoft.com/office/drawing/2014/main" id="{EA6FA7C9-015E-0F5C-29C3-C2A9C0C3C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993" y="1400566"/>
            <a:ext cx="4260148" cy="1240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DF54C11-C4DE-E492-456A-9C064DBEF1D0}"/>
              </a:ext>
            </a:extLst>
          </p:cNvPr>
          <p:cNvSpPr/>
          <p:nvPr/>
        </p:nvSpPr>
        <p:spPr bwMode="auto">
          <a:xfrm>
            <a:off x="-108052" y="3136177"/>
            <a:ext cx="3763436" cy="3600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Pruning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65C098-EBF0-516E-D743-A668963CCA2D}"/>
              </a:ext>
            </a:extLst>
          </p:cNvPr>
          <p:cNvSpPr/>
          <p:nvPr/>
        </p:nvSpPr>
        <p:spPr bwMode="auto">
          <a:xfrm>
            <a:off x="3851992" y="3136177"/>
            <a:ext cx="3763436" cy="3600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Quantization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F8E2EF-F059-311D-2CD6-634834B69CD1}"/>
              </a:ext>
            </a:extLst>
          </p:cNvPr>
          <p:cNvSpPr/>
          <p:nvPr/>
        </p:nvSpPr>
        <p:spPr bwMode="auto">
          <a:xfrm>
            <a:off x="2060275" y="5390715"/>
            <a:ext cx="3763436" cy="3600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chemeClr val="tx1"/>
                </a:solidFill>
                <a:latin typeface="Arial" charset="0"/>
              </a:rPr>
              <a:t>Pruning </a:t>
            </a:r>
            <a:r>
              <a:rPr lang="ko-KR" altLang="en-US" sz="1400" dirty="0">
                <a:solidFill>
                  <a:schemeClr val="tx1"/>
                </a:solidFill>
                <a:latin typeface="Arial" charset="0"/>
              </a:rPr>
              <a:t>및 </a:t>
            </a:r>
            <a:r>
              <a:rPr lang="en-US" altLang="ko-KR" sz="1400" dirty="0" err="1">
                <a:solidFill>
                  <a:schemeClr val="tx1"/>
                </a:solidFill>
                <a:latin typeface="Arial" charset="0"/>
              </a:rPr>
              <a:t>Qauntization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01107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D47B-444D-EC80-7F55-64A05784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F2F40C28-F832-41FB-88BF-D08DA8CC9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246547"/>
            <a:ext cx="8402035" cy="5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데이터 수집 및 구성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(Data Collection and Configuration)</a:t>
            </a: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실험 장치 및 환경</a:t>
            </a:r>
            <a:b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장치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: NVIDIA Jetson Thor</a:t>
            </a:r>
            <a:b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데이터셋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: COCO or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COCO-mini(10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개 클래스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경량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subset)</a:t>
            </a:r>
            <a:b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프레임워크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en-US" altLang="ko-KR" sz="1500" kern="0" dirty="0" err="1">
                <a:solidFill>
                  <a:schemeClr val="tx1"/>
                </a:solidFill>
                <a:latin typeface="+mn-ea"/>
                <a:ea typeface="+mn-ea"/>
              </a:rPr>
              <a:t>PyTorch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 + </a:t>
            </a:r>
            <a:r>
              <a:rPr lang="en-US" altLang="ko-KR" sz="1500" kern="0" dirty="0" err="1">
                <a:solidFill>
                  <a:schemeClr val="tx1"/>
                </a:solidFill>
                <a:latin typeface="+mn-ea"/>
                <a:ea typeface="+mn-ea"/>
              </a:rPr>
              <a:t>Ultralytics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 YOLO</a:t>
            </a:r>
            <a:b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비교모델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: Baseline, Pruned YOLO, Quantized YOLO, Pruned + Quantized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모델</a:t>
            </a:r>
            <a:b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실험 조건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동일한 입력 해상도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(640X640),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동일 배치 사이즈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동일 환경에서 반복 측정</a:t>
            </a: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평가 지표</a:t>
            </a:r>
            <a:b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 정확도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(mAP50),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속도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(FPS),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모델 크기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(MB),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평균 전력 소모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(Watt),</a:t>
            </a:r>
            <a:b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전력 효율성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ko-KR" sz="1500" kern="0" dirty="0" err="1">
                <a:solidFill>
                  <a:schemeClr val="tx1"/>
                </a:solidFill>
                <a:latin typeface="+mn-ea"/>
                <a:ea typeface="+mn-ea"/>
              </a:rPr>
              <a:t>mAP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/W, FPS/W)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등</a:t>
            </a: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실험절차</a:t>
            </a:r>
            <a:b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en-US" altLang="ko-KR" sz="1500" kern="0" dirty="0" err="1">
                <a:solidFill>
                  <a:schemeClr val="tx1"/>
                </a:solidFill>
                <a:latin typeface="+mn-ea"/>
                <a:ea typeface="+mn-ea"/>
              </a:rPr>
              <a:t>Baseilne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학습 및 검증</a:t>
            </a:r>
            <a:b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- Pruning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적용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+ </a:t>
            </a:r>
            <a:r>
              <a:rPr lang="ko-KR" altLang="en-US" sz="1500" kern="0" dirty="0" err="1">
                <a:solidFill>
                  <a:schemeClr val="tx1"/>
                </a:solidFill>
                <a:latin typeface="+mn-ea"/>
                <a:ea typeface="+mn-ea"/>
              </a:rPr>
              <a:t>파인튜닝</a:t>
            </a:r>
            <a:b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- Quantization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적용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(PTQ, </a:t>
            </a:r>
            <a:r>
              <a:rPr lang="en-US" altLang="ko-KR" sz="1500" kern="0" dirty="0" err="1">
                <a:solidFill>
                  <a:schemeClr val="tx1"/>
                </a:solidFill>
                <a:latin typeface="+mn-ea"/>
                <a:ea typeface="+mn-ea"/>
              </a:rPr>
              <a:t>TensorRT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 INT8)</a:t>
            </a:r>
            <a:b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- Jetson Thor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에서 추론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FPS +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전력 소모 측정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ko-KR" sz="1500" kern="0" dirty="0" err="1">
                <a:solidFill>
                  <a:schemeClr val="tx1"/>
                </a:solidFill>
                <a:latin typeface="+mn-ea"/>
                <a:ea typeface="+mn-ea"/>
              </a:rPr>
              <a:t>tegrastats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 활용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b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결과 정리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표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그래프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ko-KR" altLang="en-US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2" lvl="2" indent="0">
              <a:lnSpc>
                <a:spcPct val="11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29E88179-6AA6-4715-A747-AB6EFC5A5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</p:spPr>
        <p:txBody>
          <a:bodyPr/>
          <a:lstStyle/>
          <a:p>
            <a:r>
              <a:rPr lang="ko-KR" altLang="en-US" dirty="0"/>
              <a:t>방법 및 구현 </a:t>
            </a:r>
            <a:r>
              <a:rPr lang="en-US" altLang="ko-KR" dirty="0"/>
              <a:t>(Methodology &amp; Implementation)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570737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1346D7A-06BC-4E54-9A90-14E56FAC5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914549"/>
            <a:ext cx="849203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1.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실험 개요 및 환경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004C84-C126-64C3-7D33-084E28D18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55" y="1399947"/>
            <a:ext cx="2519569" cy="47290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3D81AF6-20F9-1794-F08F-86409DB3B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107" y="1399947"/>
            <a:ext cx="2467319" cy="42201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4198922-F151-579E-A3D5-F02B2D34A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034" y="1399947"/>
            <a:ext cx="3191320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2228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1346D7A-06BC-4E54-9A90-14E56FAC5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876776"/>
            <a:ext cx="8492036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2.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데이터 준비 및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Baseline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학습 및 검증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24326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4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4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4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2640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563783-14A3-4AEC-A9CA-F7A22161DFDD}"/>
              </a:ext>
            </a:extLst>
          </p:cNvPr>
          <p:cNvSpPr txBox="1"/>
          <p:nvPr/>
        </p:nvSpPr>
        <p:spPr>
          <a:xfrm>
            <a:off x="358516" y="1358977"/>
            <a:ext cx="8343659" cy="278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COCO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전체가 무거우면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COCO-mini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사용예정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5611580-6CAB-1200-380B-A09FDC9FD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12" y="1904824"/>
            <a:ext cx="1633517" cy="20263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456D033-AB62-A08B-C1D6-653552F63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2274" y="1901664"/>
            <a:ext cx="3504182" cy="20263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C23B553-7576-B973-2BC8-D5A4E0363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12" y="4352222"/>
            <a:ext cx="5306165" cy="16290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89C1DB1-675D-3383-B557-45A74E8C7148}"/>
              </a:ext>
            </a:extLst>
          </p:cNvPr>
          <p:cNvSpPr txBox="1"/>
          <p:nvPr/>
        </p:nvSpPr>
        <p:spPr>
          <a:xfrm>
            <a:off x="6054933" y="2119396"/>
            <a:ext cx="3005860" cy="1700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1.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Yaml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파일 설정</a:t>
            </a:r>
            <a:br>
              <a:rPr lang="en-US" altLang="ko-KR" sz="1200" b="1" dirty="0">
                <a:solidFill>
                  <a:schemeClr val="tx1"/>
                </a:solidFill>
                <a:latin typeface="+mn-ea"/>
              </a:rPr>
            </a:br>
            <a:br>
              <a:rPr lang="en-US" altLang="ko-KR" sz="1200" b="1" dirty="0">
                <a:solidFill>
                  <a:schemeClr val="tx1"/>
                </a:solidFill>
                <a:latin typeface="+mn-ea"/>
              </a:rPr>
            </a:b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2.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학습 실행</a:t>
            </a:r>
            <a:br>
              <a:rPr lang="en-US" altLang="ko-KR" sz="1200" b="1" dirty="0">
                <a:solidFill>
                  <a:schemeClr val="tx1"/>
                </a:solidFill>
                <a:latin typeface="+mn-ea"/>
              </a:rPr>
            </a:br>
            <a:br>
              <a:rPr lang="en-US" altLang="ko-KR" sz="1200" b="1" dirty="0">
                <a:solidFill>
                  <a:schemeClr val="tx1"/>
                </a:solidFill>
                <a:latin typeface="+mn-ea"/>
              </a:rPr>
            </a:b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3.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검증</a:t>
            </a:r>
            <a:br>
              <a:rPr lang="en-US" altLang="ko-KR" sz="1200" b="1" dirty="0">
                <a:solidFill>
                  <a:schemeClr val="tx1"/>
                </a:solidFill>
                <a:latin typeface="+mn-ea"/>
              </a:rPr>
            </a:br>
            <a:br>
              <a:rPr lang="en-US" altLang="ko-KR" sz="1200" b="1" dirty="0">
                <a:solidFill>
                  <a:schemeClr val="tx1"/>
                </a:solidFill>
                <a:latin typeface="+mn-ea"/>
              </a:rPr>
            </a:b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*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실험 재현성을 위해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seed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고정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1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mAP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로그 별도 저장</a:t>
            </a:r>
          </a:p>
        </p:txBody>
      </p:sp>
    </p:spTree>
    <p:extLst>
      <p:ext uri="{BB962C8B-B14F-4D97-AF65-F5344CB8AC3E}">
        <p14:creationId xmlns:p14="http://schemas.microsoft.com/office/powerpoint/2010/main" val="307541103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1346D7A-06BC-4E54-9A90-14E56FAC5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876776"/>
            <a:ext cx="849203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3. Pruning  + </a:t>
            </a:r>
            <a:r>
              <a:rPr lang="ko-KR" altLang="en-US" sz="1800" kern="0" dirty="0" err="1">
                <a:solidFill>
                  <a:schemeClr val="accent1">
                    <a:lumMod val="75000"/>
                  </a:schemeClr>
                </a:solidFill>
              </a:rPr>
              <a:t>파인튜닝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24326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5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5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5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5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2640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B9758-BC18-C350-4336-61D10A69F97B}"/>
              </a:ext>
            </a:extLst>
          </p:cNvPr>
          <p:cNvSpPr txBox="1"/>
          <p:nvPr/>
        </p:nvSpPr>
        <p:spPr>
          <a:xfrm>
            <a:off x="386217" y="1273085"/>
            <a:ext cx="8343659" cy="481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채널에 대해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L1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기반 중요도 산정 후 구조적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프루닝</a:t>
            </a:r>
            <a:br>
              <a:rPr lang="en-US" altLang="ko-KR" sz="1200" b="1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프루닝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후 짧은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파인튜닝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예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 10~20  epoch)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으로 정확도 회복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91B569-F401-537D-9DA8-B098025B7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032" y="2007287"/>
            <a:ext cx="7092028" cy="357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4304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EB009EF-C04C-39F4-91DF-8E645612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795168"/>
            <a:ext cx="867203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4. </a:t>
            </a:r>
            <a:r>
              <a:rPr lang="en-US" altLang="ko-KR" sz="1800" kern="0" dirty="0" err="1">
                <a:solidFill>
                  <a:schemeClr val="accent1">
                    <a:lumMod val="75000"/>
                  </a:schemeClr>
                </a:solidFill>
              </a:rPr>
              <a:t>Qauntization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 (PTQ and QAT)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0254E-034E-E6F7-3EC4-6BF75CFC022A}"/>
              </a:ext>
            </a:extLst>
          </p:cNvPr>
          <p:cNvSpPr txBox="1"/>
          <p:nvPr/>
        </p:nvSpPr>
        <p:spPr>
          <a:xfrm>
            <a:off x="386217" y="1273085"/>
            <a:ext cx="8343659" cy="1090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PTQ – Post Training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Quantizaion</a:t>
            </a:r>
            <a:br>
              <a:rPr lang="en-US" altLang="ko-KR" sz="1200" b="1" dirty="0">
                <a:solidFill>
                  <a:schemeClr val="tx1"/>
                </a:solidFill>
                <a:latin typeface="+mn-ea"/>
              </a:rPr>
            </a:b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 ONNX export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후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TensorRT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에서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INT8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엔진 빌드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캘리브레이션 필요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l">
              <a:lnSpc>
                <a:spcPct val="110000"/>
              </a:lnSpc>
            </a:pP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1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QAT – Quantization Aware Training</a:t>
            </a:r>
            <a:br>
              <a:rPr lang="en-US" altLang="ko-KR" sz="1200" b="1" dirty="0">
                <a:solidFill>
                  <a:schemeClr val="tx1"/>
                </a:solidFill>
                <a:latin typeface="+mn-ea"/>
              </a:rPr>
            </a:b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절차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모델 준비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&gt;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Prepare_qat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&gt; QAT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훈련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(5-10epoch) &gt; convert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&gt;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평가</a:t>
            </a:r>
          </a:p>
        </p:txBody>
      </p:sp>
    </p:spTree>
    <p:extLst>
      <p:ext uri="{BB962C8B-B14F-4D97-AF65-F5344CB8AC3E}">
        <p14:creationId xmlns:p14="http://schemas.microsoft.com/office/powerpoint/2010/main" val="246524505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1346D7A-06BC-4E54-9A90-14E56FAC5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876776"/>
            <a:ext cx="84920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5. FPS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및 </a:t>
            </a:r>
            <a:r>
              <a:rPr lang="en-US" altLang="ko-KR" sz="1800" kern="0" dirty="0" err="1">
                <a:solidFill>
                  <a:schemeClr val="accent1">
                    <a:lumMod val="75000"/>
                  </a:schemeClr>
                </a:solidFill>
              </a:rPr>
              <a:t>mAP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측정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marL="62640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C02DA3E-C737-D3E1-3C9F-83458A004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55" y="1417633"/>
            <a:ext cx="5760064" cy="30013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1D078B-B90C-163E-E648-44C8A197C779}"/>
              </a:ext>
            </a:extLst>
          </p:cNvPr>
          <p:cNvSpPr txBox="1"/>
          <p:nvPr/>
        </p:nvSpPr>
        <p:spPr>
          <a:xfrm>
            <a:off x="338400" y="4869016"/>
            <a:ext cx="8685833" cy="481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python -m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ultralytics.yolo.val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--data data/coco-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mini.yaml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--weights runs/train/baseline/weights/best.pt --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img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640</a:t>
            </a:r>
          </a:p>
          <a:p>
            <a:pPr algn="l">
              <a:lnSpc>
                <a:spcPct val="110000"/>
              </a:lnSpc>
            </a:pP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635159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1346D7A-06BC-4E54-9A90-14E56FAC5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876776"/>
            <a:ext cx="849203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6.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전력 측정</a:t>
            </a: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4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4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4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4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8616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arenR" startAt="4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500" kern="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806400" marR="0" lvl="1" indent="-1800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626400" marR="0" lvl="1" indent="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E9D743-3CC0-4076-BF65-EDD37C2E7096}"/>
              </a:ext>
            </a:extLst>
          </p:cNvPr>
          <p:cNvSpPr txBox="1"/>
          <p:nvPr/>
        </p:nvSpPr>
        <p:spPr>
          <a:xfrm>
            <a:off x="1115994" y="6332642"/>
            <a:ext cx="693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*</a:t>
            </a:r>
            <a:r>
              <a:rPr lang="en-US" altLang="ko-KR" sz="1000" b="1" dirty="0" err="1">
                <a:solidFill>
                  <a:schemeClr val="tx1"/>
                </a:solidFill>
              </a:rPr>
              <a:t>OpenMMLab</a:t>
            </a:r>
            <a:r>
              <a:rPr lang="ko-KR" altLang="en-US" sz="1000" dirty="0">
                <a:solidFill>
                  <a:schemeClr val="tx1"/>
                </a:solidFill>
              </a:rPr>
              <a:t> 프로젝트의 일부로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en-US" altLang="ko-KR" sz="1000" b="1" dirty="0">
                <a:solidFill>
                  <a:schemeClr val="tx1"/>
                </a:solidFill>
              </a:rPr>
              <a:t>semantic segmentation</a:t>
            </a:r>
            <a:r>
              <a:rPr lang="ko-KR" altLang="en-US" sz="1000" dirty="0">
                <a:solidFill>
                  <a:schemeClr val="tx1"/>
                </a:solidFill>
              </a:rPr>
              <a:t>을 위한 </a:t>
            </a:r>
            <a:r>
              <a:rPr lang="en-US" altLang="ko-KR" sz="1000" b="1" dirty="0" err="1">
                <a:solidFill>
                  <a:schemeClr val="tx1"/>
                </a:solidFill>
              </a:rPr>
              <a:t>PyTorch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기반 오픈소스 라이브러리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F10A29-13FB-8C91-4B25-5D3F7AFDFE5F}"/>
              </a:ext>
            </a:extLst>
          </p:cNvPr>
          <p:cNvSpPr txBox="1"/>
          <p:nvPr/>
        </p:nvSpPr>
        <p:spPr>
          <a:xfrm>
            <a:off x="474200" y="4770800"/>
            <a:ext cx="8343659" cy="278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nvidia-smi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--query-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gpu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=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power.draw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--format=csv --loop-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ms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=1000 &gt; power_pc.log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C64AEEA-AE41-26F3-F779-A4BED97BD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51" y="1655901"/>
            <a:ext cx="3870043" cy="265784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251BEEA-4924-15B1-895C-2C59E03E8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995" y="1655901"/>
            <a:ext cx="4725759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6833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EB009EF-C04C-39F4-91DF-8E645612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860925"/>
            <a:ext cx="849203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7.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결과 정리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E6C2A-6B62-918A-1B20-F2CD9F3648B7}"/>
              </a:ext>
            </a:extLst>
          </p:cNvPr>
          <p:cNvSpPr txBox="1"/>
          <p:nvPr/>
        </p:nvSpPr>
        <p:spPr>
          <a:xfrm>
            <a:off x="400170" y="1268976"/>
            <a:ext cx="8343659" cy="3528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Accuracy vs. Power trade-off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곡선 도출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10000"/>
              </a:lnSpc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“작동 가능한 최적 지점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(sweet spot)”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찾기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10000"/>
              </a:lnSpc>
            </a:pP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10000"/>
              </a:lnSpc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가시화 방법</a:t>
            </a:r>
            <a:br>
              <a:rPr lang="en-US" altLang="ko-KR" sz="1200" b="1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그래프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– X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축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 FPS, Y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축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전력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(Watt),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버블 크기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=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정확도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mAP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l">
              <a:lnSpc>
                <a:spcPct val="110000"/>
              </a:lnSpc>
            </a:pP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10000"/>
              </a:lnSpc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테이블 형식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–</a:t>
            </a:r>
          </a:p>
          <a:p>
            <a:pPr algn="l">
              <a:lnSpc>
                <a:spcPct val="110000"/>
              </a:lnSpc>
            </a:pP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10000"/>
              </a:lnSpc>
            </a:pP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10000"/>
              </a:lnSpc>
            </a:pP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10000"/>
              </a:lnSpc>
            </a:pP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10000"/>
              </a:lnSpc>
            </a:pP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10000"/>
              </a:lnSpc>
            </a:pP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10000"/>
              </a:lnSpc>
            </a:pP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10000"/>
              </a:lnSpc>
            </a:pP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1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CSV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파일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- model,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size_MB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mAP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FPS,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P_avg_W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mAP_per_W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FPS_per_W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run_id</a:t>
            </a:r>
            <a:br>
              <a:rPr lang="en-US" altLang="ko-KR" sz="1200" b="1" dirty="0">
                <a:solidFill>
                  <a:schemeClr val="tx1"/>
                </a:solidFill>
                <a:latin typeface="+mn-ea"/>
              </a:rPr>
            </a:b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            -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주요 파행지표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mAP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/P-_avg, FPS/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P_avg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0CB30D9-1713-5C34-F273-77F52478F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902" y="2528990"/>
            <a:ext cx="5601026" cy="127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5589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7B64757B-96D9-EFBA-0C96-626D20E91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54" y="965608"/>
            <a:ext cx="8312034" cy="320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연구계획</a:t>
            </a:r>
            <a:endParaRPr lang="en-US" altLang="ko-KR" kern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94C633F-B60D-FEBA-ED2F-B3F10B03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연구계획 </a:t>
            </a:r>
            <a:r>
              <a:rPr lang="en-US" altLang="ko-KR" dirty="0"/>
              <a:t>(</a:t>
            </a:r>
            <a:r>
              <a:rPr lang="ko-KR" altLang="en-US" dirty="0"/>
              <a:t>유진호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96A8B6B-70B6-9BA1-A6F4-9C37D6172746}"/>
              </a:ext>
            </a:extLst>
          </p:cNvPr>
          <p:cNvSpPr/>
          <p:nvPr/>
        </p:nvSpPr>
        <p:spPr bwMode="auto">
          <a:xfrm>
            <a:off x="791958" y="1808982"/>
            <a:ext cx="7758038" cy="56976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rgbClr val="0033CC"/>
                </a:solidFill>
                <a:latin typeface="Arial" charset="0"/>
              </a:rPr>
              <a:t>임베디드 환경을 위한 </a:t>
            </a:r>
            <a:r>
              <a:rPr lang="en-US" altLang="ko-KR" sz="1600" dirty="0">
                <a:solidFill>
                  <a:srgbClr val="0033CC"/>
                </a:solidFill>
                <a:latin typeface="Arial" charset="0"/>
              </a:rPr>
              <a:t>YOLO </a:t>
            </a:r>
            <a:r>
              <a:rPr lang="ko-KR" altLang="en-US" sz="1600" dirty="0">
                <a:solidFill>
                  <a:srgbClr val="0033CC"/>
                </a:solidFill>
                <a:latin typeface="Arial" charset="0"/>
              </a:rPr>
              <a:t>객체 탐지 모델의 경량화 기법에 따른 전력효율 평가</a:t>
            </a:r>
            <a:endParaRPr kumimoji="0" lang="ko-KR" altLang="en-US" sz="1600" b="0" i="0" u="none" strike="noStrike" cap="none" normalizeH="0" baseline="0" dirty="0">
              <a:ln>
                <a:noFill/>
              </a:ln>
              <a:solidFill>
                <a:srgbClr val="0033CC"/>
              </a:solidFill>
              <a:effectLst/>
              <a:latin typeface="Arial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72CF3D6-8CEA-367C-317E-412C0BEA6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491232"/>
              </p:ext>
            </p:extLst>
          </p:nvPr>
        </p:nvGraphicFramePr>
        <p:xfrm>
          <a:off x="415984" y="2903717"/>
          <a:ext cx="8476061" cy="28675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0748">
                  <a:extLst>
                    <a:ext uri="{9D8B030D-6E8A-4147-A177-3AD203B41FA5}">
                      <a16:colId xmlns:a16="http://schemas.microsoft.com/office/drawing/2014/main" val="3486639958"/>
                    </a:ext>
                  </a:extLst>
                </a:gridCol>
                <a:gridCol w="659449">
                  <a:extLst>
                    <a:ext uri="{9D8B030D-6E8A-4147-A177-3AD203B41FA5}">
                      <a16:colId xmlns:a16="http://schemas.microsoft.com/office/drawing/2014/main" val="267075297"/>
                    </a:ext>
                  </a:extLst>
                </a:gridCol>
                <a:gridCol w="659449">
                  <a:extLst>
                    <a:ext uri="{9D8B030D-6E8A-4147-A177-3AD203B41FA5}">
                      <a16:colId xmlns:a16="http://schemas.microsoft.com/office/drawing/2014/main" val="460752520"/>
                    </a:ext>
                  </a:extLst>
                </a:gridCol>
                <a:gridCol w="659449">
                  <a:extLst>
                    <a:ext uri="{9D8B030D-6E8A-4147-A177-3AD203B41FA5}">
                      <a16:colId xmlns:a16="http://schemas.microsoft.com/office/drawing/2014/main" val="3087935564"/>
                    </a:ext>
                  </a:extLst>
                </a:gridCol>
                <a:gridCol w="659449">
                  <a:extLst>
                    <a:ext uri="{9D8B030D-6E8A-4147-A177-3AD203B41FA5}">
                      <a16:colId xmlns:a16="http://schemas.microsoft.com/office/drawing/2014/main" val="3305314967"/>
                    </a:ext>
                  </a:extLst>
                </a:gridCol>
                <a:gridCol w="659449">
                  <a:extLst>
                    <a:ext uri="{9D8B030D-6E8A-4147-A177-3AD203B41FA5}">
                      <a16:colId xmlns:a16="http://schemas.microsoft.com/office/drawing/2014/main" val="1974752114"/>
                    </a:ext>
                  </a:extLst>
                </a:gridCol>
                <a:gridCol w="1798068">
                  <a:extLst>
                    <a:ext uri="{9D8B030D-6E8A-4147-A177-3AD203B41FA5}">
                      <a16:colId xmlns:a16="http://schemas.microsoft.com/office/drawing/2014/main" val="3134551244"/>
                    </a:ext>
                  </a:extLst>
                </a:gridCol>
              </a:tblGrid>
              <a:tr h="36426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359452"/>
                  </a:ext>
                </a:extLst>
              </a:tr>
              <a:tr h="3642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2000" marR="72000" marT="763" marB="0" anchor="ctr">
                    <a:solidFill>
                      <a:srgbClr val="12275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142491"/>
                  </a:ext>
                </a:extLst>
              </a:tr>
              <a:tr h="36426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문헌조사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데이터셋 확보 및 분석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연구 계획서 초안</a:t>
                      </a:r>
                    </a:p>
                  </a:txBody>
                  <a:tcPr marL="72000" marR="72000" marT="763" marB="0" anchor="ctr"/>
                </a:tc>
                <a:extLst>
                  <a:ext uri="{0D108BD9-81ED-4DB2-BD59-A6C34878D82A}">
                    <a16:rowId xmlns:a16="http://schemas.microsoft.com/office/drawing/2014/main" val="2429772804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실험 구현 코드 작성 및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PC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셋팅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구현 코드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extLst>
                  <a:ext uri="{0D108BD9-81ED-4DB2-BD59-A6C34878D82A}">
                    <a16:rowId xmlns:a16="http://schemas.microsoft.com/office/drawing/2014/main" val="1205382919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실험 진행 및 관련 내용 정리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경량화 모델 및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주요 평가지표 정보</a:t>
                      </a:r>
                    </a:p>
                  </a:txBody>
                  <a:tcPr marL="72000" marR="72000" marT="763" marB="0" anchor="ctr"/>
                </a:tc>
                <a:extLst>
                  <a:ext uri="{0D108BD9-81ED-4DB2-BD59-A6C34878D82A}">
                    <a16:rowId xmlns:a16="http://schemas.microsoft.com/office/drawing/2014/main" val="3832795093"/>
                  </a:ext>
                </a:extLst>
              </a:tr>
              <a:tr h="36426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최적의 전력효율 및 추가 경량화 기법 적용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가시화 자료 및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최종 실험내용</a:t>
                      </a:r>
                    </a:p>
                  </a:txBody>
                  <a:tcPr marL="72000" marR="72000" marT="763" marB="0" anchor="ctr"/>
                </a:tc>
                <a:extLst>
                  <a:ext uri="{0D108BD9-81ED-4DB2-BD59-A6C34878D82A}">
                    <a16:rowId xmlns:a16="http://schemas.microsoft.com/office/drawing/2014/main" val="3734360546"/>
                  </a:ext>
                </a:extLst>
              </a:tr>
              <a:tr h="36426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결과 정리 및 논문 작성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63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최종 논문</a:t>
                      </a:r>
                    </a:p>
                  </a:txBody>
                  <a:tcPr marL="72000" marR="72000" marT="763" marB="0" anchor="ctr"/>
                </a:tc>
                <a:extLst>
                  <a:ext uri="{0D108BD9-81ED-4DB2-BD59-A6C34878D82A}">
                    <a16:rowId xmlns:a16="http://schemas.microsoft.com/office/drawing/2014/main" val="1065313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65974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951C254-D3FE-4F55-B884-40C49A8602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6399033"/>
            <a:ext cx="1444806" cy="267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42296-B25A-27A7-7E69-7939DB0BA19F}"/>
              </a:ext>
            </a:extLst>
          </p:cNvPr>
          <p:cNvSpPr txBox="1"/>
          <p:nvPr/>
        </p:nvSpPr>
        <p:spPr>
          <a:xfrm>
            <a:off x="1016960" y="2078985"/>
            <a:ext cx="7110079" cy="2133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5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감사합니다</a:t>
            </a:r>
            <a:endParaRPr lang="en-US" altLang="ko-KR" sz="5400" b="1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5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Q&amp;A</a:t>
            </a:r>
            <a:endParaRPr lang="ko-KR" altLang="en-US" sz="5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323391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9D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1A79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9D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1A79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2004:Templates:Presentations:Designs:Calm Seas</Template>
  <TotalTime>68770</TotalTime>
  <Words>966</Words>
  <Application>Microsoft Office PowerPoint</Application>
  <PresentationFormat>화면 슬라이드 쇼(4:3)</PresentationFormat>
  <Paragraphs>153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나눔고딕 ExtraBold</vt:lpstr>
      <vt:lpstr>맑은 고딕</vt:lpstr>
      <vt:lpstr>Arial</vt:lpstr>
      <vt:lpstr>Cambria</vt:lpstr>
      <vt:lpstr>Corbel</vt:lpstr>
      <vt:lpstr>Times New Roman</vt:lpstr>
      <vt:lpstr>Wingdings</vt:lpstr>
      <vt:lpstr>1_Default Design</vt:lpstr>
      <vt:lpstr>2_Default Design</vt:lpstr>
      <vt:lpstr>PowerPoint 프레젠테이션</vt:lpstr>
      <vt:lpstr>목차</vt:lpstr>
      <vt:lpstr>프로젝트 #1 개요</vt:lpstr>
      <vt:lpstr>서론 (Introduction)</vt:lpstr>
      <vt:lpstr>방법 및 구현 (Methodology &amp; Implementation)</vt:lpstr>
      <vt:lpstr>방법 및 구현 (Methodology &amp; Implementation)</vt:lpstr>
      <vt:lpstr>실험 구성 및 평가 방법 (Experiment Settings) </vt:lpstr>
      <vt:lpstr>실험 구성 및 평가 방법 (Experiment Settings) </vt:lpstr>
      <vt:lpstr>실험 구성 및 평가 방법 (Experiment Settings) </vt:lpstr>
      <vt:lpstr>실험 구성 및 평가 방법 (Experiment Settings) </vt:lpstr>
      <vt:lpstr>실험 구성 및 평가 방법 (Experiment Settings) </vt:lpstr>
      <vt:lpstr>실험 구성 및 평가 방법 (Experiment Settings) </vt:lpstr>
      <vt:lpstr>실험 구성 및 평가 방법 (Experiment Settings) </vt:lpstr>
      <vt:lpstr>연구계획 (유진호)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이광연</dc:creator>
  <cp:lastModifiedBy>USER-01</cp:lastModifiedBy>
  <cp:revision>3334</cp:revision>
  <cp:lastPrinted>2023-01-25T05:07:50Z</cp:lastPrinted>
  <dcterms:created xsi:type="dcterms:W3CDTF">2004-08-18T11:28:05Z</dcterms:created>
  <dcterms:modified xsi:type="dcterms:W3CDTF">2025-09-17T10:45:01Z</dcterms:modified>
</cp:coreProperties>
</file>