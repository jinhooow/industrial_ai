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22"/>
  </p:notesMasterIdLst>
  <p:handoutMasterIdLst>
    <p:handoutMasterId r:id="rId23"/>
  </p:handoutMasterIdLst>
  <p:sldIdLst>
    <p:sldId id="449" r:id="rId3"/>
    <p:sldId id="1027" r:id="rId4"/>
    <p:sldId id="1019" r:id="rId5"/>
    <p:sldId id="1058" r:id="rId6"/>
    <p:sldId id="1021" r:id="rId7"/>
    <p:sldId id="1059" r:id="rId8"/>
    <p:sldId id="1060" r:id="rId9"/>
    <p:sldId id="1072" r:id="rId10"/>
    <p:sldId id="1046" r:id="rId11"/>
    <p:sldId id="1061" r:id="rId12"/>
    <p:sldId id="1062" r:id="rId13"/>
    <p:sldId id="1065" r:id="rId14"/>
    <p:sldId id="1064" r:id="rId15"/>
    <p:sldId id="1066" r:id="rId16"/>
    <p:sldId id="1068" r:id="rId17"/>
    <p:sldId id="1067" r:id="rId18"/>
    <p:sldId id="1069" r:id="rId19"/>
    <p:sldId id="1070" r:id="rId20"/>
    <p:sldId id="1006" r:id="rId21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27"/>
            <p14:sldId id="1019"/>
            <p14:sldId id="1058"/>
            <p14:sldId id="1021"/>
            <p14:sldId id="1059"/>
            <p14:sldId id="1060"/>
            <p14:sldId id="1072"/>
            <p14:sldId id="1046"/>
            <p14:sldId id="1061"/>
            <p14:sldId id="1062"/>
            <p14:sldId id="1065"/>
            <p14:sldId id="1064"/>
            <p14:sldId id="1066"/>
            <p14:sldId id="1068"/>
            <p14:sldId id="1067"/>
            <p14:sldId id="1069"/>
            <p14:sldId id="1070"/>
            <p14:sldId id="10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7BB"/>
    <a:srgbClr val="0033CC"/>
    <a:srgbClr val="12275E"/>
    <a:srgbClr val="9A1F4E"/>
    <a:srgbClr val="E8E8E8"/>
    <a:srgbClr val="152B65"/>
    <a:srgbClr val="8FAADC"/>
    <a:srgbClr val="CCECFF"/>
    <a:srgbClr val="FFFF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9" autoAdjust="0"/>
    <p:restoredTop sz="92077" autoAdjust="0"/>
  </p:normalViewPr>
  <p:slideViewPr>
    <p:cSldViewPr>
      <p:cViewPr varScale="1">
        <p:scale>
          <a:sx n="105" d="100"/>
          <a:sy n="105" d="100"/>
        </p:scale>
        <p:origin x="1412" y="76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690D-55DA-C1ED-AC59-99CCE19B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866B6D-6295-D56C-E428-4F2DF1C78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2D091F-37BA-356A-39EF-FD99AEFFE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A5E26E-A4EB-038C-CBF7-FB15D3610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987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7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E3CF-F661-A8F3-B0CE-5E3B2049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3E460F-8691-9060-0D55-18941EFC8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AF6BC2-4439-C5C1-76C8-306FE2C95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BBF8AA-C7E1-CAE3-3D0D-E7AB484F5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62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57C73-27B0-F620-E76C-BA739AD3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89A045-DB75-C6A1-6598-6D8AA1E26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368092-89CE-ED46-C0A7-B990FD36E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65853D-D695-02C6-63A4-3694571564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26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9B65-A24B-565B-A544-59D6DA14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DA1040-5BA8-7D6C-B452-E8FD34F78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8B768E-B03D-2F1D-676E-D3B91B7F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2190E-0508-F3CB-17F2-01E966E76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320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9771-05BF-3113-BE7E-168CC80CD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A741F-5F16-D2E7-5A97-DBCD2D587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580A5C-6571-9FFD-7BD1-75365FF1E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E5720-1A63-EC2F-F9C3-73F1DA82B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90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891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7B5E-AD87-03A3-2F6B-DA04B0D85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FDCB70-ED8D-5A9D-8F99-10621EBBE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C0BCD-93D7-6E0E-8597-A57C95B70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38C3C-382E-C124-80EE-6084BF616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423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5F2D-2391-2025-82C4-524448F7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003F0-8427-8244-E611-38C33886A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E23A8D-285C-DCEF-5D90-C4A8CE5EE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6E508-6317-F77F-D92F-C7DD54211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912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AEE4-1618-1609-BAE7-69C241A8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2B159D-55E3-201C-1F86-DC91E942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90695A-2FDE-5461-ECB2-05125639B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6AB0D2-2C36-8F6C-B361-E119E3670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973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AF30-6A30-A579-943F-D777E2CE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954FD9-77A4-30A4-481A-32750CC36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AD6C7D-D2D2-57CB-DE27-B03349B9B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15BCF-C61B-0CAA-1B0C-68C61CB2C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245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4864-9FB0-90A0-7857-EA15D9CB3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1E4908-1105-E37F-542E-230A70AD3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50C45C-5D7C-4288-8317-3D67AD0CC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21950-CC7F-263B-43CB-D82760CA8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826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6738A-517D-A08E-F084-CC2CAE6C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4CE62-1535-7A0F-3A0F-BE082D563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AFE9D-6B8A-19CF-AEF3-7ED1F3121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34D633-FC48-C77B-A365-C3699E588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062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3C62-FEC1-775B-6AAE-BBD035E0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A490E8-CE01-1BB2-A0F4-DCEDC45D4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8D71D9-EF93-C28F-2628-87D5F12FA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C8F4D-598F-F732-F3E4-C929338693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335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0A8A-D627-9694-74B0-C134FDFA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68BD43-E318-A9C4-A459-62E82A855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8D6BC2-D37F-169B-95A9-9771BD7D0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97DE7-9256-B75E-553D-6B1DFF09DF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024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BD75-5AB6-5226-685D-0E3AF7E5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9DD642-760E-CF9D-8D3A-3BB7DDA38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8CABE4-A6AD-CA5B-DEA1-88508DC3D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50508-B9D0-ABF2-7B55-BA7DAC2C7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973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1088974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졸업논문 발표자료</a:t>
            </a:r>
            <a:endParaRPr lang="en-US" altLang="ko-KR" sz="4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4912B-7505-A2FB-FBB8-4DF4D2A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960" y="4878004"/>
            <a:ext cx="7605084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유진호</a:t>
            </a:r>
          </a:p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jhyoo@avgenius.kr</a:t>
            </a:r>
          </a:p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충북대학교 산업인공지능학과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330701" y="2461629"/>
            <a:ext cx="8482595" cy="1817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임베디드 </a:t>
            </a:r>
            <a: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AI </a:t>
            </a:r>
            <a:r>
              <a:rPr lang="ko-KR" altLang="en-US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객체 탐지 모델의 전력 효율 분석 및 평가 프레임워크 연구</a:t>
            </a:r>
            <a:endParaRPr lang="en-US" altLang="ko-KR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</a:br>
            <a:r>
              <a:rPr lang="en-US" altLang="ko-KR" dirty="0">
                <a:solidFill>
                  <a:schemeClr val="tx2"/>
                </a:solidFill>
              </a:rPr>
              <a:t>A Power-Efficiency Analysis and Evaluation Framework for </a:t>
            </a:r>
          </a:p>
          <a:p>
            <a:pPr marL="38100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2"/>
                </a:solidFill>
              </a:rPr>
              <a:t>Embedded AI-Based Object Detection Models</a:t>
            </a: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947A-22F7-ACF6-BE68-C023D657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4E887F-B744-6B7A-4C4C-8E52D2FC289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F2E444A-CCC5-1E52-E2F2-774CB94EF44F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2B7DCD8-C3DC-03E3-46C3-F784F7CBAEC8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0583181C-BEBF-EA72-D49B-C042C8B84EEC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6CD4B33-3444-8728-8A81-9FE54092028D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5391FC-D30E-9626-A826-A46F35B0B0D0}"/>
              </a:ext>
            </a:extLst>
          </p:cNvPr>
          <p:cNvSpPr txBox="1"/>
          <p:nvPr/>
        </p:nvSpPr>
        <p:spPr>
          <a:xfrm>
            <a:off x="1891949" y="159764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833CCB-254F-4EDC-B4CF-5E75326F8A56}"/>
              </a:ext>
            </a:extLst>
          </p:cNvPr>
          <p:cNvSpPr txBox="1"/>
          <p:nvPr/>
        </p:nvSpPr>
        <p:spPr>
          <a:xfrm>
            <a:off x="1911844" y="1978237"/>
            <a:ext cx="1854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목적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A28BFF74-6A22-4B71-71A7-B479E073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B982560-D7CD-B33C-6112-784F24646D74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E9D92A-1A51-3CAB-D2D2-903D0A8CF341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198C792-4618-209B-06A3-278D297C175A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원형: 비어 있음 4">
              <a:extLst>
                <a:ext uri="{FF2B5EF4-FFF2-40B4-BE49-F238E27FC236}">
                  <a16:creationId xmlns:a16="http://schemas.microsoft.com/office/drawing/2014/main" id="{364CA204-4D89-CE76-B294-7CA37ECBEC75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FA689D1-05A4-3252-9C3D-F7BD0A9A89C1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04470E-C687-9E69-4685-0AD990AE5521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원형: 비어 있음 8">
            <a:extLst>
              <a:ext uri="{FF2B5EF4-FFF2-40B4-BE49-F238E27FC236}">
                <a16:creationId xmlns:a16="http://schemas.microsoft.com/office/drawing/2014/main" id="{DE980ABB-33FD-A237-E625-663F915C08C5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A1484F4-667F-CD2D-1279-71E981E4F209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17B0B6-BD28-984B-8426-438D831EBAE1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원형: 비어 있음 15">
            <a:extLst>
              <a:ext uri="{FF2B5EF4-FFF2-40B4-BE49-F238E27FC236}">
                <a16:creationId xmlns:a16="http://schemas.microsoft.com/office/drawing/2014/main" id="{66B91699-50F3-FDF4-6145-98C5C0503328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76AF960-EA98-A5C5-435C-50D3B45BAA86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2FF3D88-A235-151A-9806-7AB5A30B362A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원형: 비어 있음 18">
            <a:extLst>
              <a:ext uri="{FF2B5EF4-FFF2-40B4-BE49-F238E27FC236}">
                <a16:creationId xmlns:a16="http://schemas.microsoft.com/office/drawing/2014/main" id="{8945EC71-5C2F-E486-D407-AD3AFFBD3542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51080-C366-D11C-647F-00AB3C04590C}"/>
              </a:ext>
            </a:extLst>
          </p:cNvPr>
          <p:cNvSpPr txBox="1"/>
          <p:nvPr/>
        </p:nvSpPr>
        <p:spPr>
          <a:xfrm>
            <a:off x="1891949" y="2533813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관련 연구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5DDC4A-47FA-808E-4BEB-99D958373173}"/>
              </a:ext>
            </a:extLst>
          </p:cNvPr>
          <p:cNvSpPr txBox="1"/>
          <p:nvPr/>
        </p:nvSpPr>
        <p:spPr>
          <a:xfrm>
            <a:off x="1891949" y="345890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연구 방법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74605-6B00-391D-EA9E-F6330423283D}"/>
              </a:ext>
            </a:extLst>
          </p:cNvPr>
          <p:cNvSpPr txBox="1"/>
          <p:nvPr/>
        </p:nvSpPr>
        <p:spPr>
          <a:xfrm>
            <a:off x="1911844" y="3839502"/>
            <a:ext cx="3231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내용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실험 환경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실험 절차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세부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3B922-4461-7140-8086-4A320DE0710B}"/>
              </a:ext>
            </a:extLst>
          </p:cNvPr>
          <p:cNvSpPr txBox="1"/>
          <p:nvPr/>
        </p:nvSpPr>
        <p:spPr>
          <a:xfrm>
            <a:off x="1891949" y="4395078"/>
            <a:ext cx="2249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결과 및 분석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B993E-9604-1B78-594A-1871C2EB2DC6}"/>
              </a:ext>
            </a:extLst>
          </p:cNvPr>
          <p:cNvSpPr txBox="1"/>
          <p:nvPr/>
        </p:nvSpPr>
        <p:spPr>
          <a:xfrm>
            <a:off x="1911844" y="4775674"/>
            <a:ext cx="6296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정량적 성능 요약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전력 효율 분석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프레임 워크 기반 모델 선택 기준 및 한계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6BC154-C577-3876-1D9C-EA0E627D0B9E}"/>
              </a:ext>
            </a:extLst>
          </p:cNvPr>
          <p:cNvSpPr txBox="1"/>
          <p:nvPr/>
        </p:nvSpPr>
        <p:spPr>
          <a:xfrm>
            <a:off x="1891949" y="531762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6C226-120D-49F0-C96D-AFAB4A09BFB0}"/>
              </a:ext>
            </a:extLst>
          </p:cNvPr>
          <p:cNvSpPr txBox="1"/>
          <p:nvPr/>
        </p:nvSpPr>
        <p:spPr>
          <a:xfrm>
            <a:off x="1911844" y="2887957"/>
            <a:ext cx="5812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객체 탐지 모델의 발전 흐름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모델 경량화 기법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기존 연구의 공통 한계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558A1E-DC78-0456-5814-AC73624E60CA}"/>
              </a:ext>
            </a:extLst>
          </p:cNvPr>
          <p:cNvSpPr txBox="1"/>
          <p:nvPr/>
        </p:nvSpPr>
        <p:spPr>
          <a:xfrm>
            <a:off x="1884393" y="5691984"/>
            <a:ext cx="4025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요약 및 핵심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기여 및 향후 연구 방향</a:t>
            </a:r>
          </a:p>
        </p:txBody>
      </p:sp>
    </p:spTree>
    <p:extLst>
      <p:ext uri="{BB962C8B-B14F-4D97-AF65-F5344CB8AC3E}">
        <p14:creationId xmlns:p14="http://schemas.microsoft.com/office/powerpoint/2010/main" val="33119777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 descr="원, 로고, 상징, 라우드스피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48FE88-EAB0-C2C7-717D-0D322637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2" y="2978995"/>
            <a:ext cx="3960044" cy="30050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Ⅰ. </a:t>
            </a:r>
            <a:r>
              <a:rPr lang="ko-KR" altLang="en-US" dirty="0"/>
              <a:t>서론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51" y="908972"/>
            <a:ext cx="8640097" cy="281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배경</a:t>
            </a:r>
            <a:r>
              <a:rPr lang="en-US" altLang="ko-KR" sz="1800" kern="0" dirty="0">
                <a:solidFill>
                  <a:schemeClr val="tx1"/>
                </a:solidFill>
              </a:rPr>
              <a:t> </a:t>
            </a:r>
            <a:br>
              <a:rPr lang="en-US" altLang="ko-KR" sz="1800" kern="0" dirty="0">
                <a:solidFill>
                  <a:schemeClr val="tx1"/>
                </a:solidFill>
              </a:rPr>
            </a:br>
            <a:r>
              <a:rPr lang="ko-KR" altLang="en-US" b="0" dirty="0"/>
              <a:t>① </a:t>
            </a:r>
            <a:r>
              <a:rPr lang="ko-KR" altLang="en-US" b="0" kern="0" dirty="0">
                <a:solidFill>
                  <a:schemeClr val="tx1"/>
                </a:solidFill>
              </a:rPr>
              <a:t>객체 탐지 기술의 발전</a:t>
            </a:r>
            <a:br>
              <a:rPr lang="en-US" altLang="ko-KR" sz="180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ko-KR" altLang="en-US" sz="1400" b="0" kern="0" dirty="0">
                <a:solidFill>
                  <a:schemeClr val="tx1"/>
                </a:solidFill>
              </a:rPr>
              <a:t>딥러닝 기반 객체 탐지 모델의 급속한 발전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</a:rPr>
              <a:t>  </a:t>
            </a:r>
            <a:r>
              <a:rPr lang="en-US" altLang="ko-KR" sz="1200" b="0" kern="0" dirty="0">
                <a:solidFill>
                  <a:schemeClr val="tx1"/>
                </a:solidFill>
              </a:rPr>
              <a:t>YOLO </a:t>
            </a:r>
            <a:r>
              <a:rPr lang="ko-KR" altLang="en-US" sz="1200" b="0" kern="0" dirty="0">
                <a:solidFill>
                  <a:schemeClr val="tx1"/>
                </a:solidFill>
              </a:rPr>
              <a:t>시리즈는 정확도와 속도를 동시에 향상시키며 자율주행</a:t>
            </a:r>
            <a:r>
              <a:rPr lang="en-US" altLang="ko-KR" sz="1200" b="0" kern="0" dirty="0">
                <a:solidFill>
                  <a:schemeClr val="tx1"/>
                </a:solidFill>
              </a:rPr>
              <a:t>·</a:t>
            </a:r>
            <a:r>
              <a:rPr lang="ko-KR" altLang="en-US" sz="1200" b="0" kern="0" dirty="0" err="1">
                <a:solidFill>
                  <a:schemeClr val="tx1"/>
                </a:solidFill>
              </a:rPr>
              <a:t>드론</a:t>
            </a:r>
            <a:r>
              <a:rPr lang="en-US" altLang="ko-KR" sz="1200" b="0" kern="0" dirty="0">
                <a:solidFill>
                  <a:schemeClr val="tx1"/>
                </a:solidFill>
              </a:rPr>
              <a:t>·</a:t>
            </a:r>
            <a:r>
              <a:rPr lang="ko-KR" altLang="en-US" sz="1200" b="0" kern="0" dirty="0">
                <a:solidFill>
                  <a:schemeClr val="tx1"/>
                </a:solidFill>
              </a:rPr>
              <a:t>로봇 등 다양한 분야에서 핵심 기술로 자리 잡음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2.</a:t>
            </a:r>
            <a:r>
              <a:rPr lang="ko-KR" altLang="en-US" sz="1400" b="0" kern="0" dirty="0">
                <a:solidFill>
                  <a:schemeClr val="tx1"/>
                </a:solidFill>
              </a:rPr>
              <a:t>효율 중심 구조의 등장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</a:rPr>
              <a:t>  </a:t>
            </a:r>
            <a:r>
              <a:rPr lang="ko-KR" altLang="en-US" sz="1200" b="0" kern="0" dirty="0">
                <a:solidFill>
                  <a:schemeClr val="tx1"/>
                </a:solidFill>
              </a:rPr>
              <a:t>최근 </a:t>
            </a:r>
            <a:r>
              <a:rPr lang="en-US" altLang="ko-KR" sz="1200" b="0" kern="0" dirty="0">
                <a:solidFill>
                  <a:schemeClr val="tx1"/>
                </a:solidFill>
              </a:rPr>
              <a:t>YOLO(v8~11)</a:t>
            </a:r>
            <a:r>
              <a:rPr lang="ko-KR" altLang="en-US" sz="1200" b="0" kern="0" dirty="0">
                <a:solidFill>
                  <a:schemeClr val="tx1"/>
                </a:solidFill>
              </a:rPr>
              <a:t>에서는 </a:t>
            </a:r>
            <a:r>
              <a:rPr lang="en-US" altLang="ko-KR" sz="1200" b="0" kern="0" dirty="0">
                <a:solidFill>
                  <a:schemeClr val="tx1"/>
                </a:solidFill>
              </a:rPr>
              <a:t>Anchor-free, NMS-free,</a:t>
            </a:r>
            <a:r>
              <a:rPr lang="ko-KR" altLang="en-US" sz="1200" b="0" kern="0" dirty="0">
                <a:solidFill>
                  <a:schemeClr val="tx1"/>
                </a:solidFill>
              </a:rPr>
              <a:t>경량 백본 설계</a:t>
            </a:r>
            <a:r>
              <a:rPr lang="en-US" altLang="ko-KR" sz="1200" b="0" kern="0" dirty="0">
                <a:solidFill>
                  <a:schemeClr val="tx1"/>
                </a:solidFill>
              </a:rPr>
              <a:t>, PGI </a:t>
            </a:r>
            <a:r>
              <a:rPr lang="ko-KR" altLang="en-US" sz="1200" b="0" kern="0" dirty="0">
                <a:solidFill>
                  <a:schemeClr val="tx1"/>
                </a:solidFill>
              </a:rPr>
              <a:t>모듈 등 임베디드 친화적 구조가 강화되고 있음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3.</a:t>
            </a:r>
            <a:r>
              <a:rPr lang="ko-KR" altLang="en-US" sz="1400" b="0" kern="0" dirty="0">
                <a:solidFill>
                  <a:schemeClr val="tx1"/>
                </a:solidFill>
              </a:rPr>
              <a:t>요구되는 핵심 과제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</a:rPr>
              <a:t>  </a:t>
            </a:r>
            <a:r>
              <a:rPr lang="ko-KR" altLang="en-US" sz="1200" b="0" kern="0" dirty="0">
                <a:solidFill>
                  <a:schemeClr val="tx1"/>
                </a:solidFill>
              </a:rPr>
              <a:t>정확도만 높은 모델이 아닌 </a:t>
            </a:r>
            <a:r>
              <a:rPr lang="ko-KR" altLang="en-US" sz="1200" kern="0" dirty="0" err="1">
                <a:solidFill>
                  <a:schemeClr val="tx1"/>
                </a:solidFill>
              </a:rPr>
              <a:t>고정밀</a:t>
            </a:r>
            <a:r>
              <a:rPr lang="en-US" altLang="ko-KR" sz="1200" kern="0" dirty="0">
                <a:solidFill>
                  <a:schemeClr val="tx1"/>
                </a:solidFill>
              </a:rPr>
              <a:t>+</a:t>
            </a:r>
            <a:r>
              <a:rPr lang="ko-KR" altLang="en-US" sz="1200" kern="0" dirty="0">
                <a:solidFill>
                  <a:schemeClr val="tx1"/>
                </a:solidFill>
              </a:rPr>
              <a:t>고효율 </a:t>
            </a:r>
            <a:r>
              <a:rPr lang="ko-KR" altLang="en-US" sz="1200" b="0" kern="0" dirty="0">
                <a:solidFill>
                  <a:schemeClr val="tx1"/>
                </a:solidFill>
              </a:rPr>
              <a:t>모델의 필요성이 더욱 명확해짐</a:t>
            </a:r>
            <a:endParaRPr lang="en-US" altLang="ko-KR" sz="1200" b="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32" name="Picture 8" descr="YOLO]You Only Look Once : Unified, Real-Time Object Detection">
            <a:extLst>
              <a:ext uri="{FF2B5EF4-FFF2-40B4-BE49-F238E27FC236}">
                <a16:creationId xmlns:a16="http://schemas.microsoft.com/office/drawing/2014/main" id="{73574D86-2304-849A-091C-277A83049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60" y="3789004"/>
            <a:ext cx="3199706" cy="214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056DAC-9761-6765-366C-A274BB08FF91}"/>
              </a:ext>
            </a:extLst>
          </p:cNvPr>
          <p:cNvSpPr txBox="1"/>
          <p:nvPr/>
        </p:nvSpPr>
        <p:spPr>
          <a:xfrm>
            <a:off x="1259438" y="5949028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&lt;YOLO</a:t>
            </a:r>
            <a:r>
              <a:rPr lang="ko-KR" altLang="en-US" sz="1000" dirty="0">
                <a:solidFill>
                  <a:schemeClr val="tx1"/>
                </a:solidFill>
              </a:rPr>
              <a:t> 객체 탐지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43190-0C15-A854-ABA8-E34848061A22}"/>
              </a:ext>
            </a:extLst>
          </p:cNvPr>
          <p:cNvSpPr txBox="1"/>
          <p:nvPr/>
        </p:nvSpPr>
        <p:spPr>
          <a:xfrm>
            <a:off x="5419649" y="5932056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&lt;YOLO </a:t>
            </a:r>
            <a:r>
              <a:rPr lang="ko-KR" altLang="en-US" sz="1000" dirty="0">
                <a:solidFill>
                  <a:schemeClr val="tx1"/>
                </a:solidFill>
              </a:rPr>
              <a:t>과제 다이어그램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153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E8C4-9D81-4FE3-A1D0-9B5B006E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27A3E-6F26-E0C7-6199-18C8231B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Ⅰ. </a:t>
            </a:r>
            <a:r>
              <a:rPr lang="ko-KR" altLang="en-US" dirty="0"/>
              <a:t>서론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928F264-276F-2C1F-A83C-663276DC2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51" y="908972"/>
            <a:ext cx="8640097" cy="273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배경</a:t>
            </a:r>
            <a:r>
              <a:rPr lang="en-US" altLang="ko-KR" sz="1800" kern="0" dirty="0">
                <a:solidFill>
                  <a:schemeClr val="tx1"/>
                </a:solidFill>
              </a:rPr>
              <a:t> </a:t>
            </a:r>
            <a:br>
              <a:rPr lang="en-US" altLang="ko-KR" sz="1800" kern="0" dirty="0">
                <a:solidFill>
                  <a:schemeClr val="tx1"/>
                </a:solidFill>
              </a:rPr>
            </a:br>
            <a:r>
              <a:rPr lang="ko-KR" altLang="en-US" b="0" dirty="0"/>
              <a:t>② </a:t>
            </a:r>
            <a:r>
              <a:rPr lang="ko-KR" altLang="en-US" b="0" kern="0" dirty="0">
                <a:solidFill>
                  <a:schemeClr val="tx1"/>
                </a:solidFill>
              </a:rPr>
              <a:t>임베디드 환경의 제약과 경량화 필요성</a:t>
            </a:r>
            <a:br>
              <a:rPr lang="en-US" altLang="ko-KR" sz="180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ko-KR" altLang="en-US" sz="1400" b="0" kern="0" dirty="0">
                <a:solidFill>
                  <a:schemeClr val="tx1"/>
                </a:solidFill>
              </a:rPr>
              <a:t>임베디드 시스템의 근본적인 한계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</a:rPr>
              <a:t>  </a:t>
            </a:r>
            <a:r>
              <a:rPr lang="ko-KR" altLang="en-US" sz="1200" b="0" kern="0" dirty="0">
                <a:solidFill>
                  <a:schemeClr val="tx1"/>
                </a:solidFill>
              </a:rPr>
              <a:t>연산자원 부족</a:t>
            </a:r>
            <a:r>
              <a:rPr lang="en-US" altLang="ko-KR" sz="1200" b="0" kern="0" dirty="0">
                <a:solidFill>
                  <a:schemeClr val="tx1"/>
                </a:solidFill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</a:rPr>
              <a:t>전력 제한</a:t>
            </a:r>
            <a:r>
              <a:rPr lang="en-US" altLang="ko-KR" sz="1200" b="0" kern="0" dirty="0">
                <a:solidFill>
                  <a:schemeClr val="tx1"/>
                </a:solidFill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</a:rPr>
              <a:t>발열 문제</a:t>
            </a:r>
            <a:r>
              <a:rPr lang="en-US" altLang="ko-KR" sz="1200" b="0" kern="0" dirty="0">
                <a:solidFill>
                  <a:schemeClr val="tx1"/>
                </a:solidFill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</a:rPr>
              <a:t>배터리 제약 등으로 인해 대형 딥러닝 모델을 그대로 적용하기 어려움</a:t>
            </a:r>
            <a:br>
              <a:rPr lang="en-US" altLang="ko-KR" sz="12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2.</a:t>
            </a:r>
            <a:r>
              <a:rPr lang="ko-KR" altLang="en-US" sz="1400" b="0" kern="0" dirty="0">
                <a:solidFill>
                  <a:schemeClr val="tx1"/>
                </a:solidFill>
              </a:rPr>
              <a:t>경량화 기술의 부상</a:t>
            </a:r>
            <a:br>
              <a:rPr lang="en-US" altLang="ko-KR" sz="1400" b="0" kern="0" dirty="0">
                <a:solidFill>
                  <a:schemeClr val="tx1"/>
                </a:solidFill>
              </a:rPr>
            </a:br>
            <a:r>
              <a:rPr lang="en-US" altLang="ko-KR" sz="1400" b="0" kern="0" dirty="0">
                <a:solidFill>
                  <a:schemeClr val="tx1"/>
                </a:solidFill>
              </a:rPr>
              <a:t>  </a:t>
            </a:r>
            <a:r>
              <a:rPr lang="en-US" altLang="ko-KR" sz="1200" b="0" kern="0" dirty="0">
                <a:solidFill>
                  <a:schemeClr val="tx1"/>
                </a:solidFill>
              </a:rPr>
              <a:t>Pruning, Quantization, KD, NAS </a:t>
            </a:r>
            <a:r>
              <a:rPr lang="ko-KR" altLang="en-US" sz="1200" b="0" kern="0" dirty="0">
                <a:solidFill>
                  <a:schemeClr val="tx1"/>
                </a:solidFill>
              </a:rPr>
              <a:t>등을 활용해모델 크기</a:t>
            </a:r>
            <a:r>
              <a:rPr lang="en-US" altLang="ko-KR" sz="1200" b="0" kern="0" dirty="0">
                <a:solidFill>
                  <a:schemeClr val="tx1"/>
                </a:solidFill>
              </a:rPr>
              <a:t>·</a:t>
            </a:r>
            <a:r>
              <a:rPr lang="ko-KR" altLang="en-US" sz="1200" b="0" kern="0" dirty="0" err="1">
                <a:solidFill>
                  <a:schemeClr val="tx1"/>
                </a:solidFill>
              </a:rPr>
              <a:t>연산량</a:t>
            </a:r>
            <a:r>
              <a:rPr lang="en-US" altLang="ko-KR" sz="1200" b="0" kern="0" dirty="0">
                <a:solidFill>
                  <a:schemeClr val="tx1"/>
                </a:solidFill>
              </a:rPr>
              <a:t>·</a:t>
            </a:r>
            <a:r>
              <a:rPr lang="ko-KR" altLang="en-US" sz="1200" b="0" kern="0" dirty="0">
                <a:solidFill>
                  <a:schemeClr val="tx1"/>
                </a:solidFill>
              </a:rPr>
              <a:t>전력 소비를 대폭 감소시키는 기술이 핵심 연구 주제로 부상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3.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새로운 평가 기준의 필요성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en-US" altLang="ko-KR" sz="1800" b="0" kern="0" dirty="0">
                <a:solidFill>
                  <a:schemeClr val="tx1"/>
                </a:solidFill>
              </a:rPr>
              <a:t> </a:t>
            </a:r>
            <a:r>
              <a:rPr lang="ko-KR" altLang="en-US" sz="1200" b="0" kern="0" dirty="0">
                <a:solidFill>
                  <a:schemeClr val="tx1"/>
                </a:solidFill>
              </a:rPr>
              <a:t>임베디드 환경에서는 정확도</a:t>
            </a:r>
            <a:r>
              <a:rPr lang="en-US" altLang="ko-KR" sz="1200" b="0" kern="0" dirty="0">
                <a:solidFill>
                  <a:schemeClr val="tx1"/>
                </a:solidFill>
              </a:rPr>
              <a:t>(</a:t>
            </a:r>
            <a:r>
              <a:rPr lang="en-US" altLang="ko-KR" sz="1200" b="0" kern="0" dirty="0" err="1">
                <a:solidFill>
                  <a:schemeClr val="tx1"/>
                </a:solidFill>
              </a:rPr>
              <a:t>mAP</a:t>
            </a:r>
            <a:r>
              <a:rPr lang="en-US" altLang="ko-KR" sz="1200" b="0" kern="0" dirty="0">
                <a:solidFill>
                  <a:schemeClr val="tx1"/>
                </a:solidFill>
              </a:rPr>
              <a:t>)</a:t>
            </a:r>
            <a:r>
              <a:rPr lang="ko-KR" altLang="en-US" sz="1200" b="0" kern="0" dirty="0">
                <a:solidFill>
                  <a:schemeClr val="tx1"/>
                </a:solidFill>
              </a:rPr>
              <a:t>만으로는 충분하지 않으며</a:t>
            </a:r>
            <a:r>
              <a:rPr lang="en-US" altLang="ko-KR" sz="1200" b="0" kern="0" dirty="0">
                <a:solidFill>
                  <a:schemeClr val="tx1"/>
                </a:solidFill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</a:rPr>
              <a:t>전력 효율</a:t>
            </a:r>
            <a:r>
              <a:rPr lang="en-US" altLang="ko-KR" sz="1200" b="0" kern="0" dirty="0">
                <a:solidFill>
                  <a:schemeClr val="tx1"/>
                </a:solidFill>
              </a:rPr>
              <a:t>(</a:t>
            </a:r>
            <a:r>
              <a:rPr lang="en-US" altLang="ko-KR" sz="1200" b="0" kern="0" dirty="0" err="1">
                <a:solidFill>
                  <a:schemeClr val="tx1"/>
                </a:solidFill>
              </a:rPr>
              <a:t>mAP</a:t>
            </a:r>
            <a:r>
              <a:rPr lang="en-US" altLang="ko-KR" sz="1200" b="0" kern="0" dirty="0">
                <a:solidFill>
                  <a:schemeClr val="tx1"/>
                </a:solidFill>
              </a:rPr>
              <a:t>/Watt)   </a:t>
            </a:r>
            <a:r>
              <a:rPr lang="ko-KR" altLang="en-US" sz="1200" b="0" kern="0" dirty="0">
                <a:solidFill>
                  <a:schemeClr val="tx1"/>
                </a:solidFill>
              </a:rPr>
              <a:t>중심의 평가 체계가 필수적임</a:t>
            </a:r>
            <a:endParaRPr lang="en-US" altLang="ko-KR" sz="1200" b="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F099865-FE73-0328-C676-A395E2F76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00" y="3789004"/>
            <a:ext cx="4410050" cy="1619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4CEFE34-8343-08B8-5FBB-4331650045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010" y="3789004"/>
            <a:ext cx="2840579" cy="16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0CCDBF-4F96-69A9-5CFC-81A911FFDDF3}"/>
              </a:ext>
            </a:extLst>
          </p:cNvPr>
          <p:cNvSpPr txBox="1"/>
          <p:nvPr/>
        </p:nvSpPr>
        <p:spPr>
          <a:xfrm>
            <a:off x="482503" y="5759698"/>
            <a:ext cx="7740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임베디드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AI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는 정확도보다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전력 대비 성능이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더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</a:rPr>
              <a:t>중요해진다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D9B12E8-3F34-7F54-9591-3F057BE4C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944" y="3329804"/>
            <a:ext cx="1489073" cy="3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80B03-C6BD-6C74-08DA-92A53801AE0F}"/>
              </a:ext>
            </a:extLst>
          </p:cNvPr>
          <p:cNvSpPr txBox="1"/>
          <p:nvPr/>
        </p:nvSpPr>
        <p:spPr>
          <a:xfrm>
            <a:off x="1231050" y="5432804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&lt;NVIDIA Jetson Nano / NX&gt;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2011D-E906-2250-0BE4-F39AC9C5329D}"/>
              </a:ext>
            </a:extLst>
          </p:cNvPr>
          <p:cNvSpPr txBox="1"/>
          <p:nvPr/>
        </p:nvSpPr>
        <p:spPr>
          <a:xfrm>
            <a:off x="5489924" y="5432804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임베디드 제약 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대 요소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3130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Ⅱ. </a:t>
            </a:r>
            <a:r>
              <a:rPr lang="ko-KR" altLang="en-US" dirty="0"/>
              <a:t>관련 연구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346D7A-06BC-4E54-9A90-14E56FAC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객체 탐지 모델의 발전 흐름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 ① 2-Stage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 →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1-Stage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로 진화하며 실시간성 확보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3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br>
              <a:rPr lang="en-US" altLang="ko-KR" sz="1800" b="0" kern="0" dirty="0">
                <a:solidFill>
                  <a:schemeClr val="tx1"/>
                </a:solidFill>
              </a:rPr>
            </a:br>
            <a:r>
              <a:rPr lang="ko-KR" altLang="en-US" sz="1800" b="0" kern="0" dirty="0">
                <a:solidFill>
                  <a:schemeClr val="tx1"/>
                </a:solidFill>
              </a:rPr>
              <a:t>   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1. R-CNN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 →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Fast/Faster R-CNN :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정확도는 높지만 속도 한계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2. YOLO·SSD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등장 이후 단일 단계로 실시간 탐지가 가능해짐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12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② YOLO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시리즈의 핵심 개선점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BE6DB6-E0E9-1858-4CA7-0D0B8CDB1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33865"/>
              </p:ext>
            </p:extLst>
          </p:nvPr>
        </p:nvGraphicFramePr>
        <p:xfrm>
          <a:off x="906027" y="2438989"/>
          <a:ext cx="5588937" cy="159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17">
                  <a:extLst>
                    <a:ext uri="{9D8B030D-6E8A-4147-A177-3AD203B41FA5}">
                      <a16:colId xmlns:a16="http://schemas.microsoft.com/office/drawing/2014/main" val="499075811"/>
                    </a:ext>
                  </a:extLst>
                </a:gridCol>
                <a:gridCol w="4058920">
                  <a:extLst>
                    <a:ext uri="{9D8B030D-6E8A-4147-A177-3AD203B41FA5}">
                      <a16:colId xmlns:a16="http://schemas.microsoft.com/office/drawing/2014/main" val="1561306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버</a:t>
                      </a:r>
                      <a:r>
                        <a:rPr lang="ko-KR" altLang="en-US" sz="1600" dirty="0"/>
                        <a:t>   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 개선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95383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YOLOv3</a:t>
                      </a:r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다중 스케일</a:t>
                      </a:r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(FPN), 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작은 객체</a:t>
                      </a:r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탐지 강화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9557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YOLOv4</a:t>
                      </a:r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CSP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구조 </a:t>
                      </a:r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+ Mish → 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정확도 </a:t>
                      </a:r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/ 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속도 균형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33280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YOLOv5~7</a:t>
                      </a:r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경량화</a:t>
                      </a:r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모듈화</a:t>
                      </a:r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산업용 성능 강화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36473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YOLOv8~11</a:t>
                      </a:r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j-ea"/>
                          <a:ea typeface="+mj-ea"/>
                        </a:rPr>
                        <a:t>Anchor-free / NMS-free / PGI </a:t>
                      </a:r>
                      <a:r>
                        <a:rPr lang="ko-KR" altLang="en-US" sz="1400" dirty="0">
                          <a:latin typeface="+mj-ea"/>
                          <a:ea typeface="+mj-ea"/>
                        </a:rPr>
                        <a:t>기반 고효율 구조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755218"/>
                  </a:ext>
                </a:extLst>
              </a:tr>
            </a:tbl>
          </a:graphicData>
        </a:graphic>
      </p:graphicFrame>
      <p:pic>
        <p:nvPicPr>
          <p:cNvPr id="6" name="Picture 4" descr="review-image">
            <a:extLst>
              <a:ext uri="{FF2B5EF4-FFF2-40B4-BE49-F238E27FC236}">
                <a16:creationId xmlns:a16="http://schemas.microsoft.com/office/drawing/2014/main" id="{029BA773-6627-CAE5-A5B8-F0EFA20FA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82" y="4171111"/>
            <a:ext cx="7056235" cy="168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FAAA90-A5A0-1521-A7FA-0370C4D2BAC9}"/>
              </a:ext>
            </a:extLst>
          </p:cNvPr>
          <p:cNvSpPr txBox="1"/>
          <p:nvPr/>
        </p:nvSpPr>
        <p:spPr>
          <a:xfrm>
            <a:off x="3047040" y="5859027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&lt;YOLO</a:t>
            </a:r>
            <a:r>
              <a:rPr lang="ko-KR" altLang="en-US" sz="1000" dirty="0">
                <a:solidFill>
                  <a:schemeClr val="tx1"/>
                </a:solidFill>
              </a:rPr>
              <a:t>의 발전  단계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82228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5445-3E57-BE09-B4FC-A23A8AE2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B6299-D39A-96CA-2BC9-B9517566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Ⅱ. </a:t>
            </a:r>
            <a:r>
              <a:rPr lang="ko-KR" altLang="en-US" dirty="0"/>
              <a:t>관련 연구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7B05C2C-B9BF-FD23-E751-AAA26E1A1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모델 경량화 기법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① Pruning (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가지치기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1.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핵심 아이디어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중요도가 낮은 채널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필터를 제거해 </a:t>
            </a:r>
            <a:r>
              <a:rPr lang="ko-KR" altLang="en-US" sz="1200" b="0" kern="0" dirty="0" err="1">
                <a:solidFill>
                  <a:schemeClr val="tx1"/>
                </a:solidFill>
                <a:latin typeface="+mj-ea"/>
                <a:ea typeface="+mj-ea"/>
              </a:rPr>
              <a:t>연산량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모델 크기 감소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2.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특징 및 효과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 Structured Pruning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적용 시 실제 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GPUNPU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에서 추론 효율 상승</a:t>
            </a:r>
            <a:b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모델 크기 감소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메모리 사용량 감소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속도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(FPS)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증가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→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전력 소비 감소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과도하게 적용 시 특징 소실로 </a:t>
            </a:r>
            <a:r>
              <a:rPr lang="en-US" altLang="ko-KR" sz="1200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하락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&gt; 30%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채널 기반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Structured Pruning / Fine-Tuning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진행하여 정확도 및 손실 최소화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0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② Quantization (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양자화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1.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핵심 아이디어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  FP32 → INT8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로 변환하여 정밀도는 낮추고 효율성은 높이는 방식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2.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특징 및 효과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 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모델 크기 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50~60%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축소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연산 속도 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1.5~2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배 증가</a:t>
            </a:r>
            <a:b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          INT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 연산은 </a:t>
            </a:r>
            <a:r>
              <a:rPr lang="en-US" altLang="ko-KR" sz="1200" b="0" kern="0" dirty="0">
                <a:solidFill>
                  <a:schemeClr val="tx1"/>
                </a:solidFill>
                <a:latin typeface="+mj-ea"/>
                <a:ea typeface="+mj-ea"/>
              </a:rPr>
              <a:t>FP</a:t>
            </a:r>
            <a:r>
              <a:rPr lang="ko-KR" altLang="en-US" sz="1200" b="0" kern="0" dirty="0">
                <a:solidFill>
                  <a:schemeClr val="tx1"/>
                </a:solidFill>
                <a:latin typeface="+mj-ea"/>
                <a:ea typeface="+mj-ea"/>
              </a:rPr>
              <a:t>연산 대비 전력 소모가 적어 임베디드 전력 효율 향상의 핵심 기술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&gt; Dynamic INT8 Quantization /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TensorRT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기반 최적화로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Jetson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장치에서 효율 극대화</a:t>
            </a:r>
            <a:b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 descr="딥러닝 경량화] Pruning 기법으로 딥러닝 네트워크 경량화하기: 개념과 실제 적용 사례 | HMG Developers">
            <a:extLst>
              <a:ext uri="{FF2B5EF4-FFF2-40B4-BE49-F238E27FC236}">
                <a16:creationId xmlns:a16="http://schemas.microsoft.com/office/drawing/2014/main" id="{40DD88F6-F046-F1BA-660C-85F81978C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60" y="4509012"/>
            <a:ext cx="2628900" cy="153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Quantization) 딥러닝 모델 양자화-1">
            <a:extLst>
              <a:ext uri="{FF2B5EF4-FFF2-40B4-BE49-F238E27FC236}">
                <a16:creationId xmlns:a16="http://schemas.microsoft.com/office/drawing/2014/main" id="{AD164E79-2AB5-5822-75C0-C4ABAF8F5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840" y="4509012"/>
            <a:ext cx="4260148" cy="124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602EEA-2C8B-91E7-B3D1-8BA90B753D42}"/>
              </a:ext>
            </a:extLst>
          </p:cNvPr>
          <p:cNvSpPr txBox="1"/>
          <p:nvPr/>
        </p:nvSpPr>
        <p:spPr>
          <a:xfrm>
            <a:off x="5301539" y="5966694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&lt;Quantization </a:t>
            </a:r>
            <a:r>
              <a:rPr lang="ko-KR" altLang="en-US" sz="1000" dirty="0">
                <a:solidFill>
                  <a:schemeClr val="tx1"/>
                </a:solidFill>
              </a:rPr>
              <a:t>개념도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8188E-06BF-7D20-55B2-AE0C58B7287A}"/>
              </a:ext>
            </a:extLst>
          </p:cNvPr>
          <p:cNvSpPr txBox="1"/>
          <p:nvPr/>
        </p:nvSpPr>
        <p:spPr>
          <a:xfrm>
            <a:off x="976110" y="5966694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&lt;Pruning </a:t>
            </a:r>
            <a:r>
              <a:rPr lang="ko-KR" altLang="en-US" sz="1000" dirty="0">
                <a:solidFill>
                  <a:schemeClr val="tx1"/>
                </a:solidFill>
              </a:rPr>
              <a:t>개념도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0156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E405-F59E-7AFD-3ADE-26981267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C3F01-BCA3-617D-EF0E-4AAB720E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Ⅱ. </a:t>
            </a:r>
            <a:r>
              <a:rPr lang="ko-KR" altLang="en-US" dirty="0"/>
              <a:t>관련 연구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B0261C3-F9FB-2166-8AC7-9300AC81A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기존 연구의 공통 한계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①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전력 효율 지표 부재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대부분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, FPS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만 비교하고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전력이나 에너지 효율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/Watt)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에 대한 고려 부족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0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②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임베디드 실제 장치 평가 부족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GPU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위주의 실험으로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Jetson, NPU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기반 실측 연구가 거의 없으며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전력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발열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변동성 등 실제 운용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 요소가 반영되지 않음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③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단일 경량화 기법 중심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Pruning or Quantization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단독 연구는 많지만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Pruning + Quantization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의 병합 효과 검증 부족</a:t>
            </a:r>
            <a:b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8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</a:rPr>
              <a:t>&gt; </a:t>
            </a:r>
            <a:r>
              <a:rPr lang="ko-KR" altLang="en-US" b="0" kern="0" dirty="0">
                <a:solidFill>
                  <a:schemeClr val="tx1"/>
                </a:solidFill>
              </a:rPr>
              <a:t>기존 연구는 정확도 중심 평가에 치우쳐 있으며</a:t>
            </a:r>
            <a:r>
              <a:rPr lang="en-US" altLang="ko-KR" b="0" kern="0" dirty="0">
                <a:solidFill>
                  <a:schemeClr val="tx1"/>
                </a:solidFill>
              </a:rPr>
              <a:t>,</a:t>
            </a:r>
            <a:r>
              <a:rPr lang="ko-KR" altLang="en-US" b="0" kern="0" dirty="0">
                <a:solidFill>
                  <a:schemeClr val="tx1"/>
                </a:solidFill>
              </a:rPr>
              <a:t> 실제 임베디드 </a:t>
            </a:r>
            <a:r>
              <a:rPr lang="en-US" altLang="ko-KR" b="0" kern="0" dirty="0">
                <a:solidFill>
                  <a:schemeClr val="tx1"/>
                </a:solidFill>
              </a:rPr>
              <a:t>AI</a:t>
            </a:r>
            <a:r>
              <a:rPr lang="ko-KR" altLang="en-US" b="0" kern="0" dirty="0">
                <a:solidFill>
                  <a:schemeClr val="tx1"/>
                </a:solidFill>
              </a:rPr>
              <a:t>가 필요한</a:t>
            </a:r>
            <a:r>
              <a:rPr lang="en-US" altLang="ko-KR" b="0" kern="0" dirty="0">
                <a:solidFill>
                  <a:schemeClr val="tx1"/>
                </a:solidFill>
              </a:rPr>
              <a:t> </a:t>
            </a:r>
            <a:r>
              <a:rPr lang="ko-KR" altLang="en-US" b="0" kern="0" dirty="0">
                <a:solidFill>
                  <a:schemeClr val="tx1"/>
                </a:solidFill>
              </a:rPr>
              <a:t>전력 효율</a:t>
            </a:r>
            <a:br>
              <a:rPr lang="en-US" altLang="ko-KR" b="0" kern="0" dirty="0">
                <a:solidFill>
                  <a:schemeClr val="tx1"/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</a:rPr>
              <a:t>   </a:t>
            </a:r>
            <a:r>
              <a:rPr lang="ko-KR" altLang="en-US" b="0" kern="0" dirty="0">
                <a:solidFill>
                  <a:schemeClr val="tx1"/>
                </a:solidFill>
              </a:rPr>
              <a:t> 환경 평가가 미흡함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그림 5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CA9804-ECAC-81AC-7BA8-D9DEF180B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009" y="4061977"/>
            <a:ext cx="3132893" cy="19744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2A84C4-F866-7C2F-2774-C04D918A3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58" y="4239009"/>
            <a:ext cx="3797172" cy="1794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3199CF-547D-32B4-7A57-1D04DE4ED8AC}"/>
              </a:ext>
            </a:extLst>
          </p:cNvPr>
          <p:cNvSpPr txBox="1"/>
          <p:nvPr/>
        </p:nvSpPr>
        <p:spPr>
          <a:xfrm>
            <a:off x="5636080" y="6033452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&lt;YOLOv5</a:t>
            </a:r>
            <a:r>
              <a:rPr lang="ko-KR" altLang="en-US" sz="1000" dirty="0">
                <a:solidFill>
                  <a:schemeClr val="tx1"/>
                </a:solidFill>
              </a:rPr>
              <a:t>의 성능평가 지표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1EDB0-4509-1925-AB77-56779D57F0AD}"/>
              </a:ext>
            </a:extLst>
          </p:cNvPr>
          <p:cNvSpPr txBox="1"/>
          <p:nvPr/>
        </p:nvSpPr>
        <p:spPr>
          <a:xfrm>
            <a:off x="1435069" y="6033452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&lt;YOLO </a:t>
            </a:r>
            <a:r>
              <a:rPr lang="ko-KR" altLang="en-US" sz="1000" dirty="0">
                <a:solidFill>
                  <a:schemeClr val="tx1"/>
                </a:solidFill>
              </a:rPr>
              <a:t>시리즈 별 성능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0457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E405-B808-573D-C32F-32D08512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319FFB3E-0922-9177-BC10-20721EE5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Ⅲ.</a:t>
            </a:r>
            <a:r>
              <a:rPr lang="ko-KR" altLang="en-US" dirty="0">
                <a:latin typeface="+mj-ea"/>
              </a:rPr>
              <a:t> 연구 방법</a:t>
            </a:r>
            <a:endParaRPr lang="ko-KR" altLang="en-US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6810D4CB-F367-EF71-E9D2-6B089FA1A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02035" cy="6064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내용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핵심 차별성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① 정확도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–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속도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–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전력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–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전력효율을 통합한 새로운 평가 체계 제안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②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Jetson </a:t>
            </a:r>
            <a:r>
              <a:rPr lang="en-US" altLang="ko-KR" kern="0" dirty="0" err="1">
                <a:solidFill>
                  <a:schemeClr val="tx1"/>
                </a:solidFill>
                <a:latin typeface="+mn-ea"/>
                <a:ea typeface="+mn-ea"/>
              </a:rPr>
              <a:t>Nano·Xavier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 NX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에서 실측 전력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ko-KR" kern="0" dirty="0" err="1">
                <a:solidFill>
                  <a:schemeClr val="tx1"/>
                </a:solidFill>
                <a:latin typeface="+mn-ea"/>
                <a:ea typeface="+mn-ea"/>
              </a:rPr>
              <a:t>tegrastats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기반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으로 정량 평가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③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Pruning + Quantization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조합이 실제로 효율이 극대화되는지 실험적으로 증명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④ </a:t>
            </a:r>
            <a:r>
              <a:rPr lang="en-US" altLang="ko-KR" kern="0" dirty="0" err="1">
                <a:solidFill>
                  <a:schemeClr val="tx1"/>
                </a:solidFill>
                <a:latin typeface="+mn-ea"/>
                <a:ea typeface="+mn-ea"/>
              </a:rPr>
              <a:t>mAP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/Watt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기반의 모델 선택 기준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(Pareto Front)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을 제시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⑤ 정확도 중심 연구 → 전력 효율 중심 연구로 패러다임 전환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8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 marL="243260" lvl="1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600" b="1" dirty="0">
                <a:latin typeface="+mj-ea"/>
                <a:ea typeface="+mj-ea"/>
              </a:rPr>
              <a:t>YOLO </a:t>
            </a:r>
            <a:r>
              <a:rPr lang="ko-KR" altLang="en-US" sz="1600" b="1" dirty="0">
                <a:latin typeface="+mj-ea"/>
                <a:ea typeface="+mj-ea"/>
              </a:rPr>
              <a:t>기반 모델의 정확도</a:t>
            </a:r>
            <a:r>
              <a:rPr lang="en-US" altLang="ko-KR" sz="1600" b="1" dirty="0">
                <a:latin typeface="+mj-ea"/>
                <a:ea typeface="+mj-ea"/>
              </a:rPr>
              <a:t>·</a:t>
            </a:r>
            <a:r>
              <a:rPr lang="ko-KR" altLang="en-US" sz="1600" b="1" dirty="0">
                <a:latin typeface="+mj-ea"/>
                <a:ea typeface="+mj-ea"/>
              </a:rPr>
              <a:t>속도</a:t>
            </a:r>
            <a:r>
              <a:rPr lang="en-US" altLang="ko-KR" sz="1600" b="1" dirty="0">
                <a:latin typeface="+mj-ea"/>
                <a:ea typeface="+mj-ea"/>
              </a:rPr>
              <a:t>·</a:t>
            </a:r>
            <a:r>
              <a:rPr lang="ko-KR" altLang="en-US" sz="1600" b="1" dirty="0">
                <a:latin typeface="+mj-ea"/>
                <a:ea typeface="+mj-ea"/>
              </a:rPr>
              <a:t>전력 효율을 통합해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latin typeface="+mj-ea"/>
                <a:ea typeface="+mj-ea"/>
              </a:rPr>
              <a:t>‘임베디드 최적 </a:t>
            </a:r>
            <a:r>
              <a:rPr lang="ko-KR" altLang="en-US" sz="1600" b="1" dirty="0" err="1">
                <a:latin typeface="+mj-ea"/>
                <a:ea typeface="+mj-ea"/>
              </a:rPr>
              <a:t>모델’을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latin typeface="+mj-ea"/>
                <a:ea typeface="+mj-ea"/>
              </a:rPr>
              <a:t>선택하는 프레임워크 구축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F0F25D-5C2C-2A7F-1115-B4272646D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95584"/>
              </p:ext>
            </p:extLst>
          </p:nvPr>
        </p:nvGraphicFramePr>
        <p:xfrm>
          <a:off x="455035" y="1295400"/>
          <a:ext cx="834701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543">
                  <a:extLst>
                    <a:ext uri="{9D8B030D-6E8A-4147-A177-3AD203B41FA5}">
                      <a16:colId xmlns:a16="http://schemas.microsoft.com/office/drawing/2014/main" val="155615673"/>
                    </a:ext>
                  </a:extLst>
                </a:gridCol>
                <a:gridCol w="2732405">
                  <a:extLst>
                    <a:ext uri="{9D8B030D-6E8A-4147-A177-3AD203B41FA5}">
                      <a16:colId xmlns:a16="http://schemas.microsoft.com/office/drawing/2014/main" val="3265997382"/>
                    </a:ext>
                  </a:extLst>
                </a:gridCol>
                <a:gridCol w="4068064">
                  <a:extLst>
                    <a:ext uri="{9D8B030D-6E8A-4147-A177-3AD203B41FA5}">
                      <a16:colId xmlns:a16="http://schemas.microsoft.com/office/drawing/2014/main" val="3125940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  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기존 연구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본 연구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349540"/>
                  </a:ext>
                </a:extLst>
              </a:tr>
              <a:tr h="1427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평가기준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mAP·FPS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중심 단일 지표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mAP·FPS·Power·mAP</a:t>
                      </a:r>
                      <a:r>
                        <a:rPr lang="en-US" altLang="ko-KR" sz="1400" dirty="0"/>
                        <a:t>/Watt </a:t>
                      </a:r>
                      <a:r>
                        <a:rPr lang="ko-KR" altLang="en-US" sz="1400" dirty="0"/>
                        <a:t>통합 평가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64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전력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전력 소모 고려 부족 또는 미포함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Jestson</a:t>
                      </a:r>
                      <a:r>
                        <a:rPr lang="en-US" altLang="ko-KR" sz="1400" dirty="0"/>
                        <a:t> Nano / NX </a:t>
                      </a:r>
                      <a:r>
                        <a:rPr lang="ko-KR" altLang="en-US" sz="1400" dirty="0"/>
                        <a:t>실측 전력 기반 분석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tegrastats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670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경량화 기법 적용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단일 기법 중심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Pruning + Quantization </a:t>
                      </a:r>
                      <a:r>
                        <a:rPr lang="ko-KR" altLang="en-US" sz="1400" dirty="0"/>
                        <a:t>시너지 실험적으로 검증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726408"/>
                  </a:ext>
                </a:extLst>
              </a:tr>
              <a:tr h="1283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임베디드 검증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시뮬레이션 기반 혹은 제한적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실제 임베디드 환경 추론 결과 포함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61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모델 선택 기준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주관적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정성적 판단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Pareto </a:t>
                      </a:r>
                      <a:r>
                        <a:rPr lang="ko-KR" altLang="en-US" sz="1400" dirty="0"/>
                        <a:t>기반 최적 모델 선택 프레임워크 제안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344447"/>
                  </a:ext>
                </a:extLst>
              </a:tr>
              <a:tr h="1487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산업 활용성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서버</a:t>
                      </a:r>
                      <a:r>
                        <a:rPr lang="en-US" altLang="ko-KR" sz="1400" dirty="0"/>
                        <a:t>·GPU </a:t>
                      </a:r>
                      <a:r>
                        <a:rPr lang="ko-KR" altLang="en-US" sz="1400" dirty="0"/>
                        <a:t>중심 실험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발열 제약 고려한 </a:t>
                      </a:r>
                      <a:r>
                        <a:rPr lang="en-US" altLang="ko-KR" sz="1400" dirty="0"/>
                        <a:t>Edge-AI </a:t>
                      </a:r>
                      <a:r>
                        <a:rPr lang="ko-KR" altLang="en-US" sz="1400" dirty="0" err="1"/>
                        <a:t>적용성</a:t>
                      </a:r>
                      <a:r>
                        <a:rPr lang="ko-KR" altLang="en-US" sz="1400" dirty="0"/>
                        <a:t> 강조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548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4785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29E88179-6AA6-4715-A747-AB6EFC5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Ⅲ.</a:t>
            </a:r>
            <a:r>
              <a:rPr lang="ko-KR" altLang="en-US" dirty="0">
                <a:latin typeface="+mj-ea"/>
              </a:rPr>
              <a:t> 연구 방법</a:t>
            </a:r>
            <a:endParaRPr lang="ko-KR" altLang="en-US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BED5092-EE7B-BE1E-D0E4-C02D7EFCF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02035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실험 환경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ko-KR" altLang="en-US" sz="1600" kern="0" dirty="0">
                <a:solidFill>
                  <a:schemeClr val="tx1"/>
                </a:solidFill>
                <a:latin typeface="+mj-ea"/>
                <a:ea typeface="+mj-ea"/>
              </a:rPr>
              <a:t>① 실험 장치 및 환경</a:t>
            </a:r>
            <a:br>
              <a:rPr lang="en-US" altLang="ko-KR" sz="150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장치 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: NVIDIA Jetson nano / </a:t>
            </a:r>
            <a:r>
              <a:rPr lang="en-US" altLang="ko-KR" kern="0" dirty="0" err="1">
                <a:solidFill>
                  <a:schemeClr val="tx1"/>
                </a:solidFill>
                <a:latin typeface="+mj-ea"/>
                <a:ea typeface="+mj-ea"/>
              </a:rPr>
              <a:t>nx</a:t>
            </a:r>
            <a:b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데이터셋 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: COCO-mini(10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개 클래스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경량 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subset)</a:t>
            </a:r>
            <a:b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프레임워크 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kern="0" dirty="0" err="1">
                <a:solidFill>
                  <a:schemeClr val="tx1"/>
                </a:solidFill>
                <a:latin typeface="+mj-ea"/>
                <a:ea typeface="+mj-ea"/>
              </a:rPr>
              <a:t>PyTorch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 + </a:t>
            </a:r>
            <a:r>
              <a:rPr lang="en-US" altLang="ko-KR" kern="0" dirty="0" err="1">
                <a:solidFill>
                  <a:schemeClr val="tx1"/>
                </a:solidFill>
                <a:latin typeface="+mj-ea"/>
                <a:ea typeface="+mj-ea"/>
              </a:rPr>
              <a:t>Ultralytics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 YOLOv5s</a:t>
            </a:r>
            <a:b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비교모델 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: Baseline, Pruned YOLO, Quantized YOLO, Pruned + Quantized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모델</a:t>
            </a:r>
            <a:b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실험 조건 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동일한 입력 해상도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(640X640),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동일 배치 사이즈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동일 환경에서 반복 측정</a:t>
            </a:r>
            <a:endParaRPr lang="en-US" altLang="ko-KR" kern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600" kern="0" dirty="0">
                <a:solidFill>
                  <a:schemeClr val="tx1"/>
                </a:solidFill>
                <a:latin typeface="+mj-ea"/>
                <a:ea typeface="+mj-ea"/>
              </a:rPr>
              <a:t>② </a:t>
            </a:r>
            <a:r>
              <a:rPr lang="ko-KR" altLang="en-US" sz="1600" kern="0" dirty="0">
                <a:solidFill>
                  <a:schemeClr val="tx1"/>
                </a:solidFill>
                <a:latin typeface="+mj-ea"/>
                <a:ea typeface="+mj-ea"/>
              </a:rPr>
              <a:t>평가 지표</a:t>
            </a:r>
            <a:br>
              <a:rPr lang="en-US" altLang="ko-KR" sz="150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-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 정확도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(mAP0.5),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속도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(FPS),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모델 크기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(MB),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평균 전력 소모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(Watt),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전력 효율성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kern="0" dirty="0">
                <a:solidFill>
                  <a:schemeClr val="tx1"/>
                </a:solidFill>
                <a:latin typeface="+mj-ea"/>
                <a:ea typeface="+mj-ea"/>
              </a:rPr>
              <a:t>/Watt, FPS/W) </a:t>
            </a:r>
            <a:r>
              <a:rPr lang="ko-KR" altLang="en-US" kern="0" dirty="0">
                <a:solidFill>
                  <a:schemeClr val="tx1"/>
                </a:solidFill>
                <a:latin typeface="+mj-ea"/>
                <a:ea typeface="+mj-ea"/>
              </a:rPr>
              <a:t>등</a:t>
            </a:r>
            <a:endParaRPr lang="en-US" altLang="ko-KR" kern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432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600" kern="0" dirty="0">
                <a:solidFill>
                  <a:schemeClr val="tx1"/>
                </a:solidFill>
                <a:latin typeface="+mj-ea"/>
              </a:rPr>
              <a:t>③ </a:t>
            </a:r>
            <a:r>
              <a:rPr lang="ko-KR" altLang="en-US" sz="1600" kern="0" dirty="0">
                <a:solidFill>
                  <a:schemeClr val="tx1"/>
                </a:solidFill>
                <a:latin typeface="+mj-ea"/>
                <a:ea typeface="+mj-ea"/>
              </a:rPr>
              <a:t>실험 절차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1C217CC-3440-31D7-2897-CAF45B3C35F9}"/>
              </a:ext>
            </a:extLst>
          </p:cNvPr>
          <p:cNvGrpSpPr/>
          <p:nvPr/>
        </p:nvGrpSpPr>
        <p:grpSpPr>
          <a:xfrm>
            <a:off x="1057019" y="3789004"/>
            <a:ext cx="6604791" cy="1869883"/>
            <a:chOff x="940017" y="1538979"/>
            <a:chExt cx="6604791" cy="186988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6C57F76-9AE8-5752-46C7-E1344D78C2F3}"/>
                </a:ext>
              </a:extLst>
            </p:cNvPr>
            <p:cNvSpPr/>
            <p:nvPr/>
          </p:nvSpPr>
          <p:spPr bwMode="auto">
            <a:xfrm>
              <a:off x="940017" y="1540319"/>
              <a:ext cx="1620018" cy="81000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데이터셋 </a:t>
              </a:r>
              <a:endPara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구성 및 </a:t>
              </a:r>
              <a:r>
                <a:rPr kumimoji="0" lang="ko-KR" altLang="en-US" sz="18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전처리</a:t>
              </a: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18C8845-1C70-43A1-315B-E43FBB17D310}"/>
                </a:ext>
              </a:extLst>
            </p:cNvPr>
            <p:cNvSpPr/>
            <p:nvPr/>
          </p:nvSpPr>
          <p:spPr bwMode="auto">
            <a:xfrm>
              <a:off x="2162699" y="2598853"/>
              <a:ext cx="1620018" cy="81000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Baseline</a:t>
              </a:r>
              <a:br>
                <a: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</a:b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학습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520B3C4-FED3-8292-07ED-D2C5D0BC53D8}"/>
                </a:ext>
              </a:extLst>
            </p:cNvPr>
            <p:cNvSpPr/>
            <p:nvPr/>
          </p:nvSpPr>
          <p:spPr bwMode="auto">
            <a:xfrm>
              <a:off x="3431016" y="1538979"/>
              <a:ext cx="1620018" cy="81000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경량화 기법</a:t>
              </a:r>
              <a:endPara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dirty="0">
                  <a:solidFill>
                    <a:schemeClr val="bg1"/>
                  </a:solidFill>
                  <a:latin typeface="Arial" charset="0"/>
                </a:rPr>
                <a:t>적용</a:t>
              </a:r>
              <a:r>
                <a:rPr lang="en-US" altLang="ko-KR" dirty="0">
                  <a:solidFill>
                    <a:schemeClr val="bg1"/>
                  </a:solidFill>
                  <a:latin typeface="Arial" charset="0"/>
                </a:rPr>
                <a:t>(P+Q)</a:t>
              </a: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A9A90DD-49E1-3FB7-CFED-B88B7DF68306}"/>
                </a:ext>
              </a:extLst>
            </p:cNvPr>
            <p:cNvSpPr/>
            <p:nvPr/>
          </p:nvSpPr>
          <p:spPr bwMode="auto">
            <a:xfrm>
              <a:off x="4752002" y="2595757"/>
              <a:ext cx="1620018" cy="81000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임베디드 장치</a:t>
              </a:r>
              <a:endPara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dirty="0">
                  <a:solidFill>
                    <a:schemeClr val="bg1"/>
                  </a:solidFill>
                  <a:latin typeface="Arial" charset="0"/>
                </a:rPr>
                <a:t>추론 테스트</a:t>
              </a: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A3EE03E-0B4D-3807-E1E3-A38C208F8F31}"/>
                </a:ext>
              </a:extLst>
            </p:cNvPr>
            <p:cNvSpPr/>
            <p:nvPr/>
          </p:nvSpPr>
          <p:spPr bwMode="auto">
            <a:xfrm>
              <a:off x="5924790" y="1538979"/>
              <a:ext cx="1620018" cy="81000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전력 효율 </a:t>
              </a:r>
              <a:endPara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분석 및 비교</a:t>
              </a:r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06448970-49FD-F450-066A-592E9D3BB689}"/>
                </a:ext>
              </a:extLst>
            </p:cNvPr>
            <p:cNvCxnSpPr>
              <a:stCxn id="3" idx="3"/>
              <a:endCxn id="4" idx="0"/>
            </p:cNvCxnSpPr>
            <p:nvPr/>
          </p:nvCxnSpPr>
          <p:spPr bwMode="auto">
            <a:xfrm>
              <a:off x="2560035" y="1945324"/>
              <a:ext cx="412673" cy="653529"/>
            </a:xfrm>
            <a:prstGeom prst="bentConnector2">
              <a:avLst/>
            </a:prstGeom>
            <a:ln>
              <a:solidFill>
                <a:schemeClr val="accent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연결선: 꺾임 9">
              <a:extLst>
                <a:ext uri="{FF2B5EF4-FFF2-40B4-BE49-F238E27FC236}">
                  <a16:creationId xmlns:a16="http://schemas.microsoft.com/office/drawing/2014/main" id="{3A2C76F7-F0E5-9AAB-218C-9A6EE4B24906}"/>
                </a:ext>
              </a:extLst>
            </p:cNvPr>
            <p:cNvCxnSpPr>
              <a:stCxn id="4" idx="3"/>
              <a:endCxn id="6" idx="2"/>
            </p:cNvCxnSpPr>
            <p:nvPr/>
          </p:nvCxnSpPr>
          <p:spPr bwMode="auto">
            <a:xfrm flipV="1">
              <a:off x="3782717" y="2348988"/>
              <a:ext cx="458308" cy="654870"/>
            </a:xfrm>
            <a:prstGeom prst="bentConnector2">
              <a:avLst/>
            </a:prstGeom>
            <a:ln>
              <a:solidFill>
                <a:schemeClr val="accent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E21B0965-60ED-375F-2CCE-6E225A586EA2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 bwMode="auto">
            <a:xfrm>
              <a:off x="5051034" y="1943984"/>
              <a:ext cx="510977" cy="651773"/>
            </a:xfrm>
            <a:prstGeom prst="bentConnector2">
              <a:avLst/>
            </a:prstGeom>
            <a:ln>
              <a:solidFill>
                <a:schemeClr val="accent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92EEF0DA-F484-6E61-51B9-BCD8BF53DF11}"/>
                </a:ext>
              </a:extLst>
            </p:cNvPr>
            <p:cNvCxnSpPr>
              <a:cxnSpLocks/>
              <a:stCxn id="7" idx="3"/>
              <a:endCxn id="8" idx="2"/>
            </p:cNvCxnSpPr>
            <p:nvPr/>
          </p:nvCxnSpPr>
          <p:spPr bwMode="auto">
            <a:xfrm flipV="1">
              <a:off x="6372020" y="2348988"/>
              <a:ext cx="362779" cy="651774"/>
            </a:xfrm>
            <a:prstGeom prst="bentConnector2">
              <a:avLst/>
            </a:prstGeom>
            <a:ln>
              <a:solidFill>
                <a:schemeClr val="accent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8BE60C0-4C9B-4E17-2EA7-311652B074E2}"/>
              </a:ext>
            </a:extLst>
          </p:cNvPr>
          <p:cNvSpPr txBox="1"/>
          <p:nvPr/>
        </p:nvSpPr>
        <p:spPr>
          <a:xfrm>
            <a:off x="3045652" y="5811757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실험 절차 다이어그램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70737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56A5-4362-4F07-7B75-521C9882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C333C-80ED-4988-839F-9E45736B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Ⅲ.</a:t>
            </a:r>
            <a:r>
              <a:rPr lang="ko-KR" altLang="en-US" dirty="0">
                <a:latin typeface="+mj-ea"/>
              </a:rPr>
              <a:t> 연구 방법</a:t>
            </a:r>
            <a:endParaRPr lang="ko-KR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BB0252-3430-C651-7DE0-C0541764F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절차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세부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①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데이터셋 구성 및 </a:t>
            </a:r>
            <a:r>
              <a:rPr lang="ko-KR" altLang="en-US" b="0" kern="0" dirty="0" err="1">
                <a:solidFill>
                  <a:schemeClr val="tx1"/>
                </a:solidFill>
                <a:latin typeface="+mj-ea"/>
                <a:ea typeface="+mj-ea"/>
              </a:rPr>
              <a:t>전처리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COCO-mini(10 classes), VOC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일부 사용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640 X 640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리사이즈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, Flip/Rotate/Mosaic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등 증강 적용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② Baseline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학습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    YOLOv5s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를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RTX3090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환경에서 학습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b="0" kern="0" dirty="0" err="1">
                <a:solidFill>
                  <a:schemeClr val="tx1"/>
                </a:solidFill>
                <a:latin typeface="+mj-ea"/>
              </a:rPr>
              <a:t>mAP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 / FPS /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모델 크기를 </a:t>
            </a:r>
            <a:r>
              <a:rPr lang="ko-KR" altLang="en-US" b="0" kern="0" dirty="0" err="1">
                <a:solidFill>
                  <a:schemeClr val="tx1"/>
                </a:solidFill>
                <a:latin typeface="+mj-ea"/>
              </a:rPr>
              <a:t>기준값으로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 설정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그림 1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D17CE2-E568-9EEC-DCB1-BA20C07F6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548" y="1268976"/>
            <a:ext cx="3232993" cy="1547548"/>
          </a:xfrm>
          <a:prstGeom prst="rect">
            <a:avLst/>
          </a:prstGeom>
        </p:spPr>
      </p:pic>
      <p:pic>
        <p:nvPicPr>
          <p:cNvPr id="38" name="그림 3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8A0CF1-632B-6530-A364-EBD4E7432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53" y="3350906"/>
            <a:ext cx="3743847" cy="2058116"/>
          </a:xfrm>
          <a:prstGeom prst="rect">
            <a:avLst/>
          </a:prstGeom>
        </p:spPr>
      </p:pic>
      <p:pic>
        <p:nvPicPr>
          <p:cNvPr id="40" name="그림 3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B311E3-A551-913C-7845-4B18BA0F8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201" y="3350906"/>
            <a:ext cx="3871455" cy="205811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6E2651-8A23-BDFA-6E80-6B0A2D6C8234}"/>
              </a:ext>
            </a:extLst>
          </p:cNvPr>
          <p:cNvSpPr txBox="1"/>
          <p:nvPr/>
        </p:nvSpPr>
        <p:spPr>
          <a:xfrm>
            <a:off x="1042501" y="5409022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데이터셋 구분 상태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6B9DA6-8D11-EA77-5B5F-0BAF4B331C4D}"/>
              </a:ext>
            </a:extLst>
          </p:cNvPr>
          <p:cNvSpPr txBox="1"/>
          <p:nvPr/>
        </p:nvSpPr>
        <p:spPr>
          <a:xfrm>
            <a:off x="5540553" y="5409021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&lt;Baseline Validation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4EBCD3-E47D-1468-D140-1FB95D2F3B95}"/>
              </a:ext>
            </a:extLst>
          </p:cNvPr>
          <p:cNvSpPr txBox="1"/>
          <p:nvPr/>
        </p:nvSpPr>
        <p:spPr>
          <a:xfrm>
            <a:off x="5779669" y="2852053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&lt;10</a:t>
            </a:r>
            <a:r>
              <a:rPr lang="ko-KR" altLang="en-US" sz="1000" dirty="0">
                <a:solidFill>
                  <a:schemeClr val="tx1"/>
                </a:solidFill>
              </a:rPr>
              <a:t>개의 </a:t>
            </a:r>
            <a:r>
              <a:rPr lang="en-US" altLang="ko-KR" sz="1000" dirty="0">
                <a:solidFill>
                  <a:schemeClr val="tx1"/>
                </a:solidFill>
              </a:rPr>
              <a:t>classes </a:t>
            </a:r>
            <a:r>
              <a:rPr lang="ko-KR" altLang="en-US" sz="1000" dirty="0">
                <a:solidFill>
                  <a:schemeClr val="tx1"/>
                </a:solidFill>
              </a:rPr>
              <a:t>지정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240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4565-4160-0018-FCAC-0C72AA0C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477E5-8B6A-4E67-08A7-054181F9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Ⅲ.</a:t>
            </a:r>
            <a:r>
              <a:rPr lang="ko-KR" altLang="en-US" dirty="0">
                <a:latin typeface="+mj-ea"/>
              </a:rPr>
              <a:t> 연구 방법</a:t>
            </a:r>
            <a:endParaRPr lang="ko-KR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E8CCEDA-6A49-5548-63E2-E2678683E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절차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세부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br>
              <a:rPr lang="en-US" altLang="ko-KR" sz="1800" b="0" kern="0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③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경량화 기법 적용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(Pruning / Quantization / P+Q)</a:t>
            </a:r>
            <a:br>
              <a:rPr lang="en-US" altLang="ko-KR" sz="10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1. Pruning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적용 방식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Structed Channel Pruning(30%)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중요도 낮은 채널 제거 후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Fine-tuning(50 epochs)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모델 크기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전력 감소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/ FPS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증가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경계 객체 인식 정확도 소폭 감소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2. Quantization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적용 방식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PyTorch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Dynamic INT8 Quantization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Conv + Linear Layer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전체를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INT8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로 변환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TensorRT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최적화로 전력 감소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/ FPS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증가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정밀도 손실은 발생하지만 전력 효율은 대폭 향상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" name="그림 1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D0F8BE-DEC4-BBF6-25AB-3496353A5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60" y="3969006"/>
            <a:ext cx="3330684" cy="1969770"/>
          </a:xfrm>
          <a:prstGeom prst="rect">
            <a:avLst/>
          </a:prstGeom>
        </p:spPr>
      </p:pic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0679DD-EE37-2660-7A14-A524AAC45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346" y="3969006"/>
            <a:ext cx="3330000" cy="19697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E60A931-F063-E7FC-D801-1B0BFBEA8479}"/>
              </a:ext>
            </a:extLst>
          </p:cNvPr>
          <p:cNvSpPr txBox="1"/>
          <p:nvPr/>
        </p:nvSpPr>
        <p:spPr>
          <a:xfrm>
            <a:off x="5284971" y="5938776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&lt;Quantization Validation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E0E22-C0E0-9439-8EFA-2ECB653AE56B}"/>
              </a:ext>
            </a:extLst>
          </p:cNvPr>
          <p:cNvSpPr txBox="1"/>
          <p:nvPr/>
        </p:nvSpPr>
        <p:spPr>
          <a:xfrm>
            <a:off x="1324927" y="5938776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&lt;Pruning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5709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BE1E-724D-30BF-13F3-676F1F6D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F773C-78F9-1E05-C42E-B63E47D9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Ⅲ.</a:t>
            </a:r>
            <a:r>
              <a:rPr lang="ko-KR" altLang="en-US" dirty="0">
                <a:latin typeface="+mj-ea"/>
              </a:rPr>
              <a:t> 연구 방법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4F833F9-39E9-DA8D-54F7-742608FF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27" y="2258987"/>
            <a:ext cx="4031994" cy="1549206"/>
          </a:xfrm>
          <a:prstGeom prst="rect">
            <a:avLst/>
          </a:prstGeom>
        </p:spPr>
      </p:pic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07EF68-E79D-955A-E6A8-65269B9E4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55" y="4059007"/>
            <a:ext cx="3330684" cy="196977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7B8743F-3CFA-2DD6-E640-FBDB180EF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절차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세부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br>
              <a:rPr lang="en-US" altLang="ko-KR" sz="1800" b="0" kern="0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③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경량화 기법 적용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(Pruning / Quantization / P+Q)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3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3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br>
              <a:rPr lang="en-US" altLang="ko-KR" sz="10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3. Pruning + Quantization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순서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: Pruning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→ </a:t>
            </a:r>
            <a:r>
              <a:rPr lang="ko-KR" altLang="en-US" sz="1400" b="0" kern="0" dirty="0" err="1">
                <a:solidFill>
                  <a:schemeClr val="tx1"/>
                </a:solidFill>
                <a:latin typeface="+mj-ea"/>
              </a:rPr>
              <a:t>재학습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→ Quantization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    -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소폭 하락을 감수하는 대신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전력 효율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/Watt)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최적화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06C02B-57ED-779F-EAC3-AA0DE0C64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009" y="4059007"/>
            <a:ext cx="3330684" cy="1969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A67EEC-601A-8817-F0C7-E7B1B2C9221F}"/>
              </a:ext>
            </a:extLst>
          </p:cNvPr>
          <p:cNvSpPr txBox="1"/>
          <p:nvPr/>
        </p:nvSpPr>
        <p:spPr>
          <a:xfrm>
            <a:off x="3047040" y="3685082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연구 절차 개념도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A6F554-50AD-D001-B8E4-BC407896ED7F}"/>
              </a:ext>
            </a:extLst>
          </p:cNvPr>
          <p:cNvSpPr txBox="1"/>
          <p:nvPr/>
        </p:nvSpPr>
        <p:spPr>
          <a:xfrm>
            <a:off x="874922" y="6033370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&lt;P+Q Validation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9D68F-F5BC-8662-3F79-17ED8D810DEB}"/>
              </a:ext>
            </a:extLst>
          </p:cNvPr>
          <p:cNvSpPr txBox="1"/>
          <p:nvPr/>
        </p:nvSpPr>
        <p:spPr>
          <a:xfrm>
            <a:off x="5734976" y="6033370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모델 별 실험 결과 요약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6658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6907-9A69-3618-5C68-EB6EADB1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D55E5-AA29-CF07-D40B-881B93D9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Ⅲ.</a:t>
            </a:r>
            <a:r>
              <a:rPr lang="ko-KR" altLang="en-US" dirty="0">
                <a:latin typeface="+mj-ea"/>
              </a:rPr>
              <a:t> 연구 방법</a:t>
            </a:r>
            <a:endParaRPr lang="ko-KR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89A616E-5C67-EC05-9AD0-698AF62FB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절차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세부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br>
              <a:rPr lang="en-US" altLang="ko-KR" sz="1800" b="0" kern="0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④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임베디드 장치 추론 테스트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   Jetson Nano / Xavier NX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에 모델 배포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</a:rPr>
              <a:t>TensorRT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변환 후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</a:rPr>
              <a:t>tegrastats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로 전력 로그 측정</a:t>
            </a:r>
            <a:endParaRPr lang="en-US" altLang="ko-KR" sz="1400" b="0" kern="0" dirty="0">
              <a:solidFill>
                <a:schemeClr val="tx1"/>
              </a:solidFill>
              <a:latin typeface="+mj-ea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altLang="ko-KR" sz="14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  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⑤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전력 효율 분석 및 비교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     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, FPS,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소비전력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,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/Watt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계산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    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</a:rPr>
              <a:t>프레임워크 기반 모델 선택 기준 도출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그림 17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E1C64F-DAA5-FCDD-6C1A-4DC611D78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56" y="3573955"/>
            <a:ext cx="2726330" cy="2010554"/>
          </a:xfrm>
          <a:prstGeom prst="rect">
            <a:avLst/>
          </a:prstGeom>
        </p:spPr>
      </p:pic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C95B51-9942-3273-5FF6-1463ABF04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030" y="1156015"/>
            <a:ext cx="4480202" cy="2127952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4D8BDD-2669-F2E4-9723-BC5AFD320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749" y="3824051"/>
            <a:ext cx="4480202" cy="1760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80710-5F8B-AFFC-4FF0-B72D47DD66FD}"/>
              </a:ext>
            </a:extLst>
          </p:cNvPr>
          <p:cNvSpPr txBox="1"/>
          <p:nvPr/>
        </p:nvSpPr>
        <p:spPr>
          <a:xfrm>
            <a:off x="5570475" y="5555576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장치별 </a:t>
            </a:r>
            <a:r>
              <a:rPr lang="en-US" altLang="ko-KR" sz="1000" dirty="0">
                <a:solidFill>
                  <a:schemeClr val="tx1"/>
                </a:solidFill>
              </a:rPr>
              <a:t>P+Q</a:t>
            </a:r>
            <a:r>
              <a:rPr lang="ko-KR" altLang="en-US" sz="1000" dirty="0">
                <a:solidFill>
                  <a:schemeClr val="tx1"/>
                </a:solidFill>
              </a:rPr>
              <a:t>모델 실험 결과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3795A-370C-7D42-9552-195C6C9BD3E0}"/>
              </a:ext>
            </a:extLst>
          </p:cNvPr>
          <p:cNvSpPr txBox="1"/>
          <p:nvPr/>
        </p:nvSpPr>
        <p:spPr>
          <a:xfrm>
            <a:off x="5570475" y="3279212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&lt;P+Q</a:t>
            </a:r>
            <a:r>
              <a:rPr lang="ko-KR" altLang="en-US" sz="1000" dirty="0">
                <a:solidFill>
                  <a:schemeClr val="tx1"/>
                </a:solidFill>
              </a:rPr>
              <a:t>모델 임베디드 장치 실험 결과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977E0-6D3E-85CF-7871-1620B6F5E987}"/>
              </a:ext>
            </a:extLst>
          </p:cNvPr>
          <p:cNvSpPr txBox="1"/>
          <p:nvPr/>
        </p:nvSpPr>
        <p:spPr>
          <a:xfrm>
            <a:off x="663922" y="5584509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en-US" altLang="ko-KR" sz="1000" dirty="0" err="1">
                <a:solidFill>
                  <a:schemeClr val="tx1"/>
                </a:solidFill>
              </a:rPr>
              <a:t>tegrastats</a:t>
            </a:r>
            <a:r>
              <a:rPr lang="ko-KR" altLang="en-US" sz="1000" dirty="0">
                <a:solidFill>
                  <a:schemeClr val="tx1"/>
                </a:solidFill>
              </a:rPr>
              <a:t>를 이용한 전력 측정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85674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9A10-351C-D7AB-DDE8-95D39188E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A0B3F-14AE-9C9B-55B1-65B2607F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Ⅳ.</a:t>
            </a:r>
            <a:r>
              <a:rPr lang="ko-KR" altLang="en-US" dirty="0">
                <a:latin typeface="+mj-ea"/>
              </a:rPr>
              <a:t> 실험 결과 및 분석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C6E27CD-A02B-06A3-4E7F-8BC212430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정량적 성능 요약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모델 크기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14.2MB→5.2MB (63%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감소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),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속도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45 → 85(1.9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배 증가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), </a:t>
            </a:r>
            <a:r>
              <a:rPr lang="en-US" altLang="ko-KR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/Watt 55%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향상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정확도는 소폭 감소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(-0.044),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그러나 실제 시스템 관점에서 효율 증가폭이 훨씬 더 큼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7BF9D8-D125-E798-0690-257405F68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33732"/>
              </p:ext>
            </p:extLst>
          </p:nvPr>
        </p:nvGraphicFramePr>
        <p:xfrm>
          <a:off x="881958" y="1394798"/>
          <a:ext cx="651300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3532777973"/>
                    </a:ext>
                  </a:extLst>
                </a:gridCol>
                <a:gridCol w="749618">
                  <a:extLst>
                    <a:ext uri="{9D8B030D-6E8A-4147-A177-3AD203B41FA5}">
                      <a16:colId xmlns:a16="http://schemas.microsoft.com/office/drawing/2014/main" val="2652485405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4113196171"/>
                    </a:ext>
                  </a:extLst>
                </a:gridCol>
                <a:gridCol w="994093">
                  <a:extLst>
                    <a:ext uri="{9D8B030D-6E8A-4147-A177-3AD203B41FA5}">
                      <a16:colId xmlns:a16="http://schemas.microsoft.com/office/drawing/2014/main" val="3035719365"/>
                    </a:ext>
                  </a:extLst>
                </a:gridCol>
                <a:gridCol w="1552893">
                  <a:extLst>
                    <a:ext uri="{9D8B030D-6E8A-4147-A177-3AD203B41FA5}">
                      <a16:colId xmlns:a16="http://schemas.microsoft.com/office/drawing/2014/main" val="3602152735"/>
                    </a:ext>
                  </a:extLst>
                </a:gridCol>
                <a:gridCol w="1212342">
                  <a:extLst>
                    <a:ext uri="{9D8B030D-6E8A-4147-A177-3AD203B41FA5}">
                      <a16:colId xmlns:a16="http://schemas.microsoft.com/office/drawing/2014/main" val="3628151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  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mAP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FPS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전력</a:t>
                      </a:r>
                      <a:r>
                        <a:rPr lang="en-US" altLang="ko-KR" sz="1600" dirty="0"/>
                        <a:t>(W)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모델 크기</a:t>
                      </a:r>
                      <a:r>
                        <a:rPr lang="en-US" altLang="ko-KR" sz="1600" dirty="0"/>
                        <a:t>(MB)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mAP/Watt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55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Baseline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0.672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45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10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14.2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0.0672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39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Pruning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0.645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60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8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9.8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0.0806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36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Quantization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0.640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70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6.5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0.0914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23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P + Q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0.628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85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5.2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0.1047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29391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7B9CDD27-8382-7640-2676-1F622723B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55" y="4329010"/>
            <a:ext cx="3491989" cy="174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79AE61-52EA-6D25-DA63-83EEC00A38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999" y="4293035"/>
            <a:ext cx="3491988" cy="1745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55643E-DD54-65DF-A7C7-C3AAE2538EF9}"/>
              </a:ext>
            </a:extLst>
          </p:cNvPr>
          <p:cNvSpPr txBox="1"/>
          <p:nvPr/>
        </p:nvSpPr>
        <p:spPr>
          <a:xfrm>
            <a:off x="955574" y="6010096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모델 별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, FPS &amp; Power </a:t>
            </a:r>
            <a:r>
              <a:rPr lang="ko-KR" altLang="en-US" sz="1000" dirty="0">
                <a:solidFill>
                  <a:schemeClr val="tx1"/>
                </a:solidFill>
              </a:rPr>
              <a:t>결과 그래프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D07EC-DA96-2BC3-753A-BBB90123316A}"/>
              </a:ext>
            </a:extLst>
          </p:cNvPr>
          <p:cNvSpPr txBox="1"/>
          <p:nvPr/>
        </p:nvSpPr>
        <p:spPr>
          <a:xfrm>
            <a:off x="4915618" y="5951893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전력 효율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/Watt) </a:t>
            </a:r>
            <a:r>
              <a:rPr lang="ko-KR" altLang="en-US" sz="1000" dirty="0">
                <a:solidFill>
                  <a:schemeClr val="tx1"/>
                </a:solidFill>
              </a:rPr>
              <a:t> 상승 곡선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1848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58DC-7788-76FC-7E09-5A6244A1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00739-1FCC-35C2-9045-70D174A2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Ⅳ.</a:t>
            </a:r>
            <a:r>
              <a:rPr lang="ko-KR" altLang="en-US" dirty="0">
                <a:latin typeface="+mj-ea"/>
              </a:rPr>
              <a:t> 실험 결과 및 분석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C4DD03-28AE-D37E-A497-1CB475E42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전력 효율 분석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P+Q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는 평균 전력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6W,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피크전력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7W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미만으로 전력 변동 폭이 가장 작아 발열 및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b="0" kern="0" dirty="0" err="1">
                <a:solidFill>
                  <a:schemeClr val="tx1"/>
                </a:solidFill>
                <a:latin typeface="+mj-ea"/>
                <a:ea typeface="+mj-ea"/>
              </a:rPr>
              <a:t>스로틀링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 위험 최소화되어 배터리기반 장치나 임베디드 실사용에 최적화 </a:t>
            </a:r>
            <a:endParaRPr lang="en-US" altLang="ko-KR" b="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1CE98E-3BCB-91DC-02A4-BE7B3820C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782569"/>
              </p:ext>
            </p:extLst>
          </p:nvPr>
        </p:nvGraphicFramePr>
        <p:xfrm>
          <a:off x="881957" y="1389644"/>
          <a:ext cx="7244226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1464755692"/>
                    </a:ext>
                  </a:extLst>
                </a:gridCol>
                <a:gridCol w="1067118">
                  <a:extLst>
                    <a:ext uri="{9D8B030D-6E8A-4147-A177-3AD203B41FA5}">
                      <a16:colId xmlns:a16="http://schemas.microsoft.com/office/drawing/2014/main" val="3678323500"/>
                    </a:ext>
                  </a:extLst>
                </a:gridCol>
                <a:gridCol w="1067118">
                  <a:extLst>
                    <a:ext uri="{9D8B030D-6E8A-4147-A177-3AD203B41FA5}">
                      <a16:colId xmlns:a16="http://schemas.microsoft.com/office/drawing/2014/main" val="2035710057"/>
                    </a:ext>
                  </a:extLst>
                </a:gridCol>
                <a:gridCol w="613165">
                  <a:extLst>
                    <a:ext uri="{9D8B030D-6E8A-4147-A177-3AD203B41FA5}">
                      <a16:colId xmlns:a16="http://schemas.microsoft.com/office/drawing/2014/main" val="835326293"/>
                    </a:ext>
                  </a:extLst>
                </a:gridCol>
                <a:gridCol w="613165">
                  <a:extLst>
                    <a:ext uri="{9D8B030D-6E8A-4147-A177-3AD203B41FA5}">
                      <a16:colId xmlns:a16="http://schemas.microsoft.com/office/drawing/2014/main" val="2358429705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3887344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모 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평균전력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피크전력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GPU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CPU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특징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71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Baseline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10.0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12.4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94%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78%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전력 불안정</a:t>
                      </a:r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발열↑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773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Pruning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8.0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9.3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86%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62%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전력 </a:t>
                      </a:r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20% </a:t>
                      </a:r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절감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029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Quantization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8.1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78%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57%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전력 변동성↓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327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P + Q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6.0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6.8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73%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49%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가장 안정적 </a:t>
                      </a:r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/ </a:t>
                      </a:r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효율 최고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373016"/>
                  </a:ext>
                </a:extLst>
              </a:tr>
            </a:tbl>
          </a:graphicData>
        </a:graphic>
      </p:graphicFrame>
      <p:pic>
        <p:nvPicPr>
          <p:cNvPr id="9" name="그림 8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E137E3-7EC0-E844-BA37-B6371C6F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56" y="4108381"/>
            <a:ext cx="2915726" cy="1879681"/>
          </a:xfrm>
          <a:prstGeom prst="rect">
            <a:avLst/>
          </a:prstGeom>
        </p:spPr>
      </p:pic>
      <p:pic>
        <p:nvPicPr>
          <p:cNvPr id="11" name="그림 10" descr="텍스트, 스크린샷, 번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534D0D-7E99-7EE5-DCA4-A1BE4F049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897" y="4108381"/>
            <a:ext cx="5018151" cy="18796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DBFE3F-183D-4197-3587-5DC758BA7E85}"/>
              </a:ext>
            </a:extLst>
          </p:cNvPr>
          <p:cNvSpPr txBox="1"/>
          <p:nvPr/>
        </p:nvSpPr>
        <p:spPr>
          <a:xfrm>
            <a:off x="4832250" y="5988062"/>
            <a:ext cx="3101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모델 별 전력 효율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/Watt) </a:t>
            </a:r>
            <a:r>
              <a:rPr lang="ko-KR" altLang="en-US" sz="1000" dirty="0">
                <a:solidFill>
                  <a:schemeClr val="tx1"/>
                </a:solidFill>
              </a:rPr>
              <a:t> 비교그래프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56C34A-B063-BE73-CA97-60CB872C81F6}"/>
              </a:ext>
            </a:extLst>
          </p:cNvPr>
          <p:cNvSpPr txBox="1"/>
          <p:nvPr/>
        </p:nvSpPr>
        <p:spPr>
          <a:xfrm>
            <a:off x="757444" y="5997308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전력 측정 기록 그래프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9977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4086-395B-B1C4-021B-9C501BDC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6E428-6371-B065-A29E-D48BB0EB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Ⅳ.</a:t>
            </a:r>
            <a:r>
              <a:rPr lang="ko-KR" altLang="en-US" dirty="0">
                <a:latin typeface="+mj-ea"/>
              </a:rPr>
              <a:t> 실험 결과 및 분석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ECD2237-D54A-1876-B988-DF2C8BA0D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518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프레임 워크 기반 모델 선택 기준 및 한계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① </a:t>
            </a:r>
            <a:r>
              <a:rPr lang="ko-KR" altLang="en-US" b="0" kern="0" dirty="0">
                <a:solidFill>
                  <a:schemeClr val="tx1"/>
                </a:solidFill>
              </a:rPr>
              <a:t>운영 시나리오별 추천 모델</a:t>
            </a:r>
            <a:br>
              <a:rPr lang="en-US" altLang="ko-KR" b="0" kern="0" dirty="0">
                <a:solidFill>
                  <a:schemeClr val="tx1"/>
                </a:solidFill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효율 우선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400" b="0" kern="0" dirty="0" err="1">
                <a:solidFill>
                  <a:schemeClr val="tx1"/>
                </a:solidFill>
                <a:latin typeface="+mj-ea"/>
                <a:ea typeface="+mj-ea"/>
              </a:rPr>
              <a:t>드론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배터리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) : P+Q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 정확도 우선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보안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안전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) : Pruning / Quantization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단독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균형형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일반 임베디드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) : Quantization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단독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</a:rPr>
              <a:t>②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제약기반 </a:t>
            </a: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Rule-of-Thumb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800" b="0" kern="0" dirty="0">
                <a:solidFill>
                  <a:schemeClr val="tx1"/>
                </a:solidFill>
              </a:rPr>
              <a:t>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전력 ≤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6W &amp; FPS ≥ 30 → P+Q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강력 추천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손실 ≤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3%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조건 →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Quant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단독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피크 전력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&lt; 7W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필요 →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P+Q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 3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축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</a:rPr>
              <a:t>mAP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, FPS, Power)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Pareto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분석 → 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P+Q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가 기본 프런티어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  <a:t>③ </a:t>
            </a:r>
            <a:r>
              <a:rPr lang="ko-KR" altLang="en-US" b="0" kern="0" dirty="0">
                <a:solidFill>
                  <a:schemeClr val="tx1"/>
                </a:solidFill>
                <a:latin typeface="+mj-ea"/>
                <a:ea typeface="+mj-ea"/>
              </a:rPr>
              <a:t>연구 한계</a:t>
            </a:r>
            <a:br>
              <a:rPr lang="en-US" altLang="ko-KR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kern="0" dirty="0">
                <a:solidFill>
                  <a:schemeClr val="tx1"/>
                </a:solidFill>
                <a:latin typeface="+mj-ea"/>
              </a:rPr>
            </a:b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데이터셋 한계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: COCO-mini 10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클래스 → 복잡환경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야간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악천후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1400" b="0" kern="0" dirty="0" err="1">
                <a:solidFill>
                  <a:schemeClr val="tx1"/>
                </a:solidFill>
                <a:latin typeface="+mj-ea"/>
                <a:ea typeface="+mj-ea"/>
              </a:rPr>
              <a:t>미반영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하드웨어 편향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: Jetson Nano/NX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기반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400" b="0" kern="0" dirty="0" err="1">
                <a:solidFill>
                  <a:schemeClr val="tx1"/>
                </a:solidFill>
                <a:latin typeface="+mj-ea"/>
                <a:ea typeface="+mj-ea"/>
              </a:rPr>
              <a:t>TensorRT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최적화 영향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경량화 한계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: P+Q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는 소형 객체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복잡 배경에서 정확도 추가 하락 가능</a:t>
            </a:r>
            <a:b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</a:rPr>
              <a:t> </a:t>
            </a:r>
            <a:b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통계적 한계</a:t>
            </a:r>
            <a:r>
              <a:rPr lang="en-US" altLang="ko-KR" sz="1400" b="0" kern="0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400" b="0" kern="0" dirty="0">
                <a:solidFill>
                  <a:schemeClr val="tx1"/>
                </a:solidFill>
                <a:latin typeface="+mj-ea"/>
                <a:ea typeface="+mj-ea"/>
              </a:rPr>
              <a:t>반복 실험 기반 신뢰구간 분석은 향후 연구 필요</a:t>
            </a:r>
            <a:endParaRPr lang="en-US" altLang="ko-KR" sz="1400" b="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900968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AF2A-DA80-7A8B-7B9D-5E698FEA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5C72A-EE61-EE8A-9A59-286AD5C0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Ⅴ.</a:t>
            </a:r>
            <a:r>
              <a:rPr lang="ko-KR" altLang="en-US" dirty="0">
                <a:latin typeface="+mj-ea"/>
              </a:rPr>
              <a:t> 결론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2517B53-03D6-6757-B363-BF085AA7F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연구 요약 및 핵심 결과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7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① 연구 요약</a:t>
            </a:r>
            <a:br>
              <a:rPr lang="en-US" altLang="ko-KR" sz="18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  <a:latin typeface="+mj-ea"/>
              </a:rPr>
              <a:t> </a:t>
            </a:r>
            <a:br>
              <a:rPr lang="en-US" altLang="ko-KR" sz="18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  - </a:t>
            </a:r>
            <a:r>
              <a:rPr lang="ko-KR" altLang="en-US" sz="1400" b="0" dirty="0">
                <a:latin typeface="+mj-ea"/>
                <a:ea typeface="+mj-ea"/>
              </a:rPr>
              <a:t>임베디드 환경에서 객체 탐지 모델을 평가하기 위해 정확도</a:t>
            </a:r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en-US" altLang="ko-KR" sz="1400" b="0" dirty="0" err="1">
                <a:latin typeface="+mj-ea"/>
                <a:ea typeface="+mj-ea"/>
              </a:rPr>
              <a:t>mAP</a:t>
            </a:r>
            <a:r>
              <a:rPr lang="en-US" altLang="ko-KR" sz="1400" b="0" dirty="0">
                <a:latin typeface="+mj-ea"/>
                <a:ea typeface="+mj-ea"/>
              </a:rPr>
              <a:t>), </a:t>
            </a:r>
            <a:r>
              <a:rPr lang="ko-KR" altLang="en-US" sz="1400" b="0" dirty="0">
                <a:latin typeface="+mj-ea"/>
                <a:ea typeface="+mj-ea"/>
              </a:rPr>
              <a:t>속도</a:t>
            </a:r>
            <a:r>
              <a:rPr lang="en-US" altLang="ko-KR" sz="1400" b="0" dirty="0">
                <a:latin typeface="+mj-ea"/>
                <a:ea typeface="+mj-ea"/>
              </a:rPr>
              <a:t>(FPS), </a:t>
            </a:r>
            <a:r>
              <a:rPr lang="ko-KR" altLang="en-US" sz="1400" b="0" dirty="0">
                <a:latin typeface="+mj-ea"/>
                <a:ea typeface="+mj-ea"/>
              </a:rPr>
              <a:t>전력</a:t>
            </a:r>
            <a:r>
              <a:rPr lang="en-US" altLang="ko-KR" sz="1400" b="0" dirty="0">
                <a:latin typeface="+mj-ea"/>
                <a:ea typeface="+mj-ea"/>
              </a:rPr>
              <a:t>(Power)</a:t>
            </a:r>
            <a:r>
              <a:rPr lang="ko-KR" altLang="en-US" sz="1400" b="0" dirty="0">
                <a:latin typeface="+mj-ea"/>
                <a:ea typeface="+mj-ea"/>
              </a:rPr>
              <a:t>을 통합한    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  </a:t>
            </a:r>
            <a:r>
              <a:rPr lang="ko-KR" altLang="en-US" sz="1400" b="0" dirty="0">
                <a:latin typeface="+mj-ea"/>
                <a:ea typeface="+mj-ea"/>
              </a:rPr>
              <a:t>전력 효율</a:t>
            </a:r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en-US" altLang="ko-KR" sz="1400" b="0" dirty="0" err="1">
                <a:latin typeface="+mj-ea"/>
                <a:ea typeface="+mj-ea"/>
              </a:rPr>
              <a:t>mAP</a:t>
            </a:r>
            <a:r>
              <a:rPr lang="en-US" altLang="ko-KR" sz="1400" b="0" dirty="0">
                <a:latin typeface="+mj-ea"/>
                <a:ea typeface="+mj-ea"/>
              </a:rPr>
              <a:t>/Watt)</a:t>
            </a:r>
            <a:r>
              <a:rPr lang="ko-KR" altLang="en-US" sz="1400" b="0" dirty="0">
                <a:latin typeface="+mj-ea"/>
                <a:ea typeface="+mj-ea"/>
              </a:rPr>
              <a:t> 분석 프레임워크를 제안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500" b="0" dirty="0">
                <a:latin typeface="+mj-ea"/>
                <a:ea typeface="+mj-ea"/>
              </a:rPr>
              <a:t> 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- </a:t>
            </a:r>
            <a:r>
              <a:rPr lang="ko-KR" altLang="en-US" sz="1400" b="0" dirty="0">
                <a:latin typeface="+mj-ea"/>
                <a:ea typeface="+mj-ea"/>
              </a:rPr>
              <a:t>기존 연구가 놓친 전력</a:t>
            </a:r>
            <a:r>
              <a:rPr lang="en-US" altLang="ko-KR" sz="1400" b="0" dirty="0">
                <a:latin typeface="+mj-ea"/>
                <a:ea typeface="+mj-ea"/>
              </a:rPr>
              <a:t>·</a:t>
            </a:r>
            <a:r>
              <a:rPr lang="ko-KR" altLang="en-US" sz="1400" b="0" dirty="0">
                <a:latin typeface="+mj-ea"/>
                <a:ea typeface="+mj-ea"/>
              </a:rPr>
              <a:t>발열</a:t>
            </a:r>
            <a:r>
              <a:rPr lang="en-US" altLang="ko-KR" sz="1400" b="0" dirty="0">
                <a:latin typeface="+mj-ea"/>
                <a:ea typeface="+mj-ea"/>
              </a:rPr>
              <a:t>·</a:t>
            </a:r>
            <a:r>
              <a:rPr lang="ko-KR" altLang="en-US" sz="1400" b="0" dirty="0">
                <a:latin typeface="+mj-ea"/>
                <a:ea typeface="+mj-ea"/>
              </a:rPr>
              <a:t>배터리 제약을 반영해 현실적인 임베디드 성능 평가 기준을 마련</a:t>
            </a: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b="0" dirty="0">
                <a:latin typeface="+mj-ea"/>
                <a:ea typeface="+mj-ea"/>
              </a:rPr>
              <a:t>② </a:t>
            </a:r>
            <a:r>
              <a:rPr lang="ko-KR" altLang="en-US" b="0" dirty="0">
                <a:latin typeface="+mj-ea"/>
                <a:ea typeface="+mj-ea"/>
              </a:rPr>
              <a:t>핵심 실험 결과</a:t>
            </a:r>
            <a:br>
              <a:rPr lang="en-US" altLang="ko-KR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- P+Q</a:t>
            </a:r>
            <a:r>
              <a:rPr lang="ko-KR" altLang="en-US" sz="1400" b="0" dirty="0">
                <a:latin typeface="+mj-ea"/>
                <a:ea typeface="+mj-ea"/>
              </a:rPr>
              <a:t>모델은 </a:t>
            </a:r>
            <a:r>
              <a:rPr lang="en-US" altLang="ko-KR" sz="1400" b="0" dirty="0">
                <a:latin typeface="+mj-ea"/>
                <a:ea typeface="+mj-ea"/>
              </a:rPr>
              <a:t>Baseline</a:t>
            </a:r>
            <a:r>
              <a:rPr lang="ko-KR" altLang="en-US" sz="1400" b="0" dirty="0">
                <a:latin typeface="+mj-ea"/>
                <a:ea typeface="+mj-ea"/>
              </a:rPr>
              <a:t> 대비 모델 크기 </a:t>
            </a:r>
            <a:r>
              <a:rPr lang="en-US" altLang="ko-KR" sz="1400" b="0" dirty="0">
                <a:latin typeface="+mj-ea"/>
                <a:ea typeface="+mj-ea"/>
              </a:rPr>
              <a:t>63% </a:t>
            </a:r>
            <a:r>
              <a:rPr lang="ko-KR" altLang="en-US" sz="1400" b="0" dirty="0">
                <a:latin typeface="+mj-ea"/>
                <a:ea typeface="+mj-ea"/>
              </a:rPr>
              <a:t>감소</a:t>
            </a:r>
            <a:r>
              <a:rPr lang="en-US" altLang="ko-KR" sz="1400" b="0" dirty="0">
                <a:latin typeface="+mj-ea"/>
                <a:ea typeface="+mj-ea"/>
              </a:rPr>
              <a:t>, </a:t>
            </a:r>
            <a:r>
              <a:rPr lang="ko-KR" altLang="en-US" sz="1400" b="0" dirty="0">
                <a:latin typeface="+mj-ea"/>
                <a:ea typeface="+mj-ea"/>
              </a:rPr>
              <a:t>전력 </a:t>
            </a:r>
            <a:r>
              <a:rPr lang="en-US" altLang="ko-KR" sz="1400" b="0" dirty="0">
                <a:latin typeface="+mj-ea"/>
                <a:ea typeface="+mj-ea"/>
              </a:rPr>
              <a:t>40% </a:t>
            </a:r>
            <a:r>
              <a:rPr lang="ko-KR" altLang="en-US" sz="1400" b="0" dirty="0">
                <a:latin typeface="+mj-ea"/>
                <a:ea typeface="+mj-ea"/>
              </a:rPr>
              <a:t>절감</a:t>
            </a:r>
            <a:r>
              <a:rPr lang="en-US" altLang="ko-KR" sz="1400" b="0" dirty="0">
                <a:latin typeface="+mj-ea"/>
                <a:ea typeface="+mj-ea"/>
              </a:rPr>
              <a:t>, FPS1.9</a:t>
            </a:r>
            <a:r>
              <a:rPr lang="ko-KR" altLang="en-US" sz="1400" b="0" dirty="0">
                <a:latin typeface="+mj-ea"/>
                <a:ea typeface="+mj-ea"/>
              </a:rPr>
              <a:t>배 향상</a:t>
            </a:r>
            <a:r>
              <a:rPr lang="en-US" altLang="ko-KR" sz="1400" b="0" dirty="0">
                <a:latin typeface="+mj-ea"/>
                <a:ea typeface="+mj-ea"/>
              </a:rPr>
              <a:t>, </a:t>
            </a:r>
            <a:r>
              <a:rPr lang="ko-KR" altLang="en-US" sz="1400" b="0" dirty="0">
                <a:latin typeface="+mj-ea"/>
                <a:ea typeface="+mj-ea"/>
              </a:rPr>
              <a:t>전력 효율 </a:t>
            </a:r>
            <a:r>
              <a:rPr lang="en-US" altLang="ko-KR" sz="1400" b="0" dirty="0">
                <a:latin typeface="+mj-ea"/>
                <a:ea typeface="+mj-ea"/>
              </a:rPr>
              <a:t>55% </a:t>
            </a:r>
            <a:r>
              <a:rPr lang="ko-KR" altLang="en-US" sz="1400" b="0" dirty="0">
                <a:latin typeface="+mj-ea"/>
                <a:ea typeface="+mj-ea"/>
              </a:rPr>
              <a:t>증가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- </a:t>
            </a:r>
            <a:r>
              <a:rPr lang="ko-KR" altLang="en-US" sz="1400" b="0" dirty="0">
                <a:latin typeface="+mj-ea"/>
                <a:ea typeface="+mj-ea"/>
              </a:rPr>
              <a:t>정확도는 </a:t>
            </a:r>
            <a:r>
              <a:rPr lang="en-US" altLang="ko-KR" sz="1400" b="0" dirty="0">
                <a:latin typeface="+mj-ea"/>
                <a:ea typeface="+mj-ea"/>
              </a:rPr>
              <a:t>6% </a:t>
            </a:r>
            <a:r>
              <a:rPr lang="ko-KR" altLang="en-US" sz="1400" b="0" dirty="0">
                <a:latin typeface="+mj-ea"/>
                <a:ea typeface="+mj-ea"/>
              </a:rPr>
              <a:t>감소하지만 임베디드 시스템에서 더 중요한 에너지 대비 성능이 크게 향상됨</a:t>
            </a: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r>
              <a:rPr lang="ko-KR" altLang="en-US" b="0" dirty="0">
                <a:latin typeface="+mj-ea"/>
                <a:ea typeface="+mj-ea"/>
              </a:rPr>
              <a:t>정확도만 높은 모델이 아니라 배터리기반 장치 및 임베디드 등과 같은 전력 제한 속에서 가장 효율적인 모델을 선택해야 하는데</a:t>
            </a:r>
            <a:r>
              <a:rPr lang="en-US" altLang="ko-KR" b="0" dirty="0">
                <a:latin typeface="+mj-ea"/>
                <a:ea typeface="+mj-ea"/>
              </a:rPr>
              <a:t>, </a:t>
            </a:r>
            <a:r>
              <a:rPr lang="ko-KR" altLang="en-US" b="0" dirty="0">
                <a:latin typeface="+mj-ea"/>
                <a:ea typeface="+mj-ea"/>
              </a:rPr>
              <a:t>본 연구의 프레임워크는 이러한 선택을 정량적 성능 지표로 안내하는 기준을 제공</a:t>
            </a:r>
            <a:br>
              <a:rPr lang="en-US" altLang="ko-KR" sz="1400" b="0" dirty="0">
                <a:latin typeface="+mj-ea"/>
                <a:ea typeface="+mj-ea"/>
              </a:rPr>
            </a:br>
            <a:endParaRPr lang="en-US" altLang="ko-KR" sz="1400" b="0" kern="0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DA4C7-057B-E7CE-ACF0-2224BCE5B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987" y="4959017"/>
            <a:ext cx="2285365" cy="303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CF1D29-A7D6-1C01-F31F-0BE76E4D59B6}"/>
              </a:ext>
            </a:extLst>
          </p:cNvPr>
          <p:cNvSpPr txBox="1"/>
          <p:nvPr/>
        </p:nvSpPr>
        <p:spPr>
          <a:xfrm>
            <a:off x="3232294" y="5373450"/>
            <a:ext cx="262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</a:rPr>
              <a:t>제안 프레임워크에 따른 모델 선택 기준</a:t>
            </a:r>
            <a:r>
              <a:rPr lang="en-US" altLang="ko-KR" sz="1000" dirty="0">
                <a:solidFill>
                  <a:schemeClr val="tx1"/>
                </a:solidFill>
              </a:rPr>
              <a:t>&gt;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50003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0571-EFAC-EA4D-CA66-CC20FAA2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616C2-56D5-460F-91A6-C75291B5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Ⅴ.</a:t>
            </a:r>
            <a:r>
              <a:rPr lang="ko-KR" altLang="en-US" dirty="0">
                <a:latin typeface="+mj-ea"/>
              </a:rPr>
              <a:t> 결론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D5A51-ADAD-0AC9-EFF8-5C75D907B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기여 및 향후 연구 방향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7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b="0" kern="0" dirty="0">
                <a:solidFill>
                  <a:schemeClr val="tx1"/>
                </a:solidFill>
                <a:latin typeface="+mj-ea"/>
              </a:rPr>
              <a:t>① 본 연구의 기여</a:t>
            </a:r>
            <a:br>
              <a:rPr lang="en-US" altLang="ko-KR" sz="18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500" b="0" kern="0" dirty="0">
                <a:solidFill>
                  <a:schemeClr val="tx1"/>
                </a:solidFill>
                <a:latin typeface="+mj-ea"/>
              </a:rPr>
              <a:t> </a:t>
            </a:r>
            <a:br>
              <a:rPr lang="en-US" altLang="ko-KR" sz="1800" b="0" kern="0" dirty="0">
                <a:solidFill>
                  <a:schemeClr val="tx1"/>
                </a:solidFill>
                <a:latin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  - </a:t>
            </a:r>
            <a:r>
              <a:rPr lang="ko-KR" altLang="en-US" sz="1400" b="0" dirty="0">
                <a:latin typeface="+mj-ea"/>
                <a:ea typeface="+mj-ea"/>
              </a:rPr>
              <a:t>전력 효율 중심의 실질적인 임베디드 </a:t>
            </a:r>
            <a:r>
              <a:rPr lang="en-US" altLang="ko-KR" sz="1400" b="0" dirty="0">
                <a:latin typeface="+mj-ea"/>
                <a:ea typeface="+mj-ea"/>
              </a:rPr>
              <a:t>AI </a:t>
            </a:r>
            <a:r>
              <a:rPr lang="ko-KR" altLang="en-US" sz="1400" b="0" dirty="0">
                <a:latin typeface="+mj-ea"/>
                <a:ea typeface="+mj-ea"/>
              </a:rPr>
              <a:t>평가 체계 제시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500" b="0" dirty="0">
                <a:latin typeface="+mj-ea"/>
                <a:ea typeface="+mj-ea"/>
              </a:rPr>
              <a:t> 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- P+Q</a:t>
            </a:r>
            <a:r>
              <a:rPr lang="ko-KR" altLang="en-US" sz="1400" b="0" dirty="0">
                <a:latin typeface="+mj-ea"/>
                <a:ea typeface="+mj-ea"/>
              </a:rPr>
              <a:t>만으로도 높은 효율 개선을 실증하며</a:t>
            </a:r>
            <a:r>
              <a:rPr lang="en-US" altLang="ko-KR" sz="1400" b="0" dirty="0">
                <a:latin typeface="+mj-ea"/>
                <a:ea typeface="+mj-ea"/>
              </a:rPr>
              <a:t> </a:t>
            </a:r>
            <a:r>
              <a:rPr lang="ko-KR" altLang="en-US" sz="1400" b="0" dirty="0">
                <a:latin typeface="+mj-ea"/>
                <a:ea typeface="+mj-ea"/>
              </a:rPr>
              <a:t>경량화 기법의 실제 효과를 검증</a:t>
            </a:r>
            <a:br>
              <a:rPr lang="en-US" altLang="ko-KR" sz="500" b="0" dirty="0">
                <a:latin typeface="+mj-ea"/>
                <a:ea typeface="+mj-ea"/>
              </a:rPr>
            </a:br>
            <a:br>
              <a:rPr lang="en-US" altLang="ko-KR" sz="300" b="0" dirty="0">
                <a:latin typeface="+mj-ea"/>
                <a:ea typeface="+mj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j-ea"/>
              </a:rPr>
              <a:t>   - </a:t>
            </a:r>
            <a:r>
              <a:rPr lang="en-US" altLang="ko-KR" sz="1400" b="0" dirty="0">
                <a:latin typeface="+mj-ea"/>
              </a:rPr>
              <a:t>Jetson Nano / NX </a:t>
            </a:r>
            <a:r>
              <a:rPr lang="ko-KR" altLang="en-US" sz="1400" b="0" dirty="0">
                <a:latin typeface="+mj-ea"/>
              </a:rPr>
              <a:t>실험 기반으로 전력 변동성</a:t>
            </a:r>
            <a:r>
              <a:rPr lang="en-US" altLang="ko-KR" sz="1400" b="0" dirty="0">
                <a:latin typeface="+mj-ea"/>
              </a:rPr>
              <a:t>·</a:t>
            </a:r>
            <a:r>
              <a:rPr lang="ko-KR" altLang="en-US" sz="1400" b="0" dirty="0">
                <a:latin typeface="+mj-ea"/>
              </a:rPr>
              <a:t>피크 전력</a:t>
            </a:r>
            <a:r>
              <a:rPr lang="en-US" altLang="ko-KR" sz="1400" b="0" dirty="0">
                <a:latin typeface="+mj-ea"/>
              </a:rPr>
              <a:t>·</a:t>
            </a:r>
            <a:r>
              <a:rPr lang="ko-KR" altLang="en-US" sz="1400" b="0" dirty="0">
                <a:latin typeface="+mj-ea"/>
              </a:rPr>
              <a:t>장치별 효율 차이까지 분석</a:t>
            </a:r>
            <a:br>
              <a:rPr lang="en-US" altLang="ko-KR" sz="1400" b="0" dirty="0">
                <a:latin typeface="+mj-ea"/>
              </a:rPr>
            </a:br>
            <a:r>
              <a:rPr lang="en-US" altLang="ko-KR" sz="500" b="0" dirty="0">
                <a:latin typeface="+mj-ea"/>
              </a:rPr>
              <a:t> </a:t>
            </a:r>
            <a:br>
              <a:rPr lang="en-US" altLang="ko-KR" sz="1400" b="0" dirty="0">
                <a:latin typeface="+mj-ea"/>
              </a:rPr>
            </a:br>
            <a:r>
              <a:rPr lang="en-US" altLang="ko-KR" sz="1400" b="0" dirty="0">
                <a:latin typeface="+mj-ea"/>
              </a:rPr>
              <a:t>   - </a:t>
            </a:r>
            <a:r>
              <a:rPr lang="ko-KR" altLang="en-US" sz="1400" b="0" dirty="0">
                <a:latin typeface="+mj-ea"/>
              </a:rPr>
              <a:t>모델 선택 시 발생하는 </a:t>
            </a:r>
            <a:r>
              <a:rPr lang="en-US" altLang="ko-KR" sz="1400" b="0" dirty="0">
                <a:latin typeface="+mj-ea"/>
              </a:rPr>
              <a:t>Trade-off </a:t>
            </a:r>
            <a:r>
              <a:rPr lang="ko-KR" altLang="en-US" sz="1400" b="0" dirty="0">
                <a:latin typeface="+mj-ea"/>
              </a:rPr>
              <a:t>구조를 명확히 해석 가능</a:t>
            </a: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b="0" dirty="0">
                <a:latin typeface="+mj-ea"/>
                <a:ea typeface="+mj-ea"/>
              </a:rPr>
              <a:t>② </a:t>
            </a:r>
            <a:r>
              <a:rPr lang="ko-KR" altLang="en-US" b="0" dirty="0">
                <a:latin typeface="+mj-ea"/>
                <a:ea typeface="+mj-ea"/>
              </a:rPr>
              <a:t>향후 연구 방향</a:t>
            </a:r>
            <a:br>
              <a:rPr lang="en-US" altLang="ko-KR" b="0" dirty="0">
                <a:latin typeface="+mj-ea"/>
                <a:ea typeface="+mj-ea"/>
              </a:rPr>
            </a:br>
            <a:r>
              <a:rPr lang="en-US" altLang="ko-KR" sz="500" b="0" dirty="0">
                <a:latin typeface="+mj-ea"/>
                <a:ea typeface="+mj-ea"/>
              </a:rPr>
              <a:t> </a:t>
            </a:r>
            <a:br>
              <a:rPr lang="en-US" altLang="ko-KR" sz="300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- KD, NAS</a:t>
            </a:r>
            <a:r>
              <a:rPr lang="ko-KR" altLang="en-US" sz="1400" b="0" dirty="0">
                <a:latin typeface="+mj-ea"/>
                <a:ea typeface="+mj-ea"/>
              </a:rPr>
              <a:t>등 고도화된 경량화 기법과의 결합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500" b="0" dirty="0">
                <a:latin typeface="+mj-ea"/>
                <a:ea typeface="+mj-ea"/>
              </a:rPr>
              <a:t> 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1400" b="0" dirty="0">
                <a:latin typeface="+mj-ea"/>
                <a:ea typeface="+mj-ea"/>
              </a:rPr>
              <a:t>   - Jetson Orin / ARM NPU / FPGA </a:t>
            </a:r>
            <a:r>
              <a:rPr lang="ko-KR" altLang="en-US" sz="1400" b="0" dirty="0">
                <a:latin typeface="+mj-ea"/>
                <a:ea typeface="+mj-ea"/>
              </a:rPr>
              <a:t>등 다양한 </a:t>
            </a:r>
            <a:r>
              <a:rPr lang="en-US" altLang="ko-KR" sz="1400" b="0" dirty="0">
                <a:latin typeface="+mj-ea"/>
                <a:ea typeface="+mj-ea"/>
              </a:rPr>
              <a:t>Edge-AI </a:t>
            </a:r>
            <a:r>
              <a:rPr lang="ko-KR" altLang="en-US" sz="1400" b="0" dirty="0">
                <a:latin typeface="+mj-ea"/>
                <a:ea typeface="+mj-ea"/>
              </a:rPr>
              <a:t>플랫폼으로 확장 적용</a:t>
            </a:r>
            <a:br>
              <a:rPr lang="en-US" altLang="ko-KR" sz="1400" b="0" dirty="0">
                <a:latin typeface="+mj-ea"/>
                <a:ea typeface="+mj-ea"/>
              </a:rPr>
            </a:br>
            <a:r>
              <a:rPr lang="en-US" altLang="ko-KR" sz="500" b="0" dirty="0">
                <a:latin typeface="+mj-ea"/>
                <a:ea typeface="+mj-ea"/>
              </a:rPr>
              <a:t> </a:t>
            </a:r>
            <a:br>
              <a:rPr lang="en-US" altLang="ko-KR" sz="1400" b="0" dirty="0">
                <a:latin typeface="+mj-ea"/>
              </a:rPr>
            </a:br>
            <a:r>
              <a:rPr lang="en-US" altLang="ko-KR" sz="1400" b="0" dirty="0">
                <a:latin typeface="+mj-ea"/>
              </a:rPr>
              <a:t>   - </a:t>
            </a:r>
            <a:r>
              <a:rPr lang="ko-KR" altLang="en-US" sz="1400" b="0" dirty="0">
                <a:latin typeface="+mj-ea"/>
              </a:rPr>
              <a:t>보다 일반화된 전력 효율 평가 프레임워크로 발전 가능</a:t>
            </a: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br>
              <a:rPr lang="en-US" altLang="ko-KR" sz="1400" b="0" dirty="0">
                <a:latin typeface="+mj-ea"/>
                <a:ea typeface="+mj-ea"/>
              </a:rPr>
            </a:br>
            <a:r>
              <a:rPr lang="ko-KR" altLang="en-US" b="0" dirty="0">
                <a:latin typeface="+mj-ea"/>
                <a:ea typeface="+mj-ea"/>
              </a:rPr>
              <a:t>본 연구는 임베디드</a:t>
            </a:r>
            <a:r>
              <a:rPr lang="en-US" altLang="ko-KR" b="0" dirty="0">
                <a:latin typeface="+mj-ea"/>
                <a:ea typeface="+mj-ea"/>
              </a:rPr>
              <a:t> AI </a:t>
            </a:r>
            <a:r>
              <a:rPr lang="ko-KR" altLang="en-US" b="0" dirty="0">
                <a:latin typeface="+mj-ea"/>
                <a:ea typeface="+mj-ea"/>
              </a:rPr>
              <a:t>모델 평가 기준을 정확도 중심에서 </a:t>
            </a:r>
            <a:r>
              <a:rPr lang="ko-KR" altLang="en-US" dirty="0">
                <a:latin typeface="+mj-ea"/>
                <a:ea typeface="+mj-ea"/>
              </a:rPr>
              <a:t>전력 효율 중심으로 전환</a:t>
            </a:r>
            <a:r>
              <a:rPr lang="ko-KR" altLang="en-US" b="0" dirty="0">
                <a:latin typeface="+mj-ea"/>
                <a:ea typeface="+mj-ea"/>
              </a:rPr>
              <a:t>하는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dirty="0">
                <a:latin typeface="+mj-ea"/>
                <a:ea typeface="+mj-ea"/>
              </a:rPr>
              <a:t>중요한 기준을 제시하였음</a:t>
            </a:r>
            <a:br>
              <a:rPr lang="en-US" altLang="ko-KR" sz="1400" b="0" dirty="0">
                <a:latin typeface="+mj-ea"/>
                <a:ea typeface="+mj-ea"/>
              </a:rPr>
            </a:br>
            <a:endParaRPr lang="en-US" altLang="ko-KR" sz="1400" b="0" kern="0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6625779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70972</TotalTime>
  <Words>2257</Words>
  <Application>Microsoft Office PowerPoint</Application>
  <PresentationFormat>화면 슬라이드 쇼(4:3)</PresentationFormat>
  <Paragraphs>220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나눔고딕 ExtraBold</vt:lpstr>
      <vt:lpstr>맑은 고딕</vt:lpstr>
      <vt:lpstr>Arial</vt:lpstr>
      <vt:lpstr>Cambria</vt:lpstr>
      <vt:lpstr>Corbel</vt:lpstr>
      <vt:lpstr>Times New Roman</vt:lpstr>
      <vt:lpstr>Wingdings</vt:lpstr>
      <vt:lpstr>1_Default Design</vt:lpstr>
      <vt:lpstr>2_Default Design</vt:lpstr>
      <vt:lpstr>PowerPoint 프레젠테이션</vt:lpstr>
      <vt:lpstr>목차</vt:lpstr>
      <vt:lpstr>Ⅰ. 서론</vt:lpstr>
      <vt:lpstr>Ⅰ. 서론</vt:lpstr>
      <vt:lpstr>Ⅱ. 관련 연구</vt:lpstr>
      <vt:lpstr>Ⅱ. 관련 연구</vt:lpstr>
      <vt:lpstr>Ⅱ. 관련 연구</vt:lpstr>
      <vt:lpstr>Ⅲ. 연구 방법</vt:lpstr>
      <vt:lpstr>Ⅲ. 연구 방법</vt:lpstr>
      <vt:lpstr>Ⅲ. 연구 방법</vt:lpstr>
      <vt:lpstr>Ⅲ. 연구 방법</vt:lpstr>
      <vt:lpstr>Ⅲ. 연구 방법</vt:lpstr>
      <vt:lpstr>Ⅲ. 연구 방법</vt:lpstr>
      <vt:lpstr>Ⅳ. 실험 결과 및 분석</vt:lpstr>
      <vt:lpstr>Ⅳ. 실험 결과 및 분석</vt:lpstr>
      <vt:lpstr>Ⅳ. 실험 결과 및 분석</vt:lpstr>
      <vt:lpstr>Ⅴ. 결론</vt:lpstr>
      <vt:lpstr>Ⅴ. 결론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진호 유</cp:lastModifiedBy>
  <cp:revision>3346</cp:revision>
  <cp:lastPrinted>2023-01-25T05:07:50Z</cp:lastPrinted>
  <dcterms:created xsi:type="dcterms:W3CDTF">2004-08-18T11:28:05Z</dcterms:created>
  <dcterms:modified xsi:type="dcterms:W3CDTF">2025-12-08T04:35:56Z</dcterms:modified>
</cp:coreProperties>
</file>