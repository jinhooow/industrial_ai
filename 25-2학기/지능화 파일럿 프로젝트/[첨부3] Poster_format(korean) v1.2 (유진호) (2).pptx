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9" r:id="rId1"/>
  </p:sldMasterIdLst>
  <p:notesMasterIdLst>
    <p:notesMasterId r:id="rId3"/>
  </p:notesMasterIdLst>
  <p:sldIdLst>
    <p:sldId id="259" r:id="rId2"/>
  </p:sldIdLst>
  <p:sldSz cx="32404050" cy="43205400"/>
  <p:notesSz cx="6797675" cy="9928225"/>
  <p:defaultTextStyle>
    <a:defPPr>
      <a:defRPr lang="ko-KR"/>
    </a:defPPr>
    <a:lvl1pPr marL="0" algn="l" defTabSz="4197005" rtl="0" eaLnBrk="1" latinLnBrk="1" hangingPunct="1">
      <a:defRPr sz="8300" kern="1200">
        <a:solidFill>
          <a:schemeClr val="tx1"/>
        </a:solidFill>
        <a:latin typeface="+mn-lt"/>
        <a:ea typeface="+mn-ea"/>
        <a:cs typeface="+mn-cs"/>
      </a:defRPr>
    </a:lvl1pPr>
    <a:lvl2pPr marL="2098502" algn="l" defTabSz="4197005" rtl="0" eaLnBrk="1" latinLnBrk="1" hangingPunct="1">
      <a:defRPr sz="8300" kern="1200">
        <a:solidFill>
          <a:schemeClr val="tx1"/>
        </a:solidFill>
        <a:latin typeface="+mn-lt"/>
        <a:ea typeface="+mn-ea"/>
        <a:cs typeface="+mn-cs"/>
      </a:defRPr>
    </a:lvl2pPr>
    <a:lvl3pPr marL="4197005" algn="l" defTabSz="4197005" rtl="0" eaLnBrk="1" latinLnBrk="1" hangingPunct="1">
      <a:defRPr sz="8300" kern="1200">
        <a:solidFill>
          <a:schemeClr val="tx1"/>
        </a:solidFill>
        <a:latin typeface="+mn-lt"/>
        <a:ea typeface="+mn-ea"/>
        <a:cs typeface="+mn-cs"/>
      </a:defRPr>
    </a:lvl3pPr>
    <a:lvl4pPr marL="6295507" algn="l" defTabSz="4197005" rtl="0" eaLnBrk="1" latinLnBrk="1" hangingPunct="1">
      <a:defRPr sz="8300" kern="1200">
        <a:solidFill>
          <a:schemeClr val="tx1"/>
        </a:solidFill>
        <a:latin typeface="+mn-lt"/>
        <a:ea typeface="+mn-ea"/>
        <a:cs typeface="+mn-cs"/>
      </a:defRPr>
    </a:lvl4pPr>
    <a:lvl5pPr marL="8394009" algn="l" defTabSz="4197005" rtl="0" eaLnBrk="1" latinLnBrk="1" hangingPunct="1">
      <a:defRPr sz="8300" kern="1200">
        <a:solidFill>
          <a:schemeClr val="tx1"/>
        </a:solidFill>
        <a:latin typeface="+mn-lt"/>
        <a:ea typeface="+mn-ea"/>
        <a:cs typeface="+mn-cs"/>
      </a:defRPr>
    </a:lvl5pPr>
    <a:lvl6pPr marL="10492511" algn="l" defTabSz="4197005" rtl="0" eaLnBrk="1" latinLnBrk="1" hangingPunct="1">
      <a:defRPr sz="8300" kern="1200">
        <a:solidFill>
          <a:schemeClr val="tx1"/>
        </a:solidFill>
        <a:latin typeface="+mn-lt"/>
        <a:ea typeface="+mn-ea"/>
        <a:cs typeface="+mn-cs"/>
      </a:defRPr>
    </a:lvl6pPr>
    <a:lvl7pPr marL="12591014" algn="l" defTabSz="4197005" rtl="0" eaLnBrk="1" latinLnBrk="1" hangingPunct="1">
      <a:defRPr sz="8300" kern="1200">
        <a:solidFill>
          <a:schemeClr val="tx1"/>
        </a:solidFill>
        <a:latin typeface="+mn-lt"/>
        <a:ea typeface="+mn-ea"/>
        <a:cs typeface="+mn-cs"/>
      </a:defRPr>
    </a:lvl7pPr>
    <a:lvl8pPr marL="14689516" algn="l" defTabSz="4197005" rtl="0" eaLnBrk="1" latinLnBrk="1" hangingPunct="1">
      <a:defRPr sz="8300" kern="1200">
        <a:solidFill>
          <a:schemeClr val="tx1"/>
        </a:solidFill>
        <a:latin typeface="+mn-lt"/>
        <a:ea typeface="+mn-ea"/>
        <a:cs typeface="+mn-cs"/>
      </a:defRPr>
    </a:lvl8pPr>
    <a:lvl9pPr marL="16788018" algn="l" defTabSz="4197005" rtl="0" eaLnBrk="1" latinLnBrk="1" hangingPunct="1">
      <a:defRPr sz="8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4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75E"/>
    <a:srgbClr val="B62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52" autoAdjust="0"/>
    <p:restoredTop sz="99521" autoAdjust="0"/>
  </p:normalViewPr>
  <p:slideViewPr>
    <p:cSldViewPr>
      <p:cViewPr>
        <p:scale>
          <a:sx n="25" d="100"/>
          <a:sy n="25" d="100"/>
        </p:scale>
        <p:origin x="2664" y="-1872"/>
      </p:cViewPr>
      <p:guideLst>
        <p:guide orient="horz" pos="16148"/>
        <p:guide pos="10206"/>
      </p:guideLst>
    </p:cSldViewPr>
  </p:slideViewPr>
  <p:outlineViewPr>
    <p:cViewPr>
      <p:scale>
        <a:sx n="33" d="100"/>
        <a:sy n="33" d="100"/>
      </p:scale>
      <p:origin x="18" y="12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4409" tIns="47204" rIns="94409" bIns="47204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4409" tIns="47204" rIns="94409" bIns="47204"/>
          <a:lstStyle>
            <a:lvl1pPr algn="r">
              <a:defRPr sz="1200"/>
            </a:lvl1pPr>
          </a:lstStyle>
          <a:p>
            <a:pPr lvl="0">
              <a:defRPr/>
            </a:pPr>
            <a:fld id="{9F6491DF-3841-48C1-B5C6-515E60E23FDC}" type="datetime1">
              <a:rPr lang="ko-KR" altLang="en-US"/>
              <a:pPr lvl="0">
                <a:defRPr/>
              </a:pPr>
              <a:t>2025-10-10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003425" y="744538"/>
            <a:ext cx="27908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09" tIns="47204" rIns="94409" bIns="47204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2" y="4716463"/>
            <a:ext cx="5438775" cy="4467225"/>
          </a:xfrm>
          <a:prstGeom prst="rect">
            <a:avLst/>
          </a:prstGeom>
        </p:spPr>
        <p:txBody>
          <a:bodyPr vert="horz" lIns="94409" tIns="47204" rIns="94409" bIns="47204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1"/>
            <a:ext cx="2946400" cy="496888"/>
          </a:xfrm>
          <a:prstGeom prst="rect">
            <a:avLst/>
          </a:prstGeom>
        </p:spPr>
        <p:txBody>
          <a:bodyPr vert="horz" lIns="94409" tIns="47204" rIns="94409" bIns="47204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9" y="9429751"/>
            <a:ext cx="2946400" cy="496888"/>
          </a:xfrm>
          <a:prstGeom prst="rect">
            <a:avLst/>
          </a:prstGeom>
        </p:spPr>
        <p:txBody>
          <a:bodyPr vert="horz" lIns="94409" tIns="47204" rIns="94409" bIns="47204" anchor="b"/>
          <a:lstStyle>
            <a:lvl1pPr algn="r">
              <a:defRPr sz="1200"/>
            </a:lvl1pPr>
          </a:lstStyle>
          <a:p>
            <a:pPr lvl="0">
              <a:defRPr/>
            </a:pPr>
            <a:fld id="{DF781CD6-0D75-46B6-96CE-4817F5D10E8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DF781CD6-0D75-46B6-96CE-4817F5D10E8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5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18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7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3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7972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566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161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755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3C220-E8B4-4624-84E3-0362E066BFE0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C52B-2194-4461-88F4-847FA8AF01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3C220-E8B4-4624-84E3-0362E066BFE0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C52B-2194-4461-88F4-847FA8AF01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59696" y="27763486"/>
            <a:ext cx="27543443" cy="8581073"/>
          </a:xfrm>
        </p:spPr>
        <p:txBody>
          <a:bodyPr anchor="t"/>
          <a:lstStyle>
            <a:lvl1pPr algn="l">
              <a:defRPr sz="189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59696" y="18312295"/>
            <a:ext cx="27543443" cy="9451178"/>
          </a:xfr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59448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18896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78344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37801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797249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5669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16144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75592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3C220-E8B4-4624-84E3-0362E066BFE0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C52B-2194-4461-88F4-847FA8AF01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743846" y="63507953"/>
            <a:ext cx="51402048" cy="179642453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7685960" y="63507953"/>
            <a:ext cx="51402051" cy="179642453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3C220-E8B4-4624-84E3-0362E066BFE0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C52B-2194-4461-88F4-847FA8AF01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620203" y="9671212"/>
            <a:ext cx="14317416" cy="4030501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448" indent="0">
              <a:buNone/>
              <a:defRPr sz="9500" b="1"/>
            </a:lvl2pPr>
            <a:lvl3pPr marL="4318896" indent="0">
              <a:buNone/>
              <a:defRPr sz="8500" b="1"/>
            </a:lvl3pPr>
            <a:lvl4pPr marL="6478344" indent="0">
              <a:buNone/>
              <a:defRPr sz="7600" b="1"/>
            </a:lvl4pPr>
            <a:lvl5pPr marL="8637801" indent="0">
              <a:buNone/>
              <a:defRPr sz="7600" b="1"/>
            </a:lvl5pPr>
            <a:lvl6pPr marL="10797249" indent="0">
              <a:buNone/>
              <a:defRPr sz="7600" b="1"/>
            </a:lvl6pPr>
            <a:lvl7pPr marL="12956697" indent="0">
              <a:buNone/>
              <a:defRPr sz="7600" b="1"/>
            </a:lvl7pPr>
            <a:lvl8pPr marL="15116144" indent="0">
              <a:buNone/>
              <a:defRPr sz="7600" b="1"/>
            </a:lvl8pPr>
            <a:lvl9pPr marL="17275592" indent="0">
              <a:buNone/>
              <a:defRPr sz="7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620203" y="13701713"/>
            <a:ext cx="14317416" cy="24893114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6460809" y="9671212"/>
            <a:ext cx="14323040" cy="4030501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448" indent="0">
              <a:buNone/>
              <a:defRPr sz="9500" b="1"/>
            </a:lvl2pPr>
            <a:lvl3pPr marL="4318896" indent="0">
              <a:buNone/>
              <a:defRPr sz="8500" b="1"/>
            </a:lvl3pPr>
            <a:lvl4pPr marL="6478344" indent="0">
              <a:buNone/>
              <a:defRPr sz="7600" b="1"/>
            </a:lvl4pPr>
            <a:lvl5pPr marL="8637801" indent="0">
              <a:buNone/>
              <a:defRPr sz="7600" b="1"/>
            </a:lvl5pPr>
            <a:lvl6pPr marL="10797249" indent="0">
              <a:buNone/>
              <a:defRPr sz="7600" b="1"/>
            </a:lvl6pPr>
            <a:lvl7pPr marL="12956697" indent="0">
              <a:buNone/>
              <a:defRPr sz="7600" b="1"/>
            </a:lvl7pPr>
            <a:lvl8pPr marL="15116144" indent="0">
              <a:buNone/>
              <a:defRPr sz="7600" b="1"/>
            </a:lvl8pPr>
            <a:lvl9pPr marL="17275592" indent="0">
              <a:buNone/>
              <a:defRPr sz="7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6460809" y="13701713"/>
            <a:ext cx="14323040" cy="24893114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3C220-E8B4-4624-84E3-0362E066BFE0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C52B-2194-4461-88F4-847FA8AF01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3C220-E8B4-4624-84E3-0362E066BFE0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C52B-2194-4461-88F4-847FA8AF01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3C220-E8B4-4624-84E3-0362E066BFE0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C52B-2194-4461-88F4-847FA8AF01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20211" y="1720215"/>
            <a:ext cx="10660709" cy="7320915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2669083" y="1720218"/>
            <a:ext cx="18114764" cy="36874612"/>
          </a:xfr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20211" y="9041146"/>
            <a:ext cx="10660709" cy="29553697"/>
          </a:xfrm>
        </p:spPr>
        <p:txBody>
          <a:bodyPr/>
          <a:lstStyle>
            <a:lvl1pPr marL="0" indent="0">
              <a:buNone/>
              <a:defRPr sz="6600"/>
            </a:lvl1pPr>
            <a:lvl2pPr marL="2159448" indent="0">
              <a:buNone/>
              <a:defRPr sz="5700"/>
            </a:lvl2pPr>
            <a:lvl3pPr marL="4318896" indent="0">
              <a:buNone/>
              <a:defRPr sz="4700"/>
            </a:lvl3pPr>
            <a:lvl4pPr marL="6478344" indent="0">
              <a:buNone/>
              <a:defRPr sz="4300"/>
            </a:lvl4pPr>
            <a:lvl5pPr marL="8637801" indent="0">
              <a:buNone/>
              <a:defRPr sz="4300"/>
            </a:lvl5pPr>
            <a:lvl6pPr marL="10797249" indent="0">
              <a:buNone/>
              <a:defRPr sz="4300"/>
            </a:lvl6pPr>
            <a:lvl7pPr marL="12956697" indent="0">
              <a:buNone/>
              <a:defRPr sz="4300"/>
            </a:lvl7pPr>
            <a:lvl8pPr marL="15116144" indent="0">
              <a:buNone/>
              <a:defRPr sz="4300"/>
            </a:lvl8pPr>
            <a:lvl9pPr marL="17275592" indent="0">
              <a:buNone/>
              <a:defRPr sz="4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3C220-E8B4-4624-84E3-0362E066BFE0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C52B-2194-4461-88F4-847FA8AF01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51421" y="30243780"/>
            <a:ext cx="19442430" cy="3570449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6351421" y="3860483"/>
            <a:ext cx="19442430" cy="25923240"/>
          </a:xfrm>
        </p:spPr>
        <p:txBody>
          <a:bodyPr/>
          <a:lstStyle>
            <a:lvl1pPr marL="0" indent="0">
              <a:buNone/>
              <a:defRPr sz="15100"/>
            </a:lvl1pPr>
            <a:lvl2pPr marL="2159448" indent="0">
              <a:buNone/>
              <a:defRPr sz="13200"/>
            </a:lvl2pPr>
            <a:lvl3pPr marL="4318896" indent="0">
              <a:buNone/>
              <a:defRPr sz="11300"/>
            </a:lvl3pPr>
            <a:lvl4pPr marL="6478344" indent="0">
              <a:buNone/>
              <a:defRPr sz="9500"/>
            </a:lvl4pPr>
            <a:lvl5pPr marL="8637801" indent="0">
              <a:buNone/>
              <a:defRPr sz="9500"/>
            </a:lvl5pPr>
            <a:lvl6pPr marL="10797249" indent="0">
              <a:buNone/>
              <a:defRPr sz="9500"/>
            </a:lvl6pPr>
            <a:lvl7pPr marL="12956697" indent="0">
              <a:buNone/>
              <a:defRPr sz="9500"/>
            </a:lvl7pPr>
            <a:lvl8pPr marL="15116144" indent="0">
              <a:buNone/>
              <a:defRPr sz="9500"/>
            </a:lvl8pPr>
            <a:lvl9pPr marL="17275592" indent="0">
              <a:buNone/>
              <a:defRPr sz="95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51421" y="33814229"/>
            <a:ext cx="19442430" cy="5070631"/>
          </a:xfrm>
        </p:spPr>
        <p:txBody>
          <a:bodyPr/>
          <a:lstStyle>
            <a:lvl1pPr marL="0" indent="0">
              <a:buNone/>
              <a:defRPr sz="6600"/>
            </a:lvl1pPr>
            <a:lvl2pPr marL="2159448" indent="0">
              <a:buNone/>
              <a:defRPr sz="5700"/>
            </a:lvl2pPr>
            <a:lvl3pPr marL="4318896" indent="0">
              <a:buNone/>
              <a:defRPr sz="4700"/>
            </a:lvl3pPr>
            <a:lvl4pPr marL="6478344" indent="0">
              <a:buNone/>
              <a:defRPr sz="4300"/>
            </a:lvl4pPr>
            <a:lvl5pPr marL="8637801" indent="0">
              <a:buNone/>
              <a:defRPr sz="4300"/>
            </a:lvl5pPr>
            <a:lvl6pPr marL="10797249" indent="0">
              <a:buNone/>
              <a:defRPr sz="4300"/>
            </a:lvl6pPr>
            <a:lvl7pPr marL="12956697" indent="0">
              <a:buNone/>
              <a:defRPr sz="4300"/>
            </a:lvl7pPr>
            <a:lvl8pPr marL="15116144" indent="0">
              <a:buNone/>
              <a:defRPr sz="4300"/>
            </a:lvl8pPr>
            <a:lvl9pPr marL="17275592" indent="0">
              <a:buNone/>
              <a:defRPr sz="43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3C220-E8B4-4624-84E3-0362E066BFE0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C52B-2194-4461-88F4-847FA8AF01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3C220-E8B4-4624-84E3-0362E066BFE0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C52B-2194-4461-88F4-847FA8AF01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3254782" y="10901365"/>
            <a:ext cx="25833229" cy="23224902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743850" y="10901365"/>
            <a:ext cx="76970870" cy="23224902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3C220-E8B4-4624-84E3-0362E066BFE0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CC52B-2194-4461-88F4-847FA8AF01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1893" tIns="215942" rIns="431893" bIns="215942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620203" y="10081276"/>
            <a:ext cx="29163645" cy="28513567"/>
          </a:xfrm>
          <a:prstGeom prst="rect">
            <a:avLst/>
          </a:prstGeom>
        </p:spPr>
        <p:txBody>
          <a:bodyPr vert="horz" lIns="431893" tIns="215942" rIns="431893" bIns="215942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620203" y="40045014"/>
            <a:ext cx="7560945" cy="2300288"/>
          </a:xfrm>
          <a:prstGeom prst="rect">
            <a:avLst/>
          </a:prstGeom>
        </p:spPr>
        <p:txBody>
          <a:bodyPr vert="horz" lIns="431893" tIns="215942" rIns="431893" bIns="215942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3C220-E8B4-4624-84E3-0362E066BFE0}" type="datetimeFigureOut">
              <a:rPr lang="ko-KR" altLang="en-US" smtClean="0"/>
              <a:pPr/>
              <a:t>2025-10-10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1071384" y="40045014"/>
            <a:ext cx="10261283" cy="2300288"/>
          </a:xfrm>
          <a:prstGeom prst="rect">
            <a:avLst/>
          </a:prstGeom>
        </p:spPr>
        <p:txBody>
          <a:bodyPr vert="horz" lIns="431893" tIns="215942" rIns="431893" bIns="215942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3222903" y="40045014"/>
            <a:ext cx="7560945" cy="2300288"/>
          </a:xfrm>
          <a:prstGeom prst="rect">
            <a:avLst/>
          </a:prstGeom>
        </p:spPr>
        <p:txBody>
          <a:bodyPr vert="horz" lIns="431893" tIns="215942" rIns="431893" bIns="215942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CC52B-2194-4461-88F4-847FA8AF011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318896" rtl="0" eaLnBrk="1" latinLnBrk="1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588" indent="-1619588" algn="l" defTabSz="4318896" rtl="0" eaLnBrk="1" latinLnBrk="1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9106" indent="-1349658" algn="l" defTabSz="4318896" rtl="0" eaLnBrk="1" latinLnBrk="1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398624" indent="-1079729" algn="l" defTabSz="4318896" rtl="0" eaLnBrk="1" latinLnBrk="1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8072" indent="-1079729" algn="l" defTabSz="4318896" rtl="0" eaLnBrk="1" latinLnBrk="1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17520" indent="-1079729" algn="l" defTabSz="4318896" rtl="0" eaLnBrk="1" latinLnBrk="1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76968" indent="-1079729" algn="l" defTabSz="4318896" rtl="0" eaLnBrk="1" latinLnBrk="1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36416" indent="-1079729" algn="l" defTabSz="4318896" rtl="0" eaLnBrk="1" latinLnBrk="1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195868" indent="-1079729" algn="l" defTabSz="4318896" rtl="0" eaLnBrk="1" latinLnBrk="1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55321" indent="-1079729" algn="l" defTabSz="4318896" rtl="0" eaLnBrk="1" latinLnBrk="1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318896" rtl="0" eaLnBrk="1" latinLnBrk="1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448" algn="l" defTabSz="4318896" rtl="0" eaLnBrk="1" latinLnBrk="1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18896" algn="l" defTabSz="4318896" rtl="0" eaLnBrk="1" latinLnBrk="1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78344" algn="l" defTabSz="4318896" rtl="0" eaLnBrk="1" latinLnBrk="1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37801" algn="l" defTabSz="4318896" rtl="0" eaLnBrk="1" latinLnBrk="1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7249" algn="l" defTabSz="4318896" rtl="0" eaLnBrk="1" latinLnBrk="1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56697" algn="l" defTabSz="4318896" rtl="0" eaLnBrk="1" latinLnBrk="1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16144" algn="l" defTabSz="4318896" rtl="0" eaLnBrk="1" latinLnBrk="1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75592" algn="l" defTabSz="4318896" rtl="0" eaLnBrk="1" latinLnBrk="1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5" Type="http://schemas.openxmlformats.org/officeDocument/2006/relationships/image" Target="../media/image3.jpe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제목 1"/>
          <p:cNvSpPr txBox="1"/>
          <p:nvPr/>
        </p:nvSpPr>
        <p:spPr>
          <a:xfrm>
            <a:off x="-1" y="0"/>
            <a:ext cx="32763865" cy="43200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vert="horz" lIns="431893" tIns="215942" rIns="431893" bIns="215942" anchor="ctr">
            <a:normAutofit/>
          </a:bodyPr>
          <a:lstStyle/>
          <a:p>
            <a:pPr marL="0" marR="0" lvl="0" indent="0" algn="ctr" defTabSz="431889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4800" b="1" i="0" u="none" strike="noStrike" kern="1200" cap="all" spc="0" normalizeH="0" baseline="0" dirty="0">
              <a:ln w="0"/>
              <a:solidFill>
                <a:schemeClr val="bg1"/>
              </a:soli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HY헤드라인M"/>
              <a:ea typeface="HY헤드라인M"/>
              <a:cs typeface="+mj-cs"/>
            </a:endParaRPr>
          </a:p>
        </p:txBody>
      </p:sp>
      <p:pic>
        <p:nvPicPr>
          <p:cNvPr id="22" name="Picture 4" descr="cbnu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-15141841" y="-21261988"/>
            <a:ext cx="4454153" cy="1982860"/>
          </a:xfrm>
          <a:prstGeom prst="rect">
            <a:avLst/>
          </a:prstGeom>
          <a:noFill/>
        </p:spPr>
      </p:pic>
      <p:pic>
        <p:nvPicPr>
          <p:cNvPr id="29" name="Picture 2">
            <a:extLst>
              <a:ext uri="{FF2B5EF4-FFF2-40B4-BE49-F238E27FC236}">
                <a16:creationId xmlns:a16="http://schemas.microsoft.com/office/drawing/2014/main" id="{6A6EAD88-5C5E-297A-C809-5B3BD91652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0344" y="936404"/>
            <a:ext cx="7861019" cy="1082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5" name="제목 1">
            <a:extLst>
              <a:ext uri="{FF2B5EF4-FFF2-40B4-BE49-F238E27FC236}">
                <a16:creationId xmlns:a16="http://schemas.microsoft.com/office/drawing/2014/main" id="{5A75FF00-7EE8-7018-17AB-E060FC68C5AD}"/>
              </a:ext>
            </a:extLst>
          </p:cNvPr>
          <p:cNvSpPr txBox="1"/>
          <p:nvPr/>
        </p:nvSpPr>
        <p:spPr>
          <a:xfrm>
            <a:off x="647701" y="8724900"/>
            <a:ext cx="15354300" cy="33870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431893" tIns="215942" rIns="431893" bIns="215942" anchor="ctr">
            <a:normAutofit/>
          </a:bodyPr>
          <a:lstStyle/>
          <a:p>
            <a:pPr marL="0" marR="0" lvl="0" indent="0" algn="ctr" defTabSz="431889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4800" b="1" i="0" u="none" strike="noStrike" kern="1200" cap="all" spc="0" normalizeH="0" baseline="0" dirty="0">
                <a:ln w="0"/>
                <a:solidFill>
                  <a:schemeClr val="bg1"/>
                </a:solidFill>
                <a:effectLst>
                  <a:reflection blurRad="12700" stA="50000" endPos="50000" dist="5000" dir="5400000" sy="-100000" rotWithShape="0"/>
                </a:effectLst>
                <a:uLnTx/>
                <a:uFillTx/>
                <a:latin typeface="HY헤드라인M"/>
                <a:ea typeface="HY헤드라인M"/>
                <a:cs typeface="+mj-cs"/>
              </a:rPr>
              <a:t>d</a:t>
            </a:r>
            <a:endParaRPr kumimoji="0" lang="ko-KR" altLang="en-US" sz="4800" b="1" i="0" u="none" strike="noStrike" kern="1200" cap="all" spc="0" normalizeH="0" baseline="0" dirty="0">
              <a:ln w="0"/>
              <a:solidFill>
                <a:schemeClr val="bg1"/>
              </a:solidFill>
              <a:effectLst>
                <a:reflection blurRad="12700" stA="50000" endPos="50000" dist="5000" dir="5400000" sy="-100000" rotWithShape="0"/>
              </a:effectLst>
              <a:uLnTx/>
              <a:uFillTx/>
              <a:latin typeface="HY헤드라인M"/>
              <a:ea typeface="HY헤드라인M"/>
              <a:cs typeface="+mj-cs"/>
            </a:endParaRPr>
          </a:p>
        </p:txBody>
      </p:sp>
      <p:sp>
        <p:nvSpPr>
          <p:cNvPr id="50" name="제목 1">
            <a:extLst>
              <a:ext uri="{FF2B5EF4-FFF2-40B4-BE49-F238E27FC236}">
                <a16:creationId xmlns:a16="http://schemas.microsoft.com/office/drawing/2014/main" id="{3EC31DB6-F79D-72E8-921E-D80D50C8DC09}"/>
              </a:ext>
            </a:extLst>
          </p:cNvPr>
          <p:cNvSpPr txBox="1"/>
          <p:nvPr/>
        </p:nvSpPr>
        <p:spPr>
          <a:xfrm>
            <a:off x="16573501" y="8724900"/>
            <a:ext cx="15354300" cy="33870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lIns="431893" tIns="215942" rIns="431893" bIns="215942" anchor="ctr">
            <a:normAutofit/>
          </a:bodyPr>
          <a:lstStyle/>
          <a:p>
            <a:pPr marL="0" marR="0" lvl="0" indent="0" algn="ctr" defTabSz="4318896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FontTx/>
              <a:buNone/>
              <a:defRPr/>
            </a:pPr>
            <a:endParaRPr kumimoji="0" lang="ko-KR" altLang="en-US" sz="4800" b="1" i="0" u="none" strike="noStrike" kern="1200" cap="all" spc="0" normalizeH="0" baseline="0" dirty="0">
              <a:ln w="0"/>
              <a:effectLst>
                <a:reflection blurRad="12700" stA="50000" endPos="50000" dist="5000" dir="5400000" sy="-100000" rotWithShape="0"/>
              </a:effectLst>
              <a:uLnTx/>
              <a:uFillTx/>
              <a:latin typeface="HY헤드라인M"/>
              <a:ea typeface="HY헤드라인M"/>
              <a:cs typeface="+mj-cs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A51860FC-B9A8-A3A9-FCD0-C1E5106D82FE}"/>
              </a:ext>
            </a:extLst>
          </p:cNvPr>
          <p:cNvSpPr/>
          <p:nvPr/>
        </p:nvSpPr>
        <p:spPr>
          <a:xfrm>
            <a:off x="865415" y="8996229"/>
            <a:ext cx="14839042" cy="1405071"/>
          </a:xfrm>
          <a:prstGeom prst="round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600" b="1" dirty="0"/>
              <a:t>연구목적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AA1D78EA-0A03-0811-3440-15DD2F93FAEE}"/>
              </a:ext>
            </a:extLst>
          </p:cNvPr>
          <p:cNvSpPr/>
          <p:nvPr/>
        </p:nvSpPr>
        <p:spPr>
          <a:xfrm>
            <a:off x="865415" y="19773900"/>
            <a:ext cx="14839042" cy="1405071"/>
          </a:xfrm>
          <a:prstGeom prst="round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600" b="1" dirty="0"/>
              <a:t>문제정의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E19AE59A-9FED-8857-9CBC-288959073AC6}"/>
              </a:ext>
            </a:extLst>
          </p:cNvPr>
          <p:cNvSpPr/>
          <p:nvPr/>
        </p:nvSpPr>
        <p:spPr>
          <a:xfrm>
            <a:off x="16795225" y="8996229"/>
            <a:ext cx="14839042" cy="1405071"/>
          </a:xfrm>
          <a:prstGeom prst="round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600" b="1" dirty="0"/>
              <a:t>연구결과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BFCE8610-93F7-E719-188D-629D6B9FEBD2}"/>
              </a:ext>
            </a:extLst>
          </p:cNvPr>
          <p:cNvSpPr/>
          <p:nvPr/>
        </p:nvSpPr>
        <p:spPr>
          <a:xfrm>
            <a:off x="16795225" y="31179764"/>
            <a:ext cx="14839042" cy="1405071"/>
          </a:xfrm>
          <a:prstGeom prst="round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600" b="1" dirty="0"/>
              <a:t>결론 및 제언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B8A6E7-B768-B3AD-946D-D7711BE1D982}"/>
              </a:ext>
            </a:extLst>
          </p:cNvPr>
          <p:cNvSpPr txBox="1"/>
          <p:nvPr/>
        </p:nvSpPr>
        <p:spPr>
          <a:xfrm>
            <a:off x="2979459" y="2868946"/>
            <a:ext cx="26183771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임베디드 환경을 위한 경량화 </a:t>
            </a:r>
            <a:r>
              <a:rPr lang="en-US" altLang="ko-KR" b="1" dirty="0">
                <a:solidFill>
                  <a:schemeClr val="bg1"/>
                </a:solidFill>
              </a:rPr>
              <a:t>YOLO </a:t>
            </a:r>
            <a:r>
              <a:rPr lang="ko-KR" altLang="en-US" b="1" dirty="0">
                <a:solidFill>
                  <a:schemeClr val="bg1"/>
                </a:solidFill>
              </a:rPr>
              <a:t>객체 탐지 모델의 </a:t>
            </a:r>
            <a:endParaRPr lang="en-US" altLang="ko-KR" b="1" dirty="0">
              <a:solidFill>
                <a:schemeClr val="bg1"/>
              </a:solidFill>
            </a:endParaRPr>
          </a:p>
          <a:p>
            <a:pPr algn="ctr"/>
            <a:r>
              <a:rPr lang="ko-KR" altLang="en-US" b="1" dirty="0">
                <a:solidFill>
                  <a:schemeClr val="bg1"/>
                </a:solidFill>
              </a:rPr>
              <a:t>전력효율 향상 연구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F8447B-15BC-A939-8931-3433FBCF3E8C}"/>
              </a:ext>
            </a:extLst>
          </p:cNvPr>
          <p:cNvSpPr txBox="1"/>
          <p:nvPr/>
        </p:nvSpPr>
        <p:spPr>
          <a:xfrm>
            <a:off x="9361265" y="1376828"/>
            <a:ext cx="558486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4400" dirty="0">
                <a:solidFill>
                  <a:schemeClr val="bg1"/>
                </a:solidFill>
              </a:rPr>
              <a:t>2025 INDAI</a:t>
            </a:r>
            <a:r>
              <a:rPr lang="ko-KR" altLang="en-US" sz="4400" dirty="0">
                <a:solidFill>
                  <a:schemeClr val="bg1"/>
                </a:solidFill>
              </a:rPr>
              <a:t> </a:t>
            </a:r>
            <a:r>
              <a:rPr lang="ko-KR" altLang="en-US" sz="4400" dirty="0" err="1">
                <a:solidFill>
                  <a:schemeClr val="bg1"/>
                </a:solidFill>
              </a:rPr>
              <a:t>콜로키움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2BEF62-AF9D-B554-0A3F-4CC62B3E6F81}"/>
              </a:ext>
            </a:extLst>
          </p:cNvPr>
          <p:cNvSpPr txBox="1"/>
          <p:nvPr/>
        </p:nvSpPr>
        <p:spPr>
          <a:xfrm>
            <a:off x="5340707" y="5989882"/>
            <a:ext cx="2146132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000" dirty="0">
                <a:solidFill>
                  <a:schemeClr val="bg1"/>
                </a:solidFill>
              </a:rPr>
              <a:t>유진호</a:t>
            </a:r>
            <a:r>
              <a:rPr lang="en-US" altLang="ko-KR" sz="4000" dirty="0">
                <a:solidFill>
                  <a:schemeClr val="bg1"/>
                </a:solidFill>
              </a:rPr>
              <a:t>, </a:t>
            </a:r>
            <a:r>
              <a:rPr lang="ko-KR" altLang="en-US" sz="4000" dirty="0" err="1">
                <a:solidFill>
                  <a:schemeClr val="bg1"/>
                </a:solidFill>
              </a:rPr>
              <a:t>김한진</a:t>
            </a:r>
            <a:r>
              <a:rPr lang="en-US" altLang="ko-KR" sz="4000" dirty="0">
                <a:solidFill>
                  <a:schemeClr val="bg1"/>
                </a:solidFill>
              </a:rPr>
              <a:t>*, </a:t>
            </a:r>
            <a:r>
              <a:rPr lang="ko-KR" altLang="en-US" sz="4000" dirty="0" err="1">
                <a:solidFill>
                  <a:schemeClr val="bg1"/>
                </a:solidFill>
              </a:rPr>
              <a:t>기석철</a:t>
            </a:r>
            <a:r>
              <a:rPr lang="en-US" altLang="ko-KR" sz="4000" dirty="0">
                <a:solidFill>
                  <a:schemeClr val="bg1"/>
                </a:solidFill>
              </a:rPr>
              <a:t>**</a:t>
            </a:r>
          </a:p>
          <a:p>
            <a:pPr algn="ctr"/>
            <a:r>
              <a:rPr lang="ko-KR" altLang="en-US" sz="4000" dirty="0">
                <a:solidFill>
                  <a:schemeClr val="bg1"/>
                </a:solidFill>
              </a:rPr>
              <a:t>충북대학교 산업인공지능학과</a:t>
            </a:r>
            <a:r>
              <a:rPr lang="en-US" altLang="ko-KR" sz="4000" dirty="0">
                <a:solidFill>
                  <a:schemeClr val="bg1"/>
                </a:solidFill>
              </a:rPr>
              <a:t>, *</a:t>
            </a:r>
            <a:r>
              <a:rPr lang="ko-KR" altLang="en-US" sz="4000" dirty="0">
                <a:solidFill>
                  <a:schemeClr val="bg1"/>
                </a:solidFill>
              </a:rPr>
              <a:t>충북대학교 산업인공지능센터</a:t>
            </a:r>
            <a:r>
              <a:rPr lang="en-US" altLang="ko-KR" sz="4000" dirty="0">
                <a:solidFill>
                  <a:schemeClr val="bg1"/>
                </a:solidFill>
              </a:rPr>
              <a:t>, **</a:t>
            </a:r>
            <a:r>
              <a:rPr lang="ko-KR" altLang="en-US" sz="4000" dirty="0">
                <a:solidFill>
                  <a:schemeClr val="bg1"/>
                </a:solidFill>
              </a:rPr>
              <a:t>충북대학교 지능로봇공학과</a:t>
            </a:r>
            <a:endParaRPr lang="en-US" altLang="ko-KR" sz="4000" dirty="0">
              <a:solidFill>
                <a:schemeClr val="bg1"/>
              </a:solidFill>
            </a:endParaRPr>
          </a:p>
          <a:p>
            <a:pPr algn="ctr"/>
            <a:r>
              <a:rPr lang="en-US" altLang="ko-KR" sz="4000" dirty="0">
                <a:solidFill>
                  <a:schemeClr val="bg1"/>
                </a:solidFill>
              </a:rPr>
              <a:t>jinoh3114@naver.com, *gsk359@chungbuk.ac.kr, **sckee@chungbuk.ac.kr</a:t>
            </a:r>
          </a:p>
        </p:txBody>
      </p:sp>
      <p:pic>
        <p:nvPicPr>
          <p:cNvPr id="1026" name="Picture 2" descr="제품소개이미지1">
            <a:extLst>
              <a:ext uri="{FF2B5EF4-FFF2-40B4-BE49-F238E27FC236}">
                <a16:creationId xmlns:a16="http://schemas.microsoft.com/office/drawing/2014/main" id="{69F75704-12B8-7528-728E-014E723C0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610" y="10790340"/>
            <a:ext cx="6698479" cy="3450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새로운 NVIDIA Jetson AGX Orin으로 엣지 AI와 오토노머스 머신의 미래를 엿보다 | NVIDIA Blog">
            <a:extLst>
              <a:ext uri="{FF2B5EF4-FFF2-40B4-BE49-F238E27FC236}">
                <a16:creationId xmlns:a16="http://schemas.microsoft.com/office/drawing/2014/main" id="{DA90E462-E50E-8D52-C5C1-B03817946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1362" y="10790340"/>
            <a:ext cx="6698479" cy="3450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3918C8BF-4F81-A6A9-6E05-E8DB475718D2}"/>
              </a:ext>
            </a:extLst>
          </p:cNvPr>
          <p:cNvSpPr/>
          <p:nvPr/>
        </p:nvSpPr>
        <p:spPr>
          <a:xfrm>
            <a:off x="1155276" y="15718480"/>
            <a:ext cx="14259319" cy="3450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dirty="0">
                <a:solidFill>
                  <a:schemeClr val="tx1"/>
                </a:solidFill>
              </a:rPr>
              <a:t>임베디드 장치의 제한된 배터리 와 전력자원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- AI </a:t>
            </a:r>
            <a:r>
              <a:rPr lang="ko-KR" altLang="en-US" sz="3200" dirty="0">
                <a:solidFill>
                  <a:schemeClr val="tx1"/>
                </a:solidFill>
              </a:rPr>
              <a:t>모델의 전력 효율은 실질적 운용 가능성을 좌우하는 핵심 요인</a:t>
            </a:r>
            <a:endParaRPr lang="en-US" altLang="ko-KR" sz="3200" dirty="0">
              <a:solidFill>
                <a:schemeClr val="tx1"/>
              </a:solidFill>
            </a:endParaRPr>
          </a:p>
          <a:p>
            <a:pPr marL="571500" indent="-571500">
              <a:buFontTx/>
              <a:buChar char="-"/>
            </a:pPr>
            <a:endParaRPr lang="en-US" altLang="ko-KR" sz="28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기존 연구는 정확도</a:t>
            </a:r>
            <a:r>
              <a:rPr lang="en-US" altLang="ko-KR" sz="4400" dirty="0">
                <a:solidFill>
                  <a:schemeClr val="tx1"/>
                </a:solidFill>
              </a:rPr>
              <a:t>(</a:t>
            </a:r>
            <a:r>
              <a:rPr lang="en-US" altLang="ko-KR" sz="4400" dirty="0" err="1">
                <a:solidFill>
                  <a:schemeClr val="tx1"/>
                </a:solidFill>
              </a:rPr>
              <a:t>mAP</a:t>
            </a:r>
            <a:r>
              <a:rPr lang="en-US" altLang="ko-KR" sz="4400" dirty="0">
                <a:solidFill>
                  <a:schemeClr val="tx1"/>
                </a:solidFill>
              </a:rPr>
              <a:t>)</a:t>
            </a:r>
            <a:r>
              <a:rPr lang="ko-KR" altLang="en-US" sz="4400" dirty="0">
                <a:solidFill>
                  <a:schemeClr val="tx1"/>
                </a:solidFill>
              </a:rPr>
              <a:t>와 속도</a:t>
            </a:r>
            <a:r>
              <a:rPr lang="en-US" altLang="ko-KR" sz="4400" dirty="0">
                <a:solidFill>
                  <a:schemeClr val="tx1"/>
                </a:solidFill>
              </a:rPr>
              <a:t>(FPS)</a:t>
            </a:r>
            <a:r>
              <a:rPr lang="ko-KR" altLang="en-US" sz="4400" dirty="0">
                <a:solidFill>
                  <a:schemeClr val="tx1"/>
                </a:solidFill>
              </a:rPr>
              <a:t>에 치중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- </a:t>
            </a:r>
            <a:r>
              <a:rPr lang="ko-KR" altLang="en-US" sz="3200" dirty="0">
                <a:solidFill>
                  <a:schemeClr val="tx1"/>
                </a:solidFill>
              </a:rPr>
              <a:t>실제 배터리 기반 시스템에서는 소비전력과 효율이 더 중요한 지표</a:t>
            </a:r>
            <a:endParaRPr lang="en-US" altLang="ko-KR" sz="3200" dirty="0">
              <a:solidFill>
                <a:schemeClr val="tx1"/>
              </a:solidFill>
            </a:endParaRPr>
          </a:p>
          <a:p>
            <a:endParaRPr lang="en-US" altLang="ko-KR" sz="2800" dirty="0">
              <a:solidFill>
                <a:schemeClr val="tx1"/>
              </a:solidFill>
            </a:endParaRPr>
          </a:p>
          <a:p>
            <a:r>
              <a:rPr lang="ko-KR" altLang="en-US" sz="4400" b="1" dirty="0">
                <a:solidFill>
                  <a:schemeClr val="tx1"/>
                </a:solidFill>
              </a:rPr>
              <a:t>본 연구의 목적은 </a:t>
            </a:r>
            <a:r>
              <a:rPr lang="en-US" altLang="ko-KR" sz="4400" b="1" dirty="0">
                <a:solidFill>
                  <a:schemeClr val="tx1"/>
                </a:solidFill>
              </a:rPr>
              <a:t>Yolo</a:t>
            </a:r>
            <a:r>
              <a:rPr lang="ko-KR" altLang="en-US" sz="4400" b="1" dirty="0">
                <a:solidFill>
                  <a:schemeClr val="tx1"/>
                </a:solidFill>
              </a:rPr>
              <a:t>모델을 </a:t>
            </a:r>
            <a:r>
              <a:rPr lang="ko-KR" altLang="en-US" sz="4400" b="1" dirty="0" err="1">
                <a:solidFill>
                  <a:schemeClr val="tx1"/>
                </a:solidFill>
              </a:rPr>
              <a:t>경량화하여</a:t>
            </a:r>
            <a:r>
              <a:rPr lang="ko-KR" altLang="en-US" sz="4400" b="1" dirty="0">
                <a:solidFill>
                  <a:schemeClr val="tx1"/>
                </a:solidFill>
              </a:rPr>
              <a:t> 임베디드 환경에서 </a:t>
            </a:r>
            <a:r>
              <a:rPr lang="ko-KR" altLang="en-US" sz="4400" b="1" dirty="0">
                <a:solidFill>
                  <a:schemeClr val="tx2">
                    <a:lumMod val="50000"/>
                  </a:schemeClr>
                </a:solidFill>
              </a:rPr>
              <a:t>정확도</a:t>
            </a:r>
            <a:r>
              <a:rPr lang="en-US" altLang="ko-KR" sz="4400" b="1" dirty="0">
                <a:solidFill>
                  <a:schemeClr val="tx1"/>
                </a:solidFill>
              </a:rPr>
              <a:t>, </a:t>
            </a:r>
            <a:r>
              <a:rPr lang="ko-KR" altLang="en-US" sz="4400" b="1" dirty="0">
                <a:solidFill>
                  <a:schemeClr val="tx2">
                    <a:lumMod val="50000"/>
                  </a:schemeClr>
                </a:solidFill>
              </a:rPr>
              <a:t>속도</a:t>
            </a:r>
            <a:r>
              <a:rPr lang="en-US" altLang="ko-KR" sz="4400" b="1" dirty="0">
                <a:solidFill>
                  <a:schemeClr val="tx1"/>
                </a:solidFill>
              </a:rPr>
              <a:t>, </a:t>
            </a:r>
            <a:r>
              <a:rPr lang="ko-KR" altLang="en-US" sz="4400" b="1" dirty="0">
                <a:solidFill>
                  <a:schemeClr val="tx2">
                    <a:lumMod val="50000"/>
                  </a:schemeClr>
                </a:solidFill>
              </a:rPr>
              <a:t>전력 효율</a:t>
            </a:r>
            <a:r>
              <a:rPr lang="ko-KR" altLang="en-US" sz="4400" b="1" dirty="0">
                <a:solidFill>
                  <a:schemeClr val="tx1"/>
                </a:solidFill>
              </a:rPr>
              <a:t>을 종합적으로 평가하는 것</a:t>
            </a:r>
            <a:endParaRPr lang="en-US" altLang="ko-KR" sz="4400" b="1" dirty="0">
              <a:solidFill>
                <a:schemeClr val="tx1"/>
              </a:solidFill>
            </a:endParaRPr>
          </a:p>
          <a:p>
            <a:pPr marL="571500" indent="-571500">
              <a:buFontTx/>
              <a:buChar char="-"/>
            </a:pPr>
            <a:endParaRPr lang="en-US" altLang="ko-KR" sz="3600" dirty="0">
              <a:solidFill>
                <a:schemeClr val="tx1"/>
              </a:solidFill>
            </a:endParaRPr>
          </a:p>
          <a:p>
            <a:pPr marL="571500" indent="-571500">
              <a:buFontTx/>
              <a:buChar char="-"/>
            </a:pPr>
            <a:endParaRPr lang="en-US" altLang="ko-KR" sz="3600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D976DA2-4491-7358-F7FF-0BB7346C8F74}"/>
              </a:ext>
            </a:extLst>
          </p:cNvPr>
          <p:cNvSpPr/>
          <p:nvPr/>
        </p:nvSpPr>
        <p:spPr>
          <a:xfrm>
            <a:off x="1195191" y="21818724"/>
            <a:ext cx="14259319" cy="3450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dirty="0">
                <a:solidFill>
                  <a:schemeClr val="tx1"/>
                </a:solidFill>
              </a:rPr>
              <a:t>▶ 임베디드 </a:t>
            </a:r>
            <a:r>
              <a:rPr lang="en-US" altLang="ko-KR" sz="4400" dirty="0">
                <a:solidFill>
                  <a:schemeClr val="tx1"/>
                </a:solidFill>
              </a:rPr>
              <a:t>AI</a:t>
            </a:r>
            <a:r>
              <a:rPr lang="ko-KR" altLang="en-US" sz="4400" dirty="0">
                <a:solidFill>
                  <a:schemeClr val="tx1"/>
                </a:solidFill>
              </a:rPr>
              <a:t>모델은 높은 정확도를 유지하려면 </a:t>
            </a:r>
            <a:r>
              <a:rPr lang="ko-KR" altLang="en-US" sz="4400" dirty="0" err="1">
                <a:solidFill>
                  <a:schemeClr val="tx1"/>
                </a:solidFill>
              </a:rPr>
              <a:t>연산량과</a:t>
            </a:r>
            <a:r>
              <a:rPr lang="ko-KR" altLang="en-US" sz="4400" dirty="0">
                <a:solidFill>
                  <a:schemeClr val="tx1"/>
                </a:solidFill>
              </a:rPr>
              <a:t> 전력 소모가 과도하게 증가하는 문제 존재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▶ 경량화를 통해 연산 효율은 개선되지만</a:t>
            </a:r>
            <a:r>
              <a:rPr lang="en-US" altLang="ko-KR" sz="4400" dirty="0">
                <a:solidFill>
                  <a:schemeClr val="tx1"/>
                </a:solidFill>
              </a:rPr>
              <a:t> </a:t>
            </a:r>
            <a:r>
              <a:rPr lang="ko-KR" altLang="en-US" sz="4400" dirty="0">
                <a:solidFill>
                  <a:schemeClr val="tx1"/>
                </a:solidFill>
              </a:rPr>
              <a:t>정확도 저하와 전력 절감 효과 검증 부족이 한계로 지적됨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ko-KR" altLang="en-US" sz="4400" b="1" dirty="0">
                <a:solidFill>
                  <a:schemeClr val="tx1"/>
                </a:solidFill>
              </a:rPr>
              <a:t>▶ 따라서 단순히 모델이 </a:t>
            </a:r>
            <a:r>
              <a:rPr lang="en-US" altLang="ko-KR" sz="4400" b="1" dirty="0">
                <a:solidFill>
                  <a:schemeClr val="tx1"/>
                </a:solidFill>
              </a:rPr>
              <a:t>“</a:t>
            </a:r>
            <a:r>
              <a:rPr lang="ko-KR" altLang="en-US" sz="4400" b="1" dirty="0">
                <a:solidFill>
                  <a:schemeClr val="tx1"/>
                </a:solidFill>
              </a:rPr>
              <a:t>작아졌다</a:t>
            </a:r>
            <a:r>
              <a:rPr lang="en-US" altLang="ko-KR" sz="4400" b="1" dirty="0">
                <a:solidFill>
                  <a:schemeClr val="tx1"/>
                </a:solidFill>
              </a:rPr>
              <a:t>”</a:t>
            </a:r>
            <a:r>
              <a:rPr lang="ko-KR" altLang="en-US" sz="4400" b="1" dirty="0">
                <a:solidFill>
                  <a:schemeClr val="tx1"/>
                </a:solidFill>
              </a:rPr>
              <a:t>가 아닌 </a:t>
            </a:r>
            <a:r>
              <a:rPr lang="en-US" altLang="ko-KR" sz="4400" b="1" dirty="0">
                <a:solidFill>
                  <a:schemeClr val="tx1"/>
                </a:solidFill>
              </a:rPr>
              <a:t>“</a:t>
            </a:r>
            <a:r>
              <a:rPr lang="ko-KR" altLang="en-US" sz="4400" b="1" dirty="0">
                <a:solidFill>
                  <a:schemeClr val="tx2">
                    <a:lumMod val="50000"/>
                  </a:schemeClr>
                </a:solidFill>
              </a:rPr>
              <a:t>전력당 성능</a:t>
            </a:r>
            <a:r>
              <a:rPr lang="en-US" altLang="ko-KR" sz="4400" b="1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en-US" altLang="ko-KR" sz="4400" b="1" dirty="0" err="1">
                <a:solidFill>
                  <a:schemeClr val="tx2">
                    <a:lumMod val="50000"/>
                  </a:schemeClr>
                </a:solidFill>
              </a:rPr>
              <a:t>mAP</a:t>
            </a:r>
            <a:r>
              <a:rPr lang="en-US" altLang="ko-KR" sz="4400" b="1" dirty="0">
                <a:solidFill>
                  <a:schemeClr val="tx2">
                    <a:lumMod val="50000"/>
                  </a:schemeClr>
                </a:solidFill>
              </a:rPr>
              <a:t>/Watt)</a:t>
            </a:r>
            <a:r>
              <a:rPr lang="en-US" altLang="ko-KR" sz="4400" b="1" dirty="0">
                <a:solidFill>
                  <a:schemeClr val="tx1"/>
                </a:solidFill>
              </a:rPr>
              <a:t>”</a:t>
            </a:r>
            <a:r>
              <a:rPr lang="ko-KR" altLang="en-US" sz="4400" b="1" dirty="0">
                <a:solidFill>
                  <a:schemeClr val="tx1"/>
                </a:solidFill>
              </a:rPr>
              <a:t>을 극대화 하는 방향의 연구 필요</a:t>
            </a:r>
            <a:endParaRPr lang="en-US" altLang="ko-KR" sz="4400" b="1" dirty="0">
              <a:solidFill>
                <a:schemeClr val="tx1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9F8663D-29A1-A738-4499-E6E81A1AC3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060068"/>
              </p:ext>
            </p:extLst>
          </p:nvPr>
        </p:nvGraphicFramePr>
        <p:xfrm>
          <a:off x="17064385" y="19586476"/>
          <a:ext cx="14331328" cy="5439029"/>
        </p:xfrm>
        <a:graphic>
          <a:graphicData uri="http://schemas.openxmlformats.org/drawingml/2006/table">
            <a:tbl>
              <a:tblPr/>
              <a:tblGrid>
                <a:gridCol w="3242844">
                  <a:extLst>
                    <a:ext uri="{9D8B030D-6E8A-4147-A177-3AD203B41FA5}">
                      <a16:colId xmlns:a16="http://schemas.microsoft.com/office/drawing/2014/main" val="2155843875"/>
                    </a:ext>
                  </a:extLst>
                </a:gridCol>
                <a:gridCol w="1724696">
                  <a:extLst>
                    <a:ext uri="{9D8B030D-6E8A-4147-A177-3AD203B41FA5}">
                      <a16:colId xmlns:a16="http://schemas.microsoft.com/office/drawing/2014/main" val="396844104"/>
                    </a:ext>
                  </a:extLst>
                </a:gridCol>
                <a:gridCol w="1332719">
                  <a:extLst>
                    <a:ext uri="{9D8B030D-6E8A-4147-A177-3AD203B41FA5}">
                      <a16:colId xmlns:a16="http://schemas.microsoft.com/office/drawing/2014/main" val="1298793663"/>
                    </a:ext>
                  </a:extLst>
                </a:gridCol>
                <a:gridCol w="1803091">
                  <a:extLst>
                    <a:ext uri="{9D8B030D-6E8A-4147-A177-3AD203B41FA5}">
                      <a16:colId xmlns:a16="http://schemas.microsoft.com/office/drawing/2014/main" val="592244772"/>
                    </a:ext>
                  </a:extLst>
                </a:gridCol>
                <a:gridCol w="1724696">
                  <a:extLst>
                    <a:ext uri="{9D8B030D-6E8A-4147-A177-3AD203B41FA5}">
                      <a16:colId xmlns:a16="http://schemas.microsoft.com/office/drawing/2014/main" val="34465105"/>
                    </a:ext>
                  </a:extLst>
                </a:gridCol>
                <a:gridCol w="2508648">
                  <a:extLst>
                    <a:ext uri="{9D8B030D-6E8A-4147-A177-3AD203B41FA5}">
                      <a16:colId xmlns:a16="http://schemas.microsoft.com/office/drawing/2014/main" val="2098007295"/>
                    </a:ext>
                  </a:extLst>
                </a:gridCol>
                <a:gridCol w="1994634">
                  <a:extLst>
                    <a:ext uri="{9D8B030D-6E8A-4147-A177-3AD203B41FA5}">
                      <a16:colId xmlns:a16="http://schemas.microsoft.com/office/drawing/2014/main" val="1207003663"/>
                    </a:ext>
                  </a:extLst>
                </a:gridCol>
              </a:tblGrid>
              <a:tr h="1720469">
                <a:tc>
                  <a:txBody>
                    <a:bodyPr/>
                    <a:lstStyle/>
                    <a:p>
                      <a:r>
                        <a:rPr lang="en-US" sz="4400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Size</a:t>
                      </a:r>
                      <a:br>
                        <a:rPr lang="en-US" sz="4400" dirty="0"/>
                      </a:br>
                      <a:r>
                        <a:rPr lang="en-US" sz="4400" dirty="0"/>
                        <a:t>(MB)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FPS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mAP</a:t>
                      </a:r>
                      <a:endParaRPr lang="en-US" sz="4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Watt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dirty="0" err="1"/>
                        <a:t>mAP</a:t>
                      </a:r>
                      <a:r>
                        <a:rPr lang="en-US" sz="4400" dirty="0"/>
                        <a:t>/W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4400" dirty="0"/>
                        <a:t>J/inf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038251"/>
                  </a:ext>
                </a:extLst>
              </a:tr>
              <a:tr h="715594">
                <a:tc>
                  <a:txBody>
                    <a:bodyPr/>
                    <a:lstStyle/>
                    <a:p>
                      <a:r>
                        <a:rPr lang="ko-KR" altLang="en-US" sz="4400" dirty="0"/>
                        <a:t>원본 </a:t>
                      </a:r>
                      <a:r>
                        <a:rPr lang="en-US" altLang="ko-KR" sz="4400" dirty="0"/>
                        <a:t>YOLO</a:t>
                      </a:r>
                      <a:endParaRPr lang="en-US" sz="4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28.0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.80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18.0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.044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0.818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045663"/>
                  </a:ext>
                </a:extLst>
              </a:tr>
              <a:tr h="715594">
                <a:tc>
                  <a:txBody>
                    <a:bodyPr/>
                    <a:lstStyle/>
                    <a:p>
                      <a:r>
                        <a:rPr lang="en-US" sz="4400" dirty="0"/>
                        <a:t>Pruned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15.0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.77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15.0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.051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0.455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8947128"/>
                  </a:ext>
                </a:extLst>
              </a:tr>
              <a:tr h="715594">
                <a:tc>
                  <a:txBody>
                    <a:bodyPr/>
                    <a:lstStyle/>
                    <a:p>
                      <a:r>
                        <a:rPr lang="en-US" sz="4400" dirty="0"/>
                        <a:t>Quantized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10.5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38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.76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14.0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.054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0.368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920753"/>
                  </a:ext>
                </a:extLst>
              </a:tr>
              <a:tr h="715594">
                <a:tc>
                  <a:txBody>
                    <a:bodyPr/>
                    <a:lstStyle/>
                    <a:p>
                      <a:r>
                        <a:rPr lang="en-US" sz="4400" dirty="0"/>
                        <a:t>Pruned+</a:t>
                      </a:r>
                      <a:br>
                        <a:rPr lang="en-US" sz="4400" dirty="0"/>
                      </a:br>
                      <a:r>
                        <a:rPr lang="en-US" sz="4400" dirty="0" err="1"/>
                        <a:t>Qauntized</a:t>
                      </a:r>
                      <a:endParaRPr lang="en-US" sz="4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8.2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0.75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12.5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0.06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4400" dirty="0"/>
                        <a:t>0.305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073470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1BD0620C-3B27-6EB5-9779-F78F2631C17F}"/>
              </a:ext>
            </a:extLst>
          </p:cNvPr>
          <p:cNvSpPr/>
          <p:nvPr/>
        </p:nvSpPr>
        <p:spPr>
          <a:xfrm>
            <a:off x="16989455" y="27219324"/>
            <a:ext cx="14259319" cy="3450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rgbClr val="0070C0"/>
                </a:solidFill>
              </a:rPr>
              <a:t>                * </a:t>
            </a:r>
            <a:r>
              <a:rPr lang="en-US" altLang="ko-KR" sz="2000" dirty="0" err="1">
                <a:solidFill>
                  <a:srgbClr val="0070C0"/>
                </a:solidFill>
              </a:rPr>
              <a:t>mAP</a:t>
            </a:r>
            <a:r>
              <a:rPr lang="en-US" altLang="ko-KR" sz="2000" dirty="0">
                <a:solidFill>
                  <a:srgbClr val="0070C0"/>
                </a:solidFill>
              </a:rPr>
              <a:t>/W = </a:t>
            </a:r>
            <a:r>
              <a:rPr lang="en-US" altLang="ko-KR" sz="2000" dirty="0" err="1">
                <a:solidFill>
                  <a:srgbClr val="0070C0"/>
                </a:solidFill>
              </a:rPr>
              <a:t>mAP</a:t>
            </a:r>
            <a:r>
              <a:rPr lang="en-US" altLang="ko-KR" sz="2000" dirty="0">
                <a:solidFill>
                  <a:srgbClr val="0070C0"/>
                </a:solidFill>
              </a:rPr>
              <a:t> / </a:t>
            </a:r>
            <a:r>
              <a:rPr lang="en-US" altLang="ko-KR" sz="2000" dirty="0" err="1">
                <a:solidFill>
                  <a:srgbClr val="0070C0"/>
                </a:solidFill>
              </a:rPr>
              <a:t>P_avg</a:t>
            </a:r>
            <a:r>
              <a:rPr lang="en-US" altLang="ko-KR" sz="2000" dirty="0">
                <a:solidFill>
                  <a:srgbClr val="0070C0"/>
                </a:solidFill>
              </a:rPr>
              <a:t>, Energy per inference (J/inf) </a:t>
            </a:r>
            <a:r>
              <a:rPr lang="ko-KR" altLang="en-US" sz="2000" dirty="0">
                <a:solidFill>
                  <a:srgbClr val="0070C0"/>
                </a:solidFill>
              </a:rPr>
              <a:t>≒ </a:t>
            </a:r>
            <a:r>
              <a:rPr lang="en-US" altLang="ko-KR" sz="2000" dirty="0" err="1">
                <a:solidFill>
                  <a:srgbClr val="0070C0"/>
                </a:solidFill>
              </a:rPr>
              <a:t>P_avg</a:t>
            </a:r>
            <a:r>
              <a:rPr lang="en-US" altLang="ko-KR" sz="2000" dirty="0">
                <a:solidFill>
                  <a:srgbClr val="0070C0"/>
                </a:solidFill>
              </a:rPr>
              <a:t> / FPS, Throughput / W (FPS/W) = FPS / </a:t>
            </a:r>
            <a:r>
              <a:rPr lang="en-US" altLang="ko-KR" sz="2000" dirty="0" err="1">
                <a:solidFill>
                  <a:srgbClr val="0070C0"/>
                </a:solidFill>
              </a:rPr>
              <a:t>P_avg</a:t>
            </a:r>
            <a:endParaRPr lang="en-US" altLang="ko-KR" sz="4400" dirty="0">
              <a:solidFill>
                <a:schemeClr val="tx1"/>
              </a:solidFill>
            </a:endParaRPr>
          </a:p>
          <a:p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모델 크기 </a:t>
            </a:r>
            <a:r>
              <a:rPr lang="en-US" altLang="ko-KR" sz="4400" dirty="0">
                <a:solidFill>
                  <a:schemeClr val="tx1"/>
                </a:solidFill>
              </a:rPr>
              <a:t>: </a:t>
            </a:r>
            <a:r>
              <a:rPr lang="ko-KR" altLang="en-US" sz="4400" dirty="0">
                <a:solidFill>
                  <a:schemeClr val="tx1"/>
                </a:solidFill>
              </a:rPr>
              <a:t>약 </a:t>
            </a:r>
            <a:r>
              <a:rPr lang="en-US" altLang="ko-KR" sz="4400" dirty="0">
                <a:solidFill>
                  <a:schemeClr val="tx1"/>
                </a:solidFill>
              </a:rPr>
              <a:t>63% </a:t>
            </a:r>
            <a:r>
              <a:rPr lang="ko-KR" altLang="en-US" sz="4400" dirty="0">
                <a:solidFill>
                  <a:schemeClr val="tx1"/>
                </a:solidFill>
              </a:rPr>
              <a:t>감소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추론 속도</a:t>
            </a:r>
            <a:r>
              <a:rPr lang="en-US" altLang="ko-KR" sz="4400" dirty="0">
                <a:solidFill>
                  <a:schemeClr val="tx1"/>
                </a:solidFill>
              </a:rPr>
              <a:t>(FPS) : 1.9x </a:t>
            </a:r>
            <a:r>
              <a:rPr lang="ko-KR" altLang="en-US" sz="4400" dirty="0">
                <a:solidFill>
                  <a:schemeClr val="tx1"/>
                </a:solidFill>
              </a:rPr>
              <a:t>향상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전력 소비 </a:t>
            </a:r>
            <a:r>
              <a:rPr lang="en-US" altLang="ko-KR" sz="4400" dirty="0">
                <a:solidFill>
                  <a:schemeClr val="tx1"/>
                </a:solidFill>
              </a:rPr>
              <a:t>: </a:t>
            </a:r>
            <a:r>
              <a:rPr lang="ko-KR" altLang="en-US" sz="4400" dirty="0">
                <a:solidFill>
                  <a:schemeClr val="tx1"/>
                </a:solidFill>
              </a:rPr>
              <a:t>평균 </a:t>
            </a:r>
            <a:r>
              <a:rPr lang="en-US" altLang="ko-KR" sz="4400" dirty="0">
                <a:solidFill>
                  <a:schemeClr val="tx1"/>
                </a:solidFill>
              </a:rPr>
              <a:t>18-25% </a:t>
            </a:r>
            <a:r>
              <a:rPr lang="ko-KR" altLang="en-US" sz="4400" dirty="0">
                <a:solidFill>
                  <a:schemeClr val="tx1"/>
                </a:solidFill>
              </a:rPr>
              <a:t>절감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전력 효율</a:t>
            </a:r>
            <a:r>
              <a:rPr lang="en-US" altLang="ko-KR" sz="4400" dirty="0">
                <a:solidFill>
                  <a:schemeClr val="tx1"/>
                </a:solidFill>
              </a:rPr>
              <a:t>(</a:t>
            </a:r>
            <a:r>
              <a:rPr lang="en-US" altLang="ko-KR" sz="4400" dirty="0" err="1">
                <a:solidFill>
                  <a:schemeClr val="tx1"/>
                </a:solidFill>
              </a:rPr>
              <a:t>mAP</a:t>
            </a:r>
            <a:r>
              <a:rPr lang="en-US" altLang="ko-KR" sz="4400" dirty="0">
                <a:solidFill>
                  <a:schemeClr val="tx1"/>
                </a:solidFill>
              </a:rPr>
              <a:t>/W) : </a:t>
            </a:r>
            <a:r>
              <a:rPr lang="ko-KR" altLang="en-US" sz="4400" dirty="0">
                <a:solidFill>
                  <a:schemeClr val="tx1"/>
                </a:solidFill>
              </a:rPr>
              <a:t>약 </a:t>
            </a:r>
            <a:r>
              <a:rPr lang="en-US" altLang="ko-KR" sz="4400" dirty="0">
                <a:solidFill>
                  <a:schemeClr val="tx1"/>
                </a:solidFill>
              </a:rPr>
              <a:t>55% </a:t>
            </a:r>
            <a:r>
              <a:rPr lang="ko-KR" altLang="en-US" sz="4400" dirty="0">
                <a:solidFill>
                  <a:schemeClr val="tx1"/>
                </a:solidFill>
              </a:rPr>
              <a:t>개선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에너지 </a:t>
            </a:r>
            <a:r>
              <a:rPr lang="en-US" altLang="ko-KR" sz="4400" dirty="0">
                <a:solidFill>
                  <a:schemeClr val="tx1"/>
                </a:solidFill>
              </a:rPr>
              <a:t>/ </a:t>
            </a:r>
            <a:r>
              <a:rPr lang="ko-KR" altLang="en-US" sz="4400" dirty="0">
                <a:solidFill>
                  <a:schemeClr val="tx1"/>
                </a:solidFill>
              </a:rPr>
              <a:t>프레임 </a:t>
            </a:r>
            <a:r>
              <a:rPr lang="en-US" altLang="ko-KR" sz="4400" dirty="0">
                <a:solidFill>
                  <a:schemeClr val="tx1"/>
                </a:solidFill>
              </a:rPr>
              <a:t>(J/inf) : 40~50% </a:t>
            </a:r>
            <a:r>
              <a:rPr lang="ko-KR" altLang="en-US" sz="4400" dirty="0">
                <a:solidFill>
                  <a:schemeClr val="tx1"/>
                </a:solidFill>
              </a:rPr>
              <a:t>감소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지연시간</a:t>
            </a:r>
            <a:r>
              <a:rPr lang="en-US" altLang="ko-KR" sz="4400" dirty="0">
                <a:solidFill>
                  <a:schemeClr val="tx1"/>
                </a:solidFill>
              </a:rPr>
              <a:t> (Latency) :  P50, P95</a:t>
            </a:r>
            <a:r>
              <a:rPr lang="ko-KR" altLang="en-US" sz="4400" dirty="0">
                <a:solidFill>
                  <a:schemeClr val="tx1"/>
                </a:solidFill>
              </a:rPr>
              <a:t> ↓ </a:t>
            </a:r>
            <a:r>
              <a:rPr lang="en-US" altLang="ko-KR" sz="4400" dirty="0">
                <a:solidFill>
                  <a:schemeClr val="tx1"/>
                </a:solidFill>
              </a:rPr>
              <a:t>&gt;</a:t>
            </a:r>
            <a:r>
              <a:rPr lang="ko-KR" altLang="en-US" sz="4400" dirty="0">
                <a:solidFill>
                  <a:schemeClr val="tx1"/>
                </a:solidFill>
              </a:rPr>
              <a:t>실시간 안전성 개선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ko-KR" altLang="en-US" sz="4400" dirty="0" err="1">
                <a:solidFill>
                  <a:schemeClr val="tx1"/>
                </a:solidFill>
              </a:rPr>
              <a:t>스로틀링</a:t>
            </a:r>
            <a:r>
              <a:rPr lang="ko-KR" altLang="en-US" sz="4400" dirty="0">
                <a:solidFill>
                  <a:schemeClr val="tx1"/>
                </a:solidFill>
              </a:rPr>
              <a:t> </a:t>
            </a:r>
            <a:r>
              <a:rPr lang="en-US" altLang="ko-KR" sz="4400" dirty="0">
                <a:solidFill>
                  <a:schemeClr val="tx1"/>
                </a:solidFill>
              </a:rPr>
              <a:t>: </a:t>
            </a:r>
            <a:r>
              <a:rPr lang="ko-KR" altLang="en-US" sz="4400" dirty="0">
                <a:solidFill>
                  <a:schemeClr val="tx1"/>
                </a:solidFill>
              </a:rPr>
              <a:t>장시간 구동 시  </a:t>
            </a:r>
            <a:r>
              <a:rPr lang="ko-KR" altLang="en-US" sz="4400" dirty="0" err="1">
                <a:solidFill>
                  <a:schemeClr val="tx1"/>
                </a:solidFill>
              </a:rPr>
              <a:t>스로틀링</a:t>
            </a:r>
            <a:r>
              <a:rPr lang="ko-KR" altLang="en-US" sz="4400" dirty="0">
                <a:solidFill>
                  <a:schemeClr val="tx1"/>
                </a:solidFill>
              </a:rPr>
              <a:t> 지연 및 빈도 감소</a:t>
            </a:r>
            <a:endParaRPr lang="en-US" altLang="ko-KR" sz="4400" dirty="0">
              <a:solidFill>
                <a:schemeClr val="tx1"/>
              </a:solidFill>
            </a:endParaRPr>
          </a:p>
          <a:p>
            <a:endParaRPr lang="en-US" altLang="ko-KR" sz="4400" dirty="0">
              <a:solidFill>
                <a:schemeClr val="tx1"/>
              </a:solidFill>
            </a:endParaRPr>
          </a:p>
          <a:p>
            <a:endParaRPr lang="en-US" altLang="ko-KR" sz="4400" dirty="0">
              <a:solidFill>
                <a:schemeClr val="tx1"/>
              </a:solidFill>
            </a:endParaRPr>
          </a:p>
          <a:p>
            <a:endParaRPr lang="en-US" altLang="ko-KR" sz="44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D0536C6-746F-A7C5-21E6-54525E67FFBD}"/>
              </a:ext>
            </a:extLst>
          </p:cNvPr>
          <p:cNvSpPr/>
          <p:nvPr/>
        </p:nvSpPr>
        <p:spPr>
          <a:xfrm>
            <a:off x="17064386" y="36010300"/>
            <a:ext cx="14259319" cy="3450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dirty="0">
                <a:solidFill>
                  <a:schemeClr val="tx1"/>
                </a:solidFill>
              </a:rPr>
              <a:t>▶ 전력 효율 개선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YOLO </a:t>
            </a:r>
            <a:r>
              <a:rPr lang="ko-KR" altLang="en-US" sz="3200" dirty="0">
                <a:solidFill>
                  <a:schemeClr val="tx1"/>
                </a:solidFill>
              </a:rPr>
              <a:t>경량화 모델은 임베디드 환경에서 </a:t>
            </a:r>
            <a:r>
              <a:rPr lang="en-US" altLang="ko-KR" sz="3200" dirty="0" err="1">
                <a:solidFill>
                  <a:schemeClr val="tx1"/>
                </a:solidFill>
              </a:rPr>
              <a:t>mAP</a:t>
            </a:r>
            <a:r>
              <a:rPr lang="en-US" altLang="ko-KR" sz="3200" dirty="0">
                <a:solidFill>
                  <a:schemeClr val="tx1"/>
                </a:solidFill>
              </a:rPr>
              <a:t>/Watt </a:t>
            </a:r>
            <a:r>
              <a:rPr lang="ko-KR" altLang="en-US" sz="3200" dirty="0">
                <a:solidFill>
                  <a:schemeClr val="tx1"/>
                </a:solidFill>
              </a:rPr>
              <a:t>약 </a:t>
            </a:r>
            <a:r>
              <a:rPr lang="en-US" altLang="ko-KR" sz="3200" dirty="0">
                <a:solidFill>
                  <a:schemeClr val="tx1"/>
                </a:solidFill>
              </a:rPr>
              <a:t>55% </a:t>
            </a:r>
            <a:r>
              <a:rPr lang="ko-KR" altLang="en-US" sz="3200" dirty="0">
                <a:solidFill>
                  <a:schemeClr val="tx1"/>
                </a:solidFill>
              </a:rPr>
              <a:t>향상</a:t>
            </a:r>
            <a:endParaRPr lang="en-US" altLang="ko-KR" sz="32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</a:t>
            </a:r>
            <a:r>
              <a:rPr lang="ko-KR" altLang="en-US" sz="3200" dirty="0">
                <a:solidFill>
                  <a:schemeClr val="tx1"/>
                </a:solidFill>
              </a:rPr>
              <a:t>모델 크기 </a:t>
            </a:r>
            <a:r>
              <a:rPr lang="en-US" altLang="ko-KR" sz="3200" dirty="0">
                <a:solidFill>
                  <a:schemeClr val="tx1"/>
                </a:solidFill>
              </a:rPr>
              <a:t>63% </a:t>
            </a:r>
            <a:r>
              <a:rPr lang="ko-KR" altLang="en-US" sz="3200" dirty="0">
                <a:solidFill>
                  <a:schemeClr val="tx1"/>
                </a:solidFill>
              </a:rPr>
              <a:t>감소</a:t>
            </a:r>
            <a:r>
              <a:rPr lang="en-US" altLang="ko-KR" sz="3200" dirty="0">
                <a:solidFill>
                  <a:schemeClr val="tx1"/>
                </a:solidFill>
              </a:rPr>
              <a:t>, FPS 1.9× </a:t>
            </a:r>
            <a:r>
              <a:rPr lang="ko-KR" altLang="en-US" sz="3200" dirty="0">
                <a:solidFill>
                  <a:schemeClr val="tx1"/>
                </a:solidFill>
              </a:rPr>
              <a:t>향상</a:t>
            </a:r>
            <a:r>
              <a:rPr lang="en-US" altLang="ko-KR" sz="3200" dirty="0">
                <a:solidFill>
                  <a:schemeClr val="tx1"/>
                </a:solidFill>
              </a:rPr>
              <a:t>, </a:t>
            </a:r>
            <a:r>
              <a:rPr lang="ko-KR" altLang="en-US" sz="3200" dirty="0">
                <a:solidFill>
                  <a:schemeClr val="tx1"/>
                </a:solidFill>
              </a:rPr>
              <a:t>전력 소비 </a:t>
            </a:r>
            <a:r>
              <a:rPr lang="en-US" altLang="ko-KR" sz="3200" dirty="0">
                <a:solidFill>
                  <a:schemeClr val="tx1"/>
                </a:solidFill>
              </a:rPr>
              <a:t>18~25% </a:t>
            </a:r>
            <a:r>
              <a:rPr lang="ko-KR" altLang="en-US" sz="3200" dirty="0">
                <a:solidFill>
                  <a:schemeClr val="tx1"/>
                </a:solidFill>
              </a:rPr>
              <a:t>절감실시간</a:t>
            </a:r>
            <a:endParaRPr lang="en-US" altLang="ko-KR" sz="32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▶ 안정성 </a:t>
            </a:r>
            <a:r>
              <a:rPr lang="en-US" altLang="ko-KR" sz="4400" dirty="0">
                <a:solidFill>
                  <a:schemeClr val="tx1"/>
                </a:solidFill>
              </a:rPr>
              <a:t>&amp; </a:t>
            </a:r>
            <a:r>
              <a:rPr lang="ko-KR" altLang="en-US" sz="4400" dirty="0">
                <a:solidFill>
                  <a:schemeClr val="tx1"/>
                </a:solidFill>
              </a:rPr>
              <a:t>변동성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P50·P95 Latency ↓, </a:t>
            </a:r>
            <a:r>
              <a:rPr lang="ko-KR" altLang="en-US" sz="3200" dirty="0">
                <a:solidFill>
                  <a:schemeClr val="tx1"/>
                </a:solidFill>
              </a:rPr>
              <a:t>프레임 드롭 감소</a:t>
            </a:r>
            <a:endParaRPr lang="en-US" altLang="ko-KR" sz="32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</a:t>
            </a:r>
            <a:r>
              <a:rPr lang="ko-KR" altLang="en-US" sz="3200" dirty="0">
                <a:solidFill>
                  <a:schemeClr val="tx1"/>
                </a:solidFill>
              </a:rPr>
              <a:t>전력 변동성 완화 → 시스템 안정성 향상</a:t>
            </a:r>
            <a:endParaRPr lang="en-US" altLang="ko-KR" sz="32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▶ 운영 관점의 이득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</a:t>
            </a:r>
            <a:r>
              <a:rPr lang="ko-KR" altLang="en-US" sz="3200" dirty="0">
                <a:solidFill>
                  <a:schemeClr val="tx1"/>
                </a:solidFill>
              </a:rPr>
              <a:t>배터리 운행 시간 연장 </a:t>
            </a:r>
            <a:r>
              <a:rPr lang="en-US" altLang="ko-KR" sz="3200" dirty="0">
                <a:solidFill>
                  <a:schemeClr val="tx1"/>
                </a:solidFill>
              </a:rPr>
              <a:t>(</a:t>
            </a:r>
            <a:r>
              <a:rPr lang="ko-KR" altLang="en-US" sz="3200" dirty="0">
                <a:solidFill>
                  <a:schemeClr val="tx1"/>
                </a:solidFill>
              </a:rPr>
              <a:t>에너지</a:t>
            </a:r>
            <a:r>
              <a:rPr lang="en-US" altLang="ko-KR" sz="3200" dirty="0">
                <a:solidFill>
                  <a:schemeClr val="tx1"/>
                </a:solidFill>
              </a:rPr>
              <a:t>/</a:t>
            </a:r>
            <a:r>
              <a:rPr lang="ko-KR" altLang="en-US" sz="3200" dirty="0">
                <a:solidFill>
                  <a:schemeClr val="tx1"/>
                </a:solidFill>
              </a:rPr>
              <a:t>프레임 감소</a:t>
            </a:r>
            <a:r>
              <a:rPr lang="en-US" altLang="ko-KR" sz="32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3200" dirty="0">
                <a:solidFill>
                  <a:schemeClr val="tx1"/>
                </a:solidFill>
              </a:rPr>
              <a:t>  - </a:t>
            </a:r>
            <a:r>
              <a:rPr lang="ko-KR" altLang="en-US" sz="3200" dirty="0">
                <a:solidFill>
                  <a:schemeClr val="tx1"/>
                </a:solidFill>
              </a:rPr>
              <a:t>열 </a:t>
            </a:r>
            <a:r>
              <a:rPr lang="ko-KR" altLang="en-US" sz="3200" dirty="0" err="1">
                <a:solidFill>
                  <a:schemeClr val="tx1"/>
                </a:solidFill>
              </a:rPr>
              <a:t>스로틀링</a:t>
            </a:r>
            <a:r>
              <a:rPr lang="ko-KR" altLang="en-US" sz="3200" dirty="0">
                <a:solidFill>
                  <a:schemeClr val="tx1"/>
                </a:solidFill>
              </a:rPr>
              <a:t> 지연 및 빈도 감소</a:t>
            </a:r>
            <a:endParaRPr lang="en-US" altLang="ko-KR" sz="32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FPS/W </a:t>
            </a:r>
            <a:r>
              <a:rPr lang="ko-KR" altLang="en-US" sz="3200" dirty="0">
                <a:solidFill>
                  <a:schemeClr val="tx1"/>
                </a:solidFill>
              </a:rPr>
              <a:t>증가 → 실제 자율주행</a:t>
            </a:r>
            <a:r>
              <a:rPr lang="en-US" altLang="ko-KR" sz="3200" dirty="0">
                <a:solidFill>
                  <a:schemeClr val="tx1"/>
                </a:solidFill>
              </a:rPr>
              <a:t>·</a:t>
            </a:r>
            <a:r>
              <a:rPr lang="ko-KR" altLang="en-US" sz="3200" dirty="0" err="1">
                <a:solidFill>
                  <a:schemeClr val="tx1"/>
                </a:solidFill>
              </a:rPr>
              <a:t>드론</a:t>
            </a:r>
            <a:r>
              <a:rPr lang="ko-KR" altLang="en-US" sz="3200" dirty="0">
                <a:solidFill>
                  <a:schemeClr val="tx1"/>
                </a:solidFill>
              </a:rPr>
              <a:t> 환경에서 유효</a:t>
            </a:r>
            <a:endParaRPr lang="en-US" altLang="ko-KR" sz="32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▶ 한계와 보완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</a:t>
            </a:r>
            <a:r>
              <a:rPr lang="ko-KR" altLang="en-US" sz="3200" dirty="0">
                <a:solidFill>
                  <a:schemeClr val="tx1"/>
                </a:solidFill>
              </a:rPr>
              <a:t>소형 객체 성능 일부 약화</a:t>
            </a:r>
            <a:r>
              <a:rPr lang="en-US" altLang="ko-KR" sz="3200" dirty="0">
                <a:solidFill>
                  <a:schemeClr val="tx1"/>
                </a:solidFill>
              </a:rPr>
              <a:t>Quantization → Calibration </a:t>
            </a:r>
            <a:r>
              <a:rPr lang="ko-KR" altLang="en-US" sz="3200" dirty="0">
                <a:solidFill>
                  <a:schemeClr val="tx1"/>
                </a:solidFill>
              </a:rPr>
              <a:t>데이터 분포에 민감</a:t>
            </a:r>
            <a:endParaRPr lang="en-US" altLang="ko-KR" sz="32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QAT·</a:t>
            </a:r>
            <a:r>
              <a:rPr lang="ko-KR" altLang="en-US" sz="3200" dirty="0">
                <a:solidFill>
                  <a:schemeClr val="tx1"/>
                </a:solidFill>
              </a:rPr>
              <a:t>하드웨어별 최적화 필요</a:t>
            </a:r>
            <a:endParaRPr lang="en-US" altLang="ko-KR" sz="32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▶ 향후 연구 방향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</a:t>
            </a:r>
            <a:r>
              <a:rPr lang="ko-KR" altLang="en-US" sz="3200" dirty="0">
                <a:solidFill>
                  <a:schemeClr val="tx1"/>
                </a:solidFill>
              </a:rPr>
              <a:t>다양한 모델 및 보드에서 전력 효율 최적화 전략 검증</a:t>
            </a:r>
            <a:endParaRPr lang="en-US" altLang="ko-KR" sz="32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</a:t>
            </a:r>
            <a:r>
              <a:rPr lang="ko-KR" altLang="en-US" sz="3200" dirty="0">
                <a:solidFill>
                  <a:schemeClr val="tx1"/>
                </a:solidFill>
              </a:rPr>
              <a:t>실제 서비스 환경에서의 장기 운용 실험 필요</a:t>
            </a:r>
            <a:endParaRPr lang="en-US" altLang="ko-KR" sz="3200" dirty="0">
              <a:solidFill>
                <a:schemeClr val="tx1"/>
              </a:solidFill>
            </a:endParaRPr>
          </a:p>
        </p:txBody>
      </p:sp>
      <p:sp>
        <p:nvSpPr>
          <p:cNvPr id="24" name="AutoShape 14" descr="출력 이미지">
            <a:extLst>
              <a:ext uri="{FF2B5EF4-FFF2-40B4-BE49-F238E27FC236}">
                <a16:creationId xmlns:a16="http://schemas.microsoft.com/office/drawing/2014/main" id="{75EC2A30-0961-BA61-45AF-7DAFC623D06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49625" y="214503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31467D97-BF9D-7E61-D25D-A85A589693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930" y="26283220"/>
            <a:ext cx="5610225" cy="3714750"/>
          </a:xfrm>
          <a:prstGeom prst="rect">
            <a:avLst/>
          </a:prstGeom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35F8C402-C2D8-D563-1E8B-7C5D4A3147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8775" y="10837769"/>
            <a:ext cx="657225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8E29E27C-03F0-6AA3-2A43-E3C0A39DA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86790" y="10837769"/>
            <a:ext cx="6562725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>
            <a:extLst>
              <a:ext uri="{FF2B5EF4-FFF2-40B4-BE49-F238E27FC236}">
                <a16:creationId xmlns:a16="http://schemas.microsoft.com/office/drawing/2014/main" id="{8160D2E8-6167-95D8-135D-F860FD489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8775" y="14867996"/>
            <a:ext cx="6572250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8D66348B-4992-04FD-A666-7F75BD685C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4475" y="31683820"/>
            <a:ext cx="12467184" cy="32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D73D1461-E72D-2507-C81C-68EE4D5DC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4271" y="14862688"/>
            <a:ext cx="6086475" cy="419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3FDDCC10-4744-B3D8-A312-36BC1FABF850}"/>
              </a:ext>
            </a:extLst>
          </p:cNvPr>
          <p:cNvSpPr/>
          <p:nvPr/>
        </p:nvSpPr>
        <p:spPr>
          <a:xfrm>
            <a:off x="865415" y="30387676"/>
            <a:ext cx="14839042" cy="1405071"/>
          </a:xfrm>
          <a:prstGeom prst="round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600" b="1" dirty="0"/>
              <a:t>연구방법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CF7DEC-F2EC-B9BE-E103-8AA464204113}"/>
              </a:ext>
            </a:extLst>
          </p:cNvPr>
          <p:cNvSpPr/>
          <p:nvPr/>
        </p:nvSpPr>
        <p:spPr>
          <a:xfrm>
            <a:off x="1207048" y="36652372"/>
            <a:ext cx="14259319" cy="3450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4400" dirty="0">
                <a:solidFill>
                  <a:schemeClr val="tx1"/>
                </a:solidFill>
              </a:rPr>
              <a:t>▶ 모델 경량화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Pruning (20~40%) → </a:t>
            </a:r>
            <a:r>
              <a:rPr lang="ko-KR" altLang="en-US" sz="3200" dirty="0">
                <a:solidFill>
                  <a:schemeClr val="tx1"/>
                </a:solidFill>
              </a:rPr>
              <a:t>채널 제거로 </a:t>
            </a:r>
            <a:r>
              <a:rPr lang="ko-KR" altLang="en-US" sz="3200" dirty="0" err="1">
                <a:solidFill>
                  <a:schemeClr val="tx1"/>
                </a:solidFill>
              </a:rPr>
              <a:t>연산량</a:t>
            </a:r>
            <a:r>
              <a:rPr lang="ko-KR" altLang="en-US" sz="3200" dirty="0">
                <a:solidFill>
                  <a:schemeClr val="tx1"/>
                </a:solidFill>
              </a:rPr>
              <a:t> 감소</a:t>
            </a:r>
            <a:endParaRPr lang="en-US" altLang="ko-KR" sz="32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Quantization (FP32→INT8, PTQ, Calibration 5k images) → </a:t>
            </a:r>
            <a:r>
              <a:rPr lang="ko-KR" altLang="en-US" sz="3200" dirty="0">
                <a:solidFill>
                  <a:schemeClr val="tx1"/>
                </a:solidFill>
              </a:rPr>
              <a:t>전력 절감</a:t>
            </a:r>
            <a:endParaRPr lang="en-US" altLang="ko-KR" sz="32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▶ 실험 환경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Jetson AGX Orin</a:t>
            </a:r>
          </a:p>
          <a:p>
            <a:r>
              <a:rPr lang="en-US" altLang="ko-KR" sz="3200" dirty="0">
                <a:solidFill>
                  <a:schemeClr val="tx1"/>
                </a:solidFill>
              </a:rPr>
              <a:t>  - </a:t>
            </a:r>
            <a:r>
              <a:rPr lang="ko-KR" altLang="en-US" sz="3200" dirty="0">
                <a:solidFill>
                  <a:schemeClr val="tx1"/>
                </a:solidFill>
              </a:rPr>
              <a:t>데이터셋</a:t>
            </a:r>
            <a:r>
              <a:rPr lang="en-US" altLang="ko-KR" sz="3200" dirty="0">
                <a:solidFill>
                  <a:schemeClr val="tx1"/>
                </a:solidFill>
              </a:rPr>
              <a:t>: COCO-mini Subset (</a:t>
            </a:r>
            <a:r>
              <a:rPr lang="ko-KR" altLang="en-US" sz="3200" dirty="0">
                <a:solidFill>
                  <a:schemeClr val="tx1"/>
                </a:solidFill>
              </a:rPr>
              <a:t>대표 객체 </a:t>
            </a:r>
            <a:r>
              <a:rPr lang="en-US" altLang="ko-KR" sz="3200" dirty="0">
                <a:solidFill>
                  <a:schemeClr val="tx1"/>
                </a:solidFill>
              </a:rPr>
              <a:t>20 </a:t>
            </a:r>
            <a:r>
              <a:rPr lang="ko-KR" altLang="en-US" sz="3200" dirty="0">
                <a:solidFill>
                  <a:schemeClr val="tx1"/>
                </a:solidFill>
              </a:rPr>
              <a:t>클래스</a:t>
            </a:r>
            <a:r>
              <a:rPr lang="en-US" altLang="ko-KR" sz="3200" dirty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sz="3200" dirty="0">
                <a:solidFill>
                  <a:schemeClr val="tx1"/>
                </a:solidFill>
              </a:rPr>
              <a:t>  - Batch=1, </a:t>
            </a:r>
            <a:r>
              <a:rPr lang="ko-KR" altLang="en-US" sz="3200" dirty="0">
                <a:solidFill>
                  <a:schemeClr val="tx1"/>
                </a:solidFill>
              </a:rPr>
              <a:t>해상도</a:t>
            </a:r>
            <a:r>
              <a:rPr lang="en-US" altLang="ko-KR" sz="3200" dirty="0">
                <a:solidFill>
                  <a:schemeClr val="tx1"/>
                </a:solidFill>
              </a:rPr>
              <a:t>=640×640, </a:t>
            </a:r>
            <a:r>
              <a:rPr lang="ko-KR" altLang="en-US" sz="3200" dirty="0">
                <a:solidFill>
                  <a:schemeClr val="tx1"/>
                </a:solidFill>
              </a:rPr>
              <a:t>동일 조건 유지</a:t>
            </a:r>
            <a:endParaRPr lang="en-US" altLang="ko-KR" sz="32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▶ 전력 측정 방법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</a:t>
            </a:r>
            <a:r>
              <a:rPr lang="en-US" altLang="ko-KR" sz="3200" dirty="0" err="1">
                <a:solidFill>
                  <a:schemeClr val="tx1"/>
                </a:solidFill>
              </a:rPr>
              <a:t>tegrastats</a:t>
            </a:r>
            <a:r>
              <a:rPr lang="en-US" altLang="ko-KR" sz="3200" dirty="0">
                <a:solidFill>
                  <a:schemeClr val="tx1"/>
                </a:solidFill>
              </a:rPr>
              <a:t> / </a:t>
            </a:r>
            <a:r>
              <a:rPr lang="en-US" altLang="ko-KR" sz="3200" dirty="0" err="1">
                <a:solidFill>
                  <a:schemeClr val="tx1"/>
                </a:solidFill>
              </a:rPr>
              <a:t>nvidia-smi</a:t>
            </a:r>
            <a:r>
              <a:rPr lang="en-US" altLang="ko-KR" sz="3200" dirty="0">
                <a:solidFill>
                  <a:schemeClr val="tx1"/>
                </a:solidFill>
              </a:rPr>
              <a:t>, 100ms </a:t>
            </a:r>
            <a:r>
              <a:rPr lang="ko-KR" altLang="en-US" sz="3200" dirty="0">
                <a:solidFill>
                  <a:schemeClr val="tx1"/>
                </a:solidFill>
              </a:rPr>
              <a:t>샘플링</a:t>
            </a:r>
            <a:r>
              <a:rPr lang="en-US" altLang="ko-KR" sz="3200" dirty="0">
                <a:solidFill>
                  <a:schemeClr val="tx1"/>
                </a:solidFill>
              </a:rPr>
              <a:t>, </a:t>
            </a:r>
            <a:r>
              <a:rPr lang="ko-KR" altLang="en-US" sz="3200" dirty="0">
                <a:solidFill>
                  <a:schemeClr val="tx1"/>
                </a:solidFill>
              </a:rPr>
              <a:t>평균</a:t>
            </a:r>
            <a:r>
              <a:rPr lang="en-US" altLang="ko-KR" sz="3200" dirty="0">
                <a:solidFill>
                  <a:schemeClr val="tx1"/>
                </a:solidFill>
              </a:rPr>
              <a:t>·</a:t>
            </a:r>
            <a:r>
              <a:rPr lang="ko-KR" altLang="en-US" sz="3200" dirty="0">
                <a:solidFill>
                  <a:schemeClr val="tx1"/>
                </a:solidFill>
              </a:rPr>
              <a:t>최대</a:t>
            </a:r>
            <a:r>
              <a:rPr lang="en-US" altLang="ko-KR" sz="3200" dirty="0">
                <a:solidFill>
                  <a:schemeClr val="tx1"/>
                </a:solidFill>
              </a:rPr>
              <a:t>·</a:t>
            </a:r>
            <a:r>
              <a:rPr lang="ko-KR" altLang="en-US" sz="3200" dirty="0">
                <a:solidFill>
                  <a:schemeClr val="tx1"/>
                </a:solidFill>
              </a:rPr>
              <a:t>변동성 기록</a:t>
            </a:r>
            <a:endParaRPr lang="en-US" altLang="ko-KR" sz="32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▶ 성능 평가 시나리오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</a:t>
            </a:r>
            <a:r>
              <a:rPr lang="ko-KR" altLang="en-US" sz="3200" dirty="0">
                <a:solidFill>
                  <a:schemeClr val="tx1"/>
                </a:solidFill>
              </a:rPr>
              <a:t>실시간성 검증</a:t>
            </a:r>
            <a:r>
              <a:rPr lang="en-US" altLang="ko-KR" sz="3200" dirty="0">
                <a:solidFill>
                  <a:schemeClr val="tx1"/>
                </a:solidFill>
              </a:rPr>
              <a:t>: Latency P50/P95, FPS </a:t>
            </a:r>
            <a:r>
              <a:rPr lang="ko-KR" altLang="en-US" sz="3200" dirty="0">
                <a:solidFill>
                  <a:schemeClr val="tx1"/>
                </a:solidFill>
              </a:rPr>
              <a:t>안정성</a:t>
            </a:r>
            <a:endParaRPr lang="en-US" altLang="ko-KR" sz="32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</a:t>
            </a:r>
            <a:r>
              <a:rPr lang="ko-KR" altLang="en-US" sz="3200" dirty="0">
                <a:solidFill>
                  <a:schemeClr val="tx1"/>
                </a:solidFill>
              </a:rPr>
              <a:t>배터리 운행 시간 추정</a:t>
            </a:r>
            <a:r>
              <a:rPr lang="en-US" altLang="ko-KR" sz="3200" dirty="0">
                <a:solidFill>
                  <a:schemeClr val="tx1"/>
                </a:solidFill>
              </a:rPr>
              <a:t>: </a:t>
            </a:r>
            <a:r>
              <a:rPr lang="ko-KR" altLang="en-US" sz="3200" dirty="0">
                <a:solidFill>
                  <a:schemeClr val="tx1"/>
                </a:solidFill>
              </a:rPr>
              <a:t>동일 배터리 용량 기준 비교</a:t>
            </a:r>
            <a:endParaRPr lang="en-US" altLang="ko-KR" sz="3200" dirty="0">
              <a:solidFill>
                <a:schemeClr val="tx1"/>
              </a:solidFill>
            </a:endParaRPr>
          </a:p>
          <a:p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ko-KR" altLang="en-US" sz="4400" dirty="0">
                <a:solidFill>
                  <a:schemeClr val="tx1"/>
                </a:solidFill>
              </a:rPr>
              <a:t>▶ 평가 지표</a:t>
            </a:r>
            <a:endParaRPr lang="en-US" altLang="ko-KR" sz="4400" dirty="0">
              <a:solidFill>
                <a:schemeClr val="tx1"/>
              </a:solidFill>
            </a:endParaRPr>
          </a:p>
          <a:p>
            <a:r>
              <a:rPr lang="en-US" altLang="ko-KR" sz="3200" dirty="0">
                <a:solidFill>
                  <a:schemeClr val="tx1"/>
                </a:solidFill>
              </a:rPr>
              <a:t>  - </a:t>
            </a:r>
            <a:r>
              <a:rPr lang="en-US" altLang="ko-KR" sz="3200" dirty="0" err="1">
                <a:solidFill>
                  <a:schemeClr val="tx1"/>
                </a:solidFill>
              </a:rPr>
              <a:t>mAP</a:t>
            </a:r>
            <a:r>
              <a:rPr lang="en-US" altLang="ko-KR" sz="3200" dirty="0">
                <a:solidFill>
                  <a:schemeClr val="tx1"/>
                </a:solidFill>
              </a:rPr>
              <a:t>, FPS, </a:t>
            </a:r>
            <a:r>
              <a:rPr lang="ko-KR" altLang="en-US" sz="3200" dirty="0">
                <a:solidFill>
                  <a:schemeClr val="tx1"/>
                </a:solidFill>
              </a:rPr>
              <a:t>모델 크기</a:t>
            </a:r>
            <a:r>
              <a:rPr lang="en-US" altLang="ko-KR" sz="3200" dirty="0">
                <a:solidFill>
                  <a:schemeClr val="tx1"/>
                </a:solidFill>
              </a:rPr>
              <a:t>, Watt, </a:t>
            </a:r>
            <a:r>
              <a:rPr lang="en-US" altLang="ko-KR" sz="3200" dirty="0" err="1">
                <a:solidFill>
                  <a:schemeClr val="tx1"/>
                </a:solidFill>
              </a:rPr>
              <a:t>mAP</a:t>
            </a:r>
            <a:r>
              <a:rPr lang="en-US" altLang="ko-KR" sz="3200" dirty="0">
                <a:solidFill>
                  <a:schemeClr val="tx1"/>
                </a:solidFill>
              </a:rPr>
              <a:t>/Watt, J/inf, FPS/W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C03BADE4-5578-7AEA-8E10-B491219926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480" y="26416195"/>
            <a:ext cx="8263953" cy="344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</TotalTime>
  <Words>614</Words>
  <Application>Microsoft Office PowerPoint</Application>
  <PresentationFormat>사용자 지정</PresentationFormat>
  <Paragraphs>106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HY헤드라인M</vt:lpstr>
      <vt:lpstr>맑은 고딕</vt:lpstr>
      <vt:lpstr>Arial</vt:lpstr>
      <vt:lpstr>Office 테마</vt:lpstr>
      <vt:lpstr>PowerPoint 프레젠테이션</vt:lpstr>
    </vt:vector>
  </TitlesOfParts>
  <Manager/>
  <Company>KETI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AEV 구동용 매입형 영구자석 동기전동기의 열 분포 해석</dc:title>
  <dc:creator>PSC</dc:creator>
  <cp:lastModifiedBy>진호 유</cp:lastModifiedBy>
  <cp:revision>331</cp:revision>
  <dcterms:created xsi:type="dcterms:W3CDTF">2010-10-08T11:43:02Z</dcterms:created>
  <dcterms:modified xsi:type="dcterms:W3CDTF">2025-10-10T05:39:17Z</dcterms:modified>
  <cp:version/>
</cp:coreProperties>
</file>